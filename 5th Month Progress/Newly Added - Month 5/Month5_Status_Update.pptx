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CKKS encrypted</c:v>
                </c:pt>
              </c:strCache>
            </c:strRef>
          </c:tx>
          <c:spPr>
            <a:solidFill>
              <a:srgbClr val="2D6CDF"/>
            </a:solidFill>
            <a:effectLst/>
          </c:spPr>
          <c:invertIfNegative val="0"/>
          <c:dLbls>
            <c:numFmt formatCode="0.000" sourceLinked="0"/>
            <c:spPr>
              <a:noFill/>
              <a:ln>
                <a:noFill/>
              </a:ln>
              <a:effectLst/>
            </c:spPr>
            <c:txPr>
              <a:bodyPr/>
              <a:lstStyle/>
              <a:p>
                <a:pPr>
                  <a:defRPr sz="950" b="0" i="0" u="none" strike="noStrike">
                    <a:solidFill>
                      <a:srgbClr val="1A1A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CAN-VTC</c:v>
                </c:pt>
                <c:pt idx="1">
                  <c:v>Car-Hacking</c:v>
                </c:pt>
                <c:pt idx="2">
                  <c:v>CICIDS-2017</c:v>
                </c:pt>
                <c:pt idx="3">
                  <c:v>VeReMi</c:v>
                </c:pt>
              </c:strCache>
            </c:strRef>
          </c:cat>
          <c:val>
            <c:numRef>
              <c:f>Sheet1!$B$2:$B$5</c:f>
              <c:numCache>
                <c:formatCode>General</c:formatCode>
                <c:ptCount val="4"/>
                <c:pt idx="0">
                  <c:v>1</c:v>
                </c:pt>
                <c:pt idx="1">
                  <c:v>0.99770000000000003</c:v>
                </c:pt>
                <c:pt idx="2">
                  <c:v>0.95550000000000002</c:v>
                </c:pt>
                <c:pt idx="3">
                  <c:v>0.4839</c:v>
                </c:pt>
              </c:numCache>
            </c:numRef>
          </c:val>
          <c:extLst>
            <c:ext xmlns:c16="http://schemas.microsoft.com/office/drawing/2014/chart" uri="{C3380CC4-5D6E-409C-BE32-E72D297353CC}">
              <c16:uniqueId val="{00000000-9582-468D-B05B-5E11CF048C25}"/>
            </c:ext>
          </c:extLst>
        </c:ser>
        <c:ser>
          <c:idx val="1"/>
          <c:order val="1"/>
          <c:tx>
            <c:strRef>
              <c:f>Sheet1!$C$1</c:f>
              <c:strCache>
                <c:ptCount val="1"/>
                <c:pt idx="0">
                  <c:v>Plaintext baseline</c:v>
                </c:pt>
              </c:strCache>
            </c:strRef>
          </c:tx>
          <c:spPr>
            <a:solidFill>
              <a:srgbClr val="9FB3C8"/>
            </a:solidFill>
            <a:effectLst/>
          </c:spPr>
          <c:invertIfNegative val="0"/>
          <c:dLbls>
            <c:numFmt formatCode="0.000" sourceLinked="0"/>
            <c:spPr>
              <a:noFill/>
              <a:ln>
                <a:noFill/>
              </a:ln>
              <a:effectLst/>
            </c:spPr>
            <c:txPr>
              <a:bodyPr/>
              <a:lstStyle/>
              <a:p>
                <a:pPr>
                  <a:defRPr sz="950" b="0" i="0" u="none" strike="noStrike">
                    <a:solidFill>
                      <a:srgbClr val="1A1A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CAN-VTC</c:v>
                </c:pt>
                <c:pt idx="1">
                  <c:v>Car-Hacking</c:v>
                </c:pt>
                <c:pt idx="2">
                  <c:v>CICIDS-2017</c:v>
                </c:pt>
                <c:pt idx="3">
                  <c:v>VeReMi</c:v>
                </c:pt>
              </c:strCache>
            </c:strRef>
          </c:cat>
          <c:val>
            <c:numRef>
              <c:f>Sheet1!$C$2:$C$5</c:f>
              <c:numCache>
                <c:formatCode>General</c:formatCode>
                <c:ptCount val="4"/>
                <c:pt idx="0">
                  <c:v>1</c:v>
                </c:pt>
                <c:pt idx="1">
                  <c:v>0.99809999999999999</c:v>
                </c:pt>
                <c:pt idx="2">
                  <c:v>0.95420000000000005</c:v>
                </c:pt>
                <c:pt idx="3">
                  <c:v>0.48509999999999998</c:v>
                </c:pt>
              </c:numCache>
            </c:numRef>
          </c:val>
          <c:extLst>
            <c:ext xmlns:c16="http://schemas.microsoft.com/office/drawing/2014/chart" uri="{C3380CC4-5D6E-409C-BE32-E72D297353CC}">
              <c16:uniqueId val="{00000001-9582-468D-B05B-5E11CF048C2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472"/>
                </a:solidFill>
                <a:latin typeface="Arial"/>
              </a:defRPr>
            </a:pPr>
            <a:endParaRPr lang="en-US"/>
          </a:p>
        </c:txPr>
        <c:crossAx val="2094734552"/>
        <c:crosses val="autoZero"/>
        <c:auto val="1"/>
        <c:lblAlgn val="ctr"/>
        <c:lblOffset val="100"/>
        <c:noMultiLvlLbl val="1"/>
      </c:catAx>
      <c:valAx>
        <c:axId val="2094734552"/>
        <c:scaling>
          <c:orientation val="minMax"/>
          <c:max val="1.1499999999999999"/>
          <c:min val="0"/>
        </c:scaling>
        <c:delete val="0"/>
        <c:axPos val="l"/>
        <c:majorGridlines>
          <c:spPr>
            <a:ln w="12700" cap="flat">
              <a:solidFill>
                <a:srgbClr val="EDF1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8167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5 of 12. Headline: the month became an audit-then-rebuild. We found seven defects that invalidated earlier results, fixed all of them, and then went back and closed three deliverables from Months 1-4 that had never been started.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this slide. Four numbers, then the headline. The one blocker is that no hardware has been ordered - everything else on the embedded track is now software-complete and waiting on a 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this. Finding the defects was the valuable part - had we built multi-key CKKS on top of a leaky pipeline we would have produced a cryptographically elegant result about nothing.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is the one to emphasise: the deck said the server never sees plaintext, and the code decrypted every client's full 44,164-parameter update every round. That is now a machine-checked invariant, asserted after every round.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Month-4 setup was structurally incapable of answering this question, because its simulated encryption injected noise that sent the two arms down different training trajectories. This is the first controlled version of the comparison.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VeReMi is low: we measured it before training. Best single-feature class separation is 0.046 standard deviations - the features cannot express the task. Training then confirmed it at ROC-AUC 0.516.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 is our own contribution beyond the paper. FheFL samples a random subset of users each round but generates pairwise secrets once at enrolment - so any dropout breaks decryption silently. For a vehicle fleet that is the normal case, not an edge case.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genuinely not started before this month. The packing win came from reading the protocol rather than the cryptography - the server's two operations act on independent copies of each ciphertext, so the update only needs one multiplicative level, not two.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NTT lesson transfers directly to the embedded port: performance is governed by memory access pattern and per-operation overhead, not by the butterfly arithmetic. That is why the production kernel needs contiguous SIMD lanes rather than a literal transcription of the pseudocode.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here is deliberate. Every one of these has a dated plan attached. Raising them ourselves is better than having them found in review.</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The Pi is the important half - it is inexpensive and it unblocks the work now, while the automotive board is sourced. Without a board, months 7-12 (hardware-in-the-loop, power audit) cannot start either.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OpenFHE is the biggest single item and the most important. Until it lands we should not describe the system as full multi-key CKKS in any writeup.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Everything else is on track and documented; the board is the one decision we need from this meeting.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1417320"/>
            <a:ext cx="10515600" cy="365760"/>
          </a:xfrm>
          <a:prstGeom prst="rect">
            <a:avLst/>
          </a:prstGeom>
          <a:noFill/>
          <a:ln/>
        </p:spPr>
        <p:txBody>
          <a:bodyPr wrap="square" rtlCol="0" anchor="ctr"/>
          <a:lstStyle/>
          <a:p>
            <a:pPr marL="0" indent="0">
              <a:buNone/>
            </a:pPr>
            <a:r>
              <a:rPr lang="en-US" sz="1400" b="1" kern="0" spc="300" dirty="0">
                <a:solidFill>
                  <a:srgbClr val="CADCFC"/>
                </a:solidFill>
                <a:latin typeface="Calibri" pitchFamily="34" charset="0"/>
                <a:ea typeface="Calibri" pitchFamily="34" charset="-122"/>
                <a:cs typeface="Calibri" pitchFamily="34" charset="-120"/>
              </a:rPr>
              <a:t>LG SOFT INDIA  ·  12-MONTH INDUSTRY PROJECT</a:t>
            </a:r>
            <a:endParaRPr lang="en-US" sz="1400" dirty="0"/>
          </a:p>
        </p:txBody>
      </p:sp>
      <p:sp>
        <p:nvSpPr>
          <p:cNvPr id="3" name="Text 1"/>
          <p:cNvSpPr/>
          <p:nvPr/>
        </p:nvSpPr>
        <p:spPr>
          <a:xfrm>
            <a:off x="822960" y="1874520"/>
            <a:ext cx="10515600" cy="1737360"/>
          </a:xfrm>
          <a:prstGeom prst="rect">
            <a:avLst/>
          </a:prstGeom>
          <a:noFill/>
          <a:ln/>
        </p:spPr>
        <p:txBody>
          <a:bodyPr wrap="square" rtlCol="0" anchor="ctr"/>
          <a:lstStyle/>
          <a:p>
            <a:pPr marL="0" indent="0">
              <a:lnSpc>
                <a:spcPts val="4600"/>
              </a:lnSpc>
              <a:buNone/>
            </a:pPr>
            <a:r>
              <a:rPr lang="en-US" sz="4000" b="1" dirty="0">
                <a:solidFill>
                  <a:srgbClr val="FFFFFF"/>
                </a:solidFill>
                <a:latin typeface="Cambria" pitchFamily="34" charset="0"/>
                <a:ea typeface="Cambria" pitchFamily="34" charset="-122"/>
                <a:cs typeface="Cambria" pitchFamily="34" charset="-120"/>
              </a:rPr>
              <a:t>Privacy-Preserving Collaborative</a:t>
            </a:r>
            <a:endParaRPr lang="en-US" sz="4000" dirty="0"/>
          </a:p>
          <a:p>
            <a:pPr marL="0" indent="0">
              <a:lnSpc>
                <a:spcPts val="4600"/>
              </a:lnSpc>
              <a:buNone/>
            </a:pPr>
            <a:r>
              <a:rPr lang="en-US" sz="4000" b="1" dirty="0">
                <a:solidFill>
                  <a:srgbClr val="FFFFFF"/>
                </a:solidFill>
                <a:latin typeface="Cambria" pitchFamily="34" charset="0"/>
                <a:ea typeface="Cambria" pitchFamily="34" charset="-122"/>
                <a:cs typeface="Cambria" pitchFamily="34" charset="-120"/>
              </a:rPr>
              <a:t>Intrusion Detection for the IoV</a:t>
            </a:r>
            <a:endParaRPr lang="en-US" sz="4000" dirty="0"/>
          </a:p>
        </p:txBody>
      </p:sp>
      <p:sp>
        <p:nvSpPr>
          <p:cNvPr id="4" name="Text 2"/>
          <p:cNvSpPr/>
          <p:nvPr/>
        </p:nvSpPr>
        <p:spPr>
          <a:xfrm>
            <a:off x="822960" y="3794760"/>
            <a:ext cx="10515600" cy="822960"/>
          </a:xfrm>
          <a:prstGeom prst="rect">
            <a:avLst/>
          </a:prstGeom>
          <a:noFill/>
          <a:ln/>
        </p:spPr>
        <p:txBody>
          <a:bodyPr wrap="square" rtlCol="0" anchor="ctr"/>
          <a:lstStyle/>
          <a:p>
            <a:pPr marL="0" indent="0">
              <a:lnSpc>
                <a:spcPts val="2400"/>
              </a:lnSpc>
              <a:buNone/>
            </a:pPr>
            <a:r>
              <a:rPr lang="en-US" sz="1600" dirty="0">
                <a:solidFill>
                  <a:srgbClr val="CADCFC"/>
                </a:solidFill>
                <a:latin typeface="Calibri" pitchFamily="34" charset="0"/>
                <a:ea typeface="Calibri" pitchFamily="34" charset="-122"/>
                <a:cs typeface="Calibri" pitchFamily="34" charset="-120"/>
              </a:rPr>
              <a:t>Federated learning with CKKS homomorphic encryption</a:t>
            </a:r>
            <a:endParaRPr lang="en-US" sz="1600" dirty="0"/>
          </a:p>
          <a:p>
            <a:pPr marL="0" indent="0">
              <a:lnSpc>
                <a:spcPts val="2400"/>
              </a:lnSpc>
              <a:buNone/>
            </a:pPr>
            <a:r>
              <a:rPr lang="en-US" sz="1600" dirty="0">
                <a:solidFill>
                  <a:srgbClr val="CADCFC"/>
                </a:solidFill>
                <a:latin typeface="Calibri" pitchFamily="34" charset="0"/>
                <a:ea typeface="Calibri" pitchFamily="34" charset="-122"/>
                <a:cs typeface="Calibri" pitchFamily="34" charset="-120"/>
              </a:rPr>
              <a:t>Month 5 status update</a:t>
            </a:r>
            <a:endParaRPr lang="en-US" sz="1600" dirty="0"/>
          </a:p>
        </p:txBody>
      </p:sp>
      <p:sp>
        <p:nvSpPr>
          <p:cNvPr id="5" name="Shape 3"/>
          <p:cNvSpPr/>
          <p:nvPr/>
        </p:nvSpPr>
        <p:spPr>
          <a:xfrm>
            <a:off x="822960" y="4983480"/>
            <a:ext cx="1005840" cy="32004"/>
          </a:xfrm>
          <a:prstGeom prst="rect">
            <a:avLst/>
          </a:prstGeom>
          <a:solidFill>
            <a:srgbClr val="2D6CDF"/>
          </a:solidFill>
          <a:ln/>
        </p:spPr>
      </p:sp>
      <p:sp>
        <p:nvSpPr>
          <p:cNvPr id="6" name="Text 4"/>
          <p:cNvSpPr/>
          <p:nvPr/>
        </p:nvSpPr>
        <p:spPr>
          <a:xfrm>
            <a:off x="822960" y="5193792"/>
            <a:ext cx="10515600" cy="365760"/>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Federated Learning  ·  Homomorphic Encryption  ·  Byzantine Robustness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Where we stand</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End of Month 5 of 12</a:t>
            </a:r>
            <a:endParaRPr lang="en-US" sz="1350" dirty="0"/>
          </a:p>
        </p:txBody>
      </p:sp>
      <p:sp>
        <p:nvSpPr>
          <p:cNvPr id="4" name="Shape 2"/>
          <p:cNvSpPr/>
          <p:nvPr/>
        </p:nvSpPr>
        <p:spPr>
          <a:xfrm>
            <a:off x="640080" y="1600200"/>
            <a:ext cx="2514600" cy="1417320"/>
          </a:xfrm>
          <a:prstGeom prst="roundRect">
            <a:avLst>
              <a:gd name="adj" fmla="val 5806"/>
            </a:avLst>
          </a:prstGeom>
          <a:solidFill>
            <a:srgbClr val="F4F7FC"/>
          </a:solidFill>
          <a:ln w="12700">
            <a:solidFill>
              <a:srgbClr val="E1E8F2"/>
            </a:solidFill>
            <a:prstDash val="solid"/>
          </a:ln>
        </p:spPr>
      </p:sp>
      <p:sp>
        <p:nvSpPr>
          <p:cNvPr id="5" name="Text 3"/>
          <p:cNvSpPr/>
          <p:nvPr/>
        </p:nvSpPr>
        <p:spPr>
          <a:xfrm>
            <a:off x="640080" y="1746504"/>
            <a:ext cx="2514600" cy="685800"/>
          </a:xfrm>
          <a:prstGeom prst="rect">
            <a:avLst/>
          </a:prstGeom>
          <a:noFill/>
          <a:ln/>
        </p:spPr>
        <p:txBody>
          <a:bodyPr wrap="square" lIns="0" tIns="0" rIns="0" bIns="0" rtlCol="0" anchor="ctr"/>
          <a:lstStyle/>
          <a:p>
            <a:pPr marL="0" indent="0" algn="ctr">
              <a:buNone/>
            </a:pPr>
            <a:r>
              <a:rPr lang="en-US" sz="3400" b="1" dirty="0">
                <a:solidFill>
                  <a:srgbClr val="1E2761"/>
                </a:solidFill>
                <a:latin typeface="Cambria" pitchFamily="34" charset="0"/>
                <a:ea typeface="Cambria" pitchFamily="34" charset="-122"/>
                <a:cs typeface="Cambria" pitchFamily="34" charset="-120"/>
              </a:rPr>
              <a:t>5 / 12</a:t>
            </a:r>
            <a:endParaRPr lang="en-US" sz="3400" dirty="0"/>
          </a:p>
        </p:txBody>
      </p:sp>
      <p:sp>
        <p:nvSpPr>
          <p:cNvPr id="6" name="Text 4"/>
          <p:cNvSpPr/>
          <p:nvPr/>
        </p:nvSpPr>
        <p:spPr>
          <a:xfrm>
            <a:off x="749808" y="2450592"/>
            <a:ext cx="2295144" cy="457200"/>
          </a:xfrm>
          <a:prstGeom prst="rect">
            <a:avLst/>
          </a:prstGeom>
          <a:noFill/>
          <a:ln/>
        </p:spPr>
        <p:txBody>
          <a:bodyPr wrap="square" lIns="0" tIns="0" rIns="0" bIns="0" rtlCol="0" anchor="ctr"/>
          <a:lstStyle/>
          <a:p>
            <a:pPr marL="0" indent="0" algn="ctr">
              <a:buNone/>
            </a:pPr>
            <a:r>
              <a:rPr lang="en-US" sz="1150" dirty="0">
                <a:solidFill>
                  <a:srgbClr val="5A6472"/>
                </a:solidFill>
                <a:latin typeface="Calibri" pitchFamily="34" charset="0"/>
                <a:ea typeface="Calibri" pitchFamily="34" charset="-122"/>
                <a:cs typeface="Calibri" pitchFamily="34" charset="-120"/>
              </a:rPr>
              <a:t>months elapsed</a:t>
            </a:r>
            <a:endParaRPr lang="en-US" sz="1150" dirty="0"/>
          </a:p>
        </p:txBody>
      </p:sp>
      <p:sp>
        <p:nvSpPr>
          <p:cNvPr id="7" name="Shape 5"/>
          <p:cNvSpPr/>
          <p:nvPr/>
        </p:nvSpPr>
        <p:spPr>
          <a:xfrm>
            <a:off x="3429000" y="1600200"/>
            <a:ext cx="2514600" cy="1417320"/>
          </a:xfrm>
          <a:prstGeom prst="roundRect">
            <a:avLst>
              <a:gd name="adj" fmla="val 5806"/>
            </a:avLst>
          </a:prstGeom>
          <a:solidFill>
            <a:srgbClr val="F4F7FC"/>
          </a:solidFill>
          <a:ln w="12700">
            <a:solidFill>
              <a:srgbClr val="E1E8F2"/>
            </a:solidFill>
            <a:prstDash val="solid"/>
          </a:ln>
        </p:spPr>
      </p:sp>
      <p:sp>
        <p:nvSpPr>
          <p:cNvPr id="8" name="Text 6"/>
          <p:cNvSpPr/>
          <p:nvPr/>
        </p:nvSpPr>
        <p:spPr>
          <a:xfrm>
            <a:off x="3429000" y="1746504"/>
            <a:ext cx="2514600" cy="685800"/>
          </a:xfrm>
          <a:prstGeom prst="rect">
            <a:avLst/>
          </a:prstGeom>
          <a:noFill/>
          <a:ln/>
        </p:spPr>
        <p:txBody>
          <a:bodyPr wrap="square" lIns="0" tIns="0" rIns="0" bIns="0" rtlCol="0" anchor="ctr"/>
          <a:lstStyle/>
          <a:p>
            <a:pPr marL="0" indent="0" algn="ctr">
              <a:buNone/>
            </a:pPr>
            <a:r>
              <a:rPr lang="en-US" sz="3400" b="1" dirty="0">
                <a:solidFill>
                  <a:srgbClr val="1E9E6A"/>
                </a:solidFill>
                <a:latin typeface="Cambria" pitchFamily="34" charset="0"/>
                <a:ea typeface="Cambria" pitchFamily="34" charset="-122"/>
                <a:cs typeface="Cambria" pitchFamily="34" charset="-120"/>
              </a:rPr>
              <a:t>7 / 8</a:t>
            </a:r>
            <a:endParaRPr lang="en-US" sz="3400" dirty="0"/>
          </a:p>
        </p:txBody>
      </p:sp>
      <p:sp>
        <p:nvSpPr>
          <p:cNvPr id="9" name="Text 7"/>
          <p:cNvSpPr/>
          <p:nvPr/>
        </p:nvSpPr>
        <p:spPr>
          <a:xfrm>
            <a:off x="3538728" y="2450592"/>
            <a:ext cx="2295144" cy="457200"/>
          </a:xfrm>
          <a:prstGeom prst="rect">
            <a:avLst/>
          </a:prstGeom>
          <a:noFill/>
          <a:ln/>
        </p:spPr>
        <p:txBody>
          <a:bodyPr wrap="square" lIns="0" tIns="0" rIns="0" bIns="0" rtlCol="0" anchor="ctr"/>
          <a:lstStyle/>
          <a:p>
            <a:pPr marL="0" indent="0" algn="ctr">
              <a:buNone/>
            </a:pPr>
            <a:r>
              <a:rPr lang="en-US" sz="1150" dirty="0">
                <a:solidFill>
                  <a:srgbClr val="5A6472"/>
                </a:solidFill>
                <a:latin typeface="Calibri" pitchFamily="34" charset="0"/>
                <a:ea typeface="Calibri" pitchFamily="34" charset="-122"/>
                <a:cs typeface="Calibri" pitchFamily="34" charset="-120"/>
              </a:rPr>
              <a:t>deliverables due by</a:t>
            </a:r>
            <a:endParaRPr lang="en-US" sz="1150" dirty="0"/>
          </a:p>
          <a:p>
            <a:pPr marL="0" indent="0" algn="ctr">
              <a:buNone/>
            </a:pPr>
            <a:r>
              <a:rPr lang="en-US" sz="1150" dirty="0">
                <a:solidFill>
                  <a:srgbClr val="5A6472"/>
                </a:solidFill>
                <a:latin typeface="Calibri" pitchFamily="34" charset="0"/>
                <a:ea typeface="Calibri" pitchFamily="34" charset="-122"/>
                <a:cs typeface="Calibri" pitchFamily="34" charset="-120"/>
              </a:rPr>
              <a:t>Month 4 now closed</a:t>
            </a:r>
            <a:endParaRPr lang="en-US" sz="1150" dirty="0"/>
          </a:p>
        </p:txBody>
      </p:sp>
      <p:sp>
        <p:nvSpPr>
          <p:cNvPr id="10" name="Shape 8"/>
          <p:cNvSpPr/>
          <p:nvPr/>
        </p:nvSpPr>
        <p:spPr>
          <a:xfrm>
            <a:off x="6217920" y="1600200"/>
            <a:ext cx="2514600" cy="1417320"/>
          </a:xfrm>
          <a:prstGeom prst="roundRect">
            <a:avLst>
              <a:gd name="adj" fmla="val 5806"/>
            </a:avLst>
          </a:prstGeom>
          <a:solidFill>
            <a:srgbClr val="F4F7FC"/>
          </a:solidFill>
          <a:ln w="12700">
            <a:solidFill>
              <a:srgbClr val="E1E8F2"/>
            </a:solidFill>
            <a:prstDash val="solid"/>
          </a:ln>
        </p:spPr>
      </p:sp>
      <p:sp>
        <p:nvSpPr>
          <p:cNvPr id="11" name="Text 9"/>
          <p:cNvSpPr/>
          <p:nvPr/>
        </p:nvSpPr>
        <p:spPr>
          <a:xfrm>
            <a:off x="6217920" y="1746504"/>
            <a:ext cx="2514600" cy="685800"/>
          </a:xfrm>
          <a:prstGeom prst="rect">
            <a:avLst/>
          </a:prstGeom>
          <a:noFill/>
          <a:ln/>
        </p:spPr>
        <p:txBody>
          <a:bodyPr wrap="square" lIns="0" tIns="0" rIns="0" bIns="0" rtlCol="0" anchor="ctr"/>
          <a:lstStyle/>
          <a:p>
            <a:pPr marL="0" indent="0" algn="ctr">
              <a:buNone/>
            </a:pPr>
            <a:r>
              <a:rPr lang="en-US" sz="3400" b="1" dirty="0">
                <a:solidFill>
                  <a:srgbClr val="2D6CDF"/>
                </a:solidFill>
                <a:latin typeface="Cambria" pitchFamily="34" charset="0"/>
                <a:ea typeface="Cambria" pitchFamily="34" charset="-122"/>
                <a:cs typeface="Cambria" pitchFamily="34" charset="-120"/>
              </a:rPr>
              <a:t>105</a:t>
            </a:r>
            <a:endParaRPr lang="en-US" sz="3400" dirty="0"/>
          </a:p>
        </p:txBody>
      </p:sp>
      <p:sp>
        <p:nvSpPr>
          <p:cNvPr id="12" name="Text 10"/>
          <p:cNvSpPr/>
          <p:nvPr/>
        </p:nvSpPr>
        <p:spPr>
          <a:xfrm>
            <a:off x="6327648" y="2450592"/>
            <a:ext cx="2295144" cy="457200"/>
          </a:xfrm>
          <a:prstGeom prst="rect">
            <a:avLst/>
          </a:prstGeom>
          <a:noFill/>
          <a:ln/>
        </p:spPr>
        <p:txBody>
          <a:bodyPr wrap="square" lIns="0" tIns="0" rIns="0" bIns="0" rtlCol="0" anchor="ctr"/>
          <a:lstStyle/>
          <a:p>
            <a:pPr marL="0" indent="0" algn="ctr">
              <a:buNone/>
            </a:pPr>
            <a:r>
              <a:rPr lang="en-US" sz="1150" dirty="0">
                <a:solidFill>
                  <a:srgbClr val="5A6472"/>
                </a:solidFill>
                <a:latin typeface="Calibri" pitchFamily="34" charset="0"/>
                <a:ea typeface="Calibri" pitchFamily="34" charset="-122"/>
                <a:cs typeface="Calibri" pitchFamily="34" charset="-120"/>
              </a:rPr>
              <a:t>automated correctness</a:t>
            </a:r>
            <a:endParaRPr lang="en-US" sz="1150" dirty="0"/>
          </a:p>
          <a:p>
            <a:pPr marL="0" indent="0" algn="ctr">
              <a:buNone/>
            </a:pPr>
            <a:r>
              <a:rPr lang="en-US" sz="1150" dirty="0">
                <a:solidFill>
                  <a:srgbClr val="5A6472"/>
                </a:solidFill>
                <a:latin typeface="Calibri" pitchFamily="34" charset="0"/>
                <a:ea typeface="Calibri" pitchFamily="34" charset="-122"/>
                <a:cs typeface="Calibri" pitchFamily="34" charset="-120"/>
              </a:rPr>
              <a:t>assertions, all passing</a:t>
            </a:r>
            <a:endParaRPr lang="en-US" sz="1150" dirty="0"/>
          </a:p>
        </p:txBody>
      </p:sp>
      <p:sp>
        <p:nvSpPr>
          <p:cNvPr id="13" name="Shape 11"/>
          <p:cNvSpPr/>
          <p:nvPr/>
        </p:nvSpPr>
        <p:spPr>
          <a:xfrm>
            <a:off x="9006840" y="1600200"/>
            <a:ext cx="2514600" cy="1417320"/>
          </a:xfrm>
          <a:prstGeom prst="roundRect">
            <a:avLst>
              <a:gd name="adj" fmla="val 5806"/>
            </a:avLst>
          </a:prstGeom>
          <a:solidFill>
            <a:srgbClr val="F4F7FC"/>
          </a:solidFill>
          <a:ln w="12700">
            <a:solidFill>
              <a:srgbClr val="E1E8F2"/>
            </a:solidFill>
            <a:prstDash val="solid"/>
          </a:ln>
        </p:spPr>
      </p:sp>
      <p:sp>
        <p:nvSpPr>
          <p:cNvPr id="14" name="Text 12"/>
          <p:cNvSpPr/>
          <p:nvPr/>
        </p:nvSpPr>
        <p:spPr>
          <a:xfrm>
            <a:off x="9006840" y="1746504"/>
            <a:ext cx="2514600" cy="685800"/>
          </a:xfrm>
          <a:prstGeom prst="rect">
            <a:avLst/>
          </a:prstGeom>
          <a:noFill/>
          <a:ln/>
        </p:spPr>
        <p:txBody>
          <a:bodyPr wrap="square" lIns="0" tIns="0" rIns="0" bIns="0" rtlCol="0" anchor="ctr"/>
          <a:lstStyle/>
          <a:p>
            <a:pPr marL="0" indent="0" algn="ctr">
              <a:buNone/>
            </a:pPr>
            <a:r>
              <a:rPr lang="en-US" sz="3400" b="1" dirty="0">
                <a:solidFill>
                  <a:srgbClr val="D98324"/>
                </a:solidFill>
                <a:latin typeface="Cambria" pitchFamily="34" charset="0"/>
                <a:ea typeface="Cambria" pitchFamily="34" charset="-122"/>
                <a:cs typeface="Cambria" pitchFamily="34" charset="-120"/>
              </a:rPr>
              <a:t>1</a:t>
            </a:r>
            <a:endParaRPr lang="en-US" sz="3400" dirty="0"/>
          </a:p>
        </p:txBody>
      </p:sp>
      <p:sp>
        <p:nvSpPr>
          <p:cNvPr id="15" name="Text 13"/>
          <p:cNvSpPr/>
          <p:nvPr/>
        </p:nvSpPr>
        <p:spPr>
          <a:xfrm>
            <a:off x="9116568" y="2450592"/>
            <a:ext cx="2295144" cy="457200"/>
          </a:xfrm>
          <a:prstGeom prst="rect">
            <a:avLst/>
          </a:prstGeom>
          <a:noFill/>
          <a:ln/>
        </p:spPr>
        <p:txBody>
          <a:bodyPr wrap="square" lIns="0" tIns="0" rIns="0" bIns="0" rtlCol="0" anchor="ctr"/>
          <a:lstStyle/>
          <a:p>
            <a:pPr marL="0" indent="0" algn="ctr">
              <a:buNone/>
            </a:pPr>
            <a:r>
              <a:rPr lang="en-US" sz="1150" dirty="0">
                <a:solidFill>
                  <a:srgbClr val="5A6472"/>
                </a:solidFill>
                <a:latin typeface="Calibri" pitchFamily="34" charset="0"/>
                <a:ea typeface="Calibri" pitchFamily="34" charset="-122"/>
                <a:cs typeface="Calibri" pitchFamily="34" charset="-120"/>
              </a:rPr>
              <a:t>blocker, and it is</a:t>
            </a:r>
            <a:endParaRPr lang="en-US" sz="1150" dirty="0"/>
          </a:p>
          <a:p>
            <a:pPr marL="0" indent="0" algn="ctr">
              <a:buNone/>
            </a:pPr>
            <a:r>
              <a:rPr lang="en-US" sz="1150" dirty="0">
                <a:solidFill>
                  <a:srgbClr val="5A6472"/>
                </a:solidFill>
                <a:latin typeface="Calibri" pitchFamily="34" charset="0"/>
                <a:ea typeface="Calibri" pitchFamily="34" charset="-122"/>
                <a:cs typeface="Calibri" pitchFamily="34" charset="-120"/>
              </a:rPr>
              <a:t>procurement</a:t>
            </a:r>
            <a:endParaRPr lang="en-US" sz="1150" dirty="0"/>
          </a:p>
        </p:txBody>
      </p:sp>
      <p:sp>
        <p:nvSpPr>
          <p:cNvPr id="16" name="Shape 14"/>
          <p:cNvSpPr/>
          <p:nvPr/>
        </p:nvSpPr>
        <p:spPr>
          <a:xfrm>
            <a:off x="640080" y="3346704"/>
            <a:ext cx="10881360" cy="1207008"/>
          </a:xfrm>
          <a:prstGeom prst="roundRect">
            <a:avLst>
              <a:gd name="adj" fmla="val 6818"/>
            </a:avLst>
          </a:prstGeom>
          <a:solidFill>
            <a:srgbClr val="EEF9F4"/>
          </a:solidFill>
          <a:ln w="15875">
            <a:solidFill>
              <a:srgbClr val="1E9E6A"/>
            </a:solidFill>
            <a:prstDash val="solid"/>
          </a:ln>
        </p:spPr>
      </p:sp>
      <p:sp>
        <p:nvSpPr>
          <p:cNvPr id="17" name="Text 15"/>
          <p:cNvSpPr/>
          <p:nvPr/>
        </p:nvSpPr>
        <p:spPr>
          <a:xfrm>
            <a:off x="914400" y="3493008"/>
            <a:ext cx="2743200" cy="274320"/>
          </a:xfrm>
          <a:prstGeom prst="rect">
            <a:avLst/>
          </a:prstGeom>
          <a:noFill/>
          <a:ln/>
        </p:spPr>
        <p:txBody>
          <a:bodyPr wrap="square" lIns="0" tIns="0" rIns="0" bIns="0" rtlCol="0" anchor="ctr"/>
          <a:lstStyle/>
          <a:p>
            <a:pPr marL="0" indent="0">
              <a:buNone/>
            </a:pPr>
            <a:r>
              <a:rPr lang="en-US" sz="1150" b="1" kern="0" spc="150" dirty="0">
                <a:solidFill>
                  <a:srgbClr val="1E9E6A"/>
                </a:solidFill>
                <a:latin typeface="Calibri" pitchFamily="34" charset="0"/>
                <a:ea typeface="Calibri" pitchFamily="34" charset="-122"/>
                <a:cs typeface="Calibri" pitchFamily="34" charset="-120"/>
              </a:rPr>
              <a:t>Headline</a:t>
            </a:r>
            <a:endParaRPr lang="en-US" sz="1150" dirty="0"/>
          </a:p>
        </p:txBody>
      </p:sp>
      <p:sp>
        <p:nvSpPr>
          <p:cNvPr id="18" name="Text 16"/>
          <p:cNvSpPr/>
          <p:nvPr/>
        </p:nvSpPr>
        <p:spPr>
          <a:xfrm>
            <a:off x="914400" y="3749040"/>
            <a:ext cx="10332720" cy="685800"/>
          </a:xfrm>
          <a:prstGeom prst="rect">
            <a:avLst/>
          </a:prstGeom>
          <a:noFill/>
          <a:ln/>
        </p:spPr>
        <p:txBody>
          <a:bodyPr wrap="square" lIns="0" tIns="0" rIns="0" bIns="0" rtlCol="0" anchor="ctr"/>
          <a:lstStyle/>
          <a:p>
            <a:pPr marL="0" indent="0">
              <a:lnSpc>
                <a:spcPts val="1900"/>
              </a:lnSpc>
              <a:buNone/>
            </a:pPr>
            <a:r>
              <a:rPr lang="en-US" sz="1400" dirty="0">
                <a:solidFill>
                  <a:srgbClr val="1A1A2E"/>
                </a:solidFill>
                <a:latin typeface="Calibri" pitchFamily="34" charset="0"/>
                <a:ea typeface="Calibri" pitchFamily="34" charset="-122"/>
                <a:cs typeface="Calibri" pitchFamily="34" charset="-120"/>
              </a:rPr>
              <a:t>Encryption costs no accuracy. Across all four datasets the encrypted and plaintext runs agree to within seed variance — and the server never decrypted a single individual vehicle update.</a:t>
            </a:r>
            <a:endParaRPr lang="en-US" sz="1400" dirty="0"/>
          </a:p>
        </p:txBody>
      </p:sp>
      <p:sp>
        <p:nvSpPr>
          <p:cNvPr id="19" name="Text 17"/>
          <p:cNvSpPr/>
          <p:nvPr/>
        </p:nvSpPr>
        <p:spPr>
          <a:xfrm>
            <a:off x="640080" y="4773168"/>
            <a:ext cx="10881360" cy="548640"/>
          </a:xfrm>
          <a:prstGeom prst="rect">
            <a:avLst/>
          </a:prstGeom>
          <a:noFill/>
          <a:ln/>
        </p:spPr>
        <p:txBody>
          <a:bodyPr wrap="square" lIns="0" tIns="0" rIns="0" bIns="0" rtlCol="0" anchor="ctr"/>
          <a:lstStyle/>
          <a:p>
            <a:pPr marL="0" indent="0">
              <a:lnSpc>
                <a:spcPts val="1800"/>
              </a:lnSpc>
              <a:buNone/>
            </a:pPr>
            <a:r>
              <a:rPr lang="en-US" sz="1300" dirty="0">
                <a:solidFill>
                  <a:srgbClr val="5A6472"/>
                </a:solidFill>
                <a:latin typeface="Calibri" pitchFamily="34" charset="0"/>
                <a:ea typeface="Calibri" pitchFamily="34" charset="-122"/>
                <a:cs typeface="Calibri" pitchFamily="34" charset="-120"/>
              </a:rPr>
              <a:t>Cryptography and machine-learning tracks are healthy and one item is ahead of schedule. The embedded/hardware track is the whole of the remaining gap.</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Month 5 became</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It started as multi-key CKKS research. An audit changed the plan.</a:t>
            </a:r>
            <a:endParaRPr lang="en-US" sz="1350" dirty="0"/>
          </a:p>
        </p:txBody>
      </p:sp>
      <p:sp>
        <p:nvSpPr>
          <p:cNvPr id="4" name="Shape 2"/>
          <p:cNvSpPr/>
          <p:nvPr/>
        </p:nvSpPr>
        <p:spPr>
          <a:xfrm>
            <a:off x="640080" y="1600200"/>
            <a:ext cx="420624" cy="420624"/>
          </a:xfrm>
          <a:prstGeom prst="ellipse">
            <a:avLst/>
          </a:prstGeom>
          <a:solidFill>
            <a:srgbClr val="2D6CDF"/>
          </a:solidFill>
          <a:ln/>
        </p:spPr>
      </p:sp>
      <p:sp>
        <p:nvSpPr>
          <p:cNvPr id="5" name="Text 3"/>
          <p:cNvSpPr/>
          <p:nvPr/>
        </p:nvSpPr>
        <p:spPr>
          <a:xfrm>
            <a:off x="640080" y="1618488"/>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p:nvPr/>
        </p:nvSpPr>
        <p:spPr>
          <a:xfrm>
            <a:off x="1243584" y="1572768"/>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We audited the whole project before building on it</a:t>
            </a:r>
            <a:endParaRPr lang="en-US" sz="1450" dirty="0"/>
          </a:p>
        </p:txBody>
      </p:sp>
      <p:sp>
        <p:nvSpPr>
          <p:cNvPr id="7" name="Text 5"/>
          <p:cNvSpPr/>
          <p:nvPr/>
        </p:nvSpPr>
        <p:spPr>
          <a:xfrm>
            <a:off x="1243584" y="1865376"/>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Standard practice before adopting a new cryptographic scheme: check the foundation first.</a:t>
            </a:r>
            <a:endParaRPr lang="en-US" sz="1200" dirty="0"/>
          </a:p>
        </p:txBody>
      </p:sp>
      <p:sp>
        <p:nvSpPr>
          <p:cNvPr id="8" name="Shape 6"/>
          <p:cNvSpPr/>
          <p:nvPr/>
        </p:nvSpPr>
        <p:spPr>
          <a:xfrm>
            <a:off x="640080" y="2606040"/>
            <a:ext cx="420624" cy="420624"/>
          </a:xfrm>
          <a:prstGeom prst="ellipse">
            <a:avLst/>
          </a:prstGeom>
          <a:solidFill>
            <a:srgbClr val="D64545"/>
          </a:solidFill>
          <a:ln/>
        </p:spPr>
      </p:sp>
      <p:sp>
        <p:nvSpPr>
          <p:cNvPr id="9" name="Text 7"/>
          <p:cNvSpPr/>
          <p:nvPr/>
        </p:nvSpPr>
        <p:spPr>
          <a:xfrm>
            <a:off x="640080" y="2624328"/>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p:nvPr/>
        </p:nvSpPr>
        <p:spPr>
          <a:xfrm>
            <a:off x="1243584" y="2578608"/>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The audit found seven defects — several invalidated our headline results</a:t>
            </a:r>
            <a:endParaRPr lang="en-US" sz="1450" dirty="0"/>
          </a:p>
        </p:txBody>
      </p:sp>
      <p:sp>
        <p:nvSpPr>
          <p:cNvPr id="11" name="Text 9"/>
          <p:cNvSpPr/>
          <p:nvPr/>
        </p:nvSpPr>
        <p:spPr>
          <a:xfrm>
            <a:off x="1243584" y="2871216"/>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The encryption in the training loop was not encryption. The Byzantine filter decrypted every vehicle's update. CAN labels came from filenames.</a:t>
            </a:r>
            <a:endParaRPr lang="en-US" sz="1200" dirty="0"/>
          </a:p>
        </p:txBody>
      </p:sp>
      <p:sp>
        <p:nvSpPr>
          <p:cNvPr id="12" name="Shape 10"/>
          <p:cNvSpPr/>
          <p:nvPr/>
        </p:nvSpPr>
        <p:spPr>
          <a:xfrm>
            <a:off x="640080" y="3611880"/>
            <a:ext cx="420624" cy="420624"/>
          </a:xfrm>
          <a:prstGeom prst="ellipse">
            <a:avLst/>
          </a:prstGeom>
          <a:solidFill>
            <a:srgbClr val="D98324"/>
          </a:solidFill>
          <a:ln/>
        </p:spPr>
      </p:sp>
      <p:sp>
        <p:nvSpPr>
          <p:cNvPr id="13" name="Text 11"/>
          <p:cNvSpPr/>
          <p:nvPr/>
        </p:nvSpPr>
        <p:spPr>
          <a:xfrm>
            <a:off x="640080" y="3630168"/>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p:nvPr/>
        </p:nvSpPr>
        <p:spPr>
          <a:xfrm>
            <a:off x="1243584" y="3584448"/>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So Month 5 became: fix the foundation, then build on it</a:t>
            </a:r>
            <a:endParaRPr lang="en-US" sz="1450" dirty="0"/>
          </a:p>
        </p:txBody>
      </p:sp>
      <p:sp>
        <p:nvSpPr>
          <p:cNvPr id="15" name="Text 13"/>
          <p:cNvSpPr/>
          <p:nvPr/>
        </p:nvSpPr>
        <p:spPr>
          <a:xfrm>
            <a:off x="1243584" y="3877056"/>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All seven fixed and machine-verified. Then real CKKS, FheFL aggregation and multi-key sharing on top.</a:t>
            </a:r>
            <a:endParaRPr lang="en-US" sz="1200" dirty="0"/>
          </a:p>
        </p:txBody>
      </p:sp>
      <p:sp>
        <p:nvSpPr>
          <p:cNvPr id="16" name="Shape 14"/>
          <p:cNvSpPr/>
          <p:nvPr/>
        </p:nvSpPr>
        <p:spPr>
          <a:xfrm>
            <a:off x="640080" y="4617720"/>
            <a:ext cx="420624" cy="420624"/>
          </a:xfrm>
          <a:prstGeom prst="ellipse">
            <a:avLst/>
          </a:prstGeom>
          <a:solidFill>
            <a:srgbClr val="1E9E6A"/>
          </a:solidFill>
          <a:ln/>
        </p:spPr>
      </p:sp>
      <p:sp>
        <p:nvSpPr>
          <p:cNvPr id="17" name="Text 15"/>
          <p:cNvSpPr/>
          <p:nvPr/>
        </p:nvSpPr>
        <p:spPr>
          <a:xfrm>
            <a:off x="640080" y="4636008"/>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8" name="Text 16"/>
          <p:cNvSpPr/>
          <p:nvPr/>
        </p:nvSpPr>
        <p:spPr>
          <a:xfrm>
            <a:off x="1243584" y="4590288"/>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Then we went back and closed three Month 1–4 deliverables</a:t>
            </a:r>
            <a:endParaRPr lang="en-US" sz="1450" dirty="0"/>
          </a:p>
        </p:txBody>
      </p:sp>
      <p:sp>
        <p:nvSpPr>
          <p:cNvPr id="19" name="Text 17"/>
          <p:cNvSpPr/>
          <p:nvPr/>
        </p:nvSpPr>
        <p:spPr>
          <a:xfrm>
            <a:off x="1243584" y="4882896"/>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Packing module, NTT implementation and the hardware benchmark harness — none had been started.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seven defects — all fixed and verified</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Each is now guarded by an automated test, so it cannot silently return</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881360" cy="3218688"/>
        </p:xfrm>
        <a:graphic>
          <a:graphicData uri="http://schemas.openxmlformats.org/drawingml/2006/table">
            <a:tbl>
              <a:tblPr/>
              <a:tblGrid>
                <a:gridCol w="566928">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5148072">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was wrong</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mattered</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D1</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Labels came from the source filename, not ground truth</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Trained a capture-file classifier, not an IDS. Caused the 100% accuracy</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Fixed</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D2</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75%-overlapping windows split randomly across train/test</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Test accuracy measured memorisation, not generalisation</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Fixed</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D3</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FHE-vs-plaintext was not a controlled experiment</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Produced a spurious 5-point accuracy gap that was pure divergence</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Fixed</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D4</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The server decrypted every individual client update</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Voided the central privacy claim of the entire project</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Fixed</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D5</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VeReMi windowed across mixed senders</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Label was near-random; model was fine. Needs data re-acquisition</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Diagnosed</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D6</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Transport security had been removed in Month 4</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FHE gives no authentication, integrity or replay protection</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Fixed</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D7</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Documentation contradicted the code</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Three months of drift</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00" dirty="0">
                          <a:solidFill>
                            <a:srgbClr val="1A1A2E"/>
                          </a:solidFill>
                          <a:latin typeface="Calibri" pitchFamily="34" charset="0"/>
                          <a:ea typeface="Calibri" pitchFamily="34" charset="-122"/>
                          <a:cs typeface="Calibri" pitchFamily="34" charset="-120"/>
                        </a:rPr>
                        <a:t>Fixed</a:t>
                      </a:r>
                      <a:endParaRPr lang="en-US" sz="11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Results — does encryption cost accuracy?</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3 seeds · 10 simulated vehicles · 5 federated rounds · Dirichlet alpha = 0.3</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881360" cy="2194560"/>
        </p:xfrm>
        <a:graphic>
          <a:graphicData uri="http://schemas.openxmlformats.org/drawingml/2006/table">
            <a:tbl>
              <a:tblPr/>
              <a:tblGrid>
                <a:gridCol w="21031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43891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CKKS encrypted</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Plaintext baseline</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38912">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CAN-VTC</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1.0000 ± 0.0000</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1.0000 ± 0.0000</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0.0000</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within seed noise</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1250" b="1" dirty="0">
                          <a:solidFill>
                            <a:srgbClr val="1A1A2E"/>
                          </a:solidFill>
                          <a:latin typeface="Calibri" pitchFamily="34" charset="0"/>
                          <a:ea typeface="Calibri" pitchFamily="34" charset="-122"/>
                          <a:cs typeface="Calibri" pitchFamily="34" charset="-120"/>
                        </a:rPr>
                        <a:t>Car-Hacking</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b="1" dirty="0">
                          <a:solidFill>
                            <a:srgbClr val="1A1A2E"/>
                          </a:solidFill>
                          <a:latin typeface="Calibri" pitchFamily="34" charset="0"/>
                          <a:ea typeface="Calibri" pitchFamily="34" charset="-122"/>
                          <a:cs typeface="Calibri" pitchFamily="34" charset="-120"/>
                        </a:rPr>
                        <a:t>0.9977 ± 0.0012</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b="1" dirty="0">
                          <a:solidFill>
                            <a:srgbClr val="1A1A2E"/>
                          </a:solidFill>
                          <a:latin typeface="Calibri" pitchFamily="34" charset="0"/>
                          <a:ea typeface="Calibri" pitchFamily="34" charset="-122"/>
                          <a:cs typeface="Calibri" pitchFamily="34" charset="-120"/>
                        </a:rPr>
                        <a:t>0.9981 ± 0.0006</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b="1" dirty="0">
                          <a:solidFill>
                            <a:srgbClr val="1A1A2E"/>
                          </a:solidFill>
                          <a:latin typeface="Calibri" pitchFamily="34" charset="0"/>
                          <a:ea typeface="Calibri" pitchFamily="34" charset="-122"/>
                          <a:cs typeface="Calibri" pitchFamily="34" charset="-120"/>
                        </a:rPr>
                        <a:t>−0.0004</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b="1" dirty="0">
                          <a:solidFill>
                            <a:srgbClr val="1A1A2E"/>
                          </a:solidFill>
                          <a:latin typeface="Calibri" pitchFamily="34" charset="0"/>
                          <a:ea typeface="Calibri" pitchFamily="34" charset="-122"/>
                          <a:cs typeface="Calibri" pitchFamily="34" charset="-120"/>
                        </a:rPr>
                        <a:t>within seed noise</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CICIDS-2017</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0.9555 ± 0.0079</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0.9542 ± 0.0098</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+0.0013</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within seed noise</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VeReMi</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0.4839 ± 0.0433</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0.4851 ± 0.0424</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−0.0012</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250" dirty="0">
                          <a:solidFill>
                            <a:srgbClr val="1A1A2E"/>
                          </a:solidFill>
                          <a:latin typeface="Calibri" pitchFamily="34" charset="0"/>
                          <a:ea typeface="Calibri" pitchFamily="34" charset="-122"/>
                          <a:cs typeface="Calibri" pitchFamily="34" charset="-120"/>
                        </a:rPr>
                        <a:t>within seed noise</a:t>
                      </a:r>
                      <a:endParaRPr lang="en-US" sz="12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640080" y="4041648"/>
            <a:ext cx="5303520" cy="1481328"/>
          </a:xfrm>
          <a:prstGeom prst="roundRect">
            <a:avLst>
              <a:gd name="adj" fmla="val 5556"/>
            </a:avLst>
          </a:prstGeom>
          <a:solidFill>
            <a:srgbClr val="EEF9F4"/>
          </a:solidFill>
          <a:ln w="15875">
            <a:solidFill>
              <a:srgbClr val="1E9E6A"/>
            </a:solidFill>
            <a:prstDash val="solid"/>
          </a:ln>
        </p:spPr>
      </p:sp>
      <p:sp>
        <p:nvSpPr>
          <p:cNvPr id="4" name="Text 3"/>
          <p:cNvSpPr/>
          <p:nvPr/>
        </p:nvSpPr>
        <p:spPr>
          <a:xfrm>
            <a:off x="896112" y="4187952"/>
            <a:ext cx="2743200" cy="256032"/>
          </a:xfrm>
          <a:prstGeom prst="rect">
            <a:avLst/>
          </a:prstGeom>
          <a:noFill/>
          <a:ln/>
        </p:spPr>
        <p:txBody>
          <a:bodyPr wrap="square" lIns="0" tIns="0" rIns="0" bIns="0" rtlCol="0" anchor="ctr"/>
          <a:lstStyle/>
          <a:p>
            <a:pPr marL="0" indent="0">
              <a:buNone/>
            </a:pPr>
            <a:r>
              <a:rPr lang="en-US" sz="1100" b="1" kern="0" spc="150" dirty="0">
                <a:solidFill>
                  <a:srgbClr val="1E9E6A"/>
                </a:solidFill>
                <a:latin typeface="Calibri" pitchFamily="34" charset="0"/>
                <a:ea typeface="Calibri" pitchFamily="34" charset="-122"/>
                <a:cs typeface="Calibri" pitchFamily="34" charset="-120"/>
              </a:rPr>
              <a:t>Conclusion</a:t>
            </a:r>
            <a:endParaRPr lang="en-US" sz="1100" dirty="0"/>
          </a:p>
        </p:txBody>
      </p:sp>
      <p:sp>
        <p:nvSpPr>
          <p:cNvPr id="7" name="Text 4"/>
          <p:cNvSpPr/>
          <p:nvPr/>
        </p:nvSpPr>
        <p:spPr>
          <a:xfrm>
            <a:off x="896112" y="4443984"/>
            <a:ext cx="4800600" cy="914400"/>
          </a:xfrm>
          <a:prstGeom prst="rect">
            <a:avLst/>
          </a:prstGeom>
          <a:noFill/>
          <a:ln/>
        </p:spPr>
        <p:txBody>
          <a:bodyPr wrap="square" lIns="0" tIns="0" rIns="0" bIns="0" rtlCol="0" anchor="ctr"/>
          <a:lstStyle/>
          <a:p>
            <a:pPr marL="0" indent="0">
              <a:lnSpc>
                <a:spcPts val="1700"/>
              </a:lnSpc>
              <a:buNone/>
            </a:pPr>
            <a:r>
              <a:rPr lang="en-US" sz="1250" dirty="0">
                <a:solidFill>
                  <a:srgbClr val="1A1A2E"/>
                </a:solidFill>
                <a:latin typeface="Calibri" pitchFamily="34" charset="0"/>
                <a:ea typeface="Calibri" pitchFamily="34" charset="-122"/>
                <a:cs typeface="Calibri" pitchFamily="34" charset="-120"/>
              </a:rPr>
              <a:t>CKKS introduces ~1e-8 of numerical error — six orders of magnitude below the noise already in SGD. Encryption is free in accuracy terms.</a:t>
            </a:r>
            <a:endParaRPr lang="en-US" sz="1250" dirty="0"/>
          </a:p>
        </p:txBody>
      </p:sp>
      <p:sp>
        <p:nvSpPr>
          <p:cNvPr id="8" name="Shape 5"/>
          <p:cNvSpPr/>
          <p:nvPr/>
        </p:nvSpPr>
        <p:spPr>
          <a:xfrm>
            <a:off x="6217920" y="4041648"/>
            <a:ext cx="5303520" cy="1481328"/>
          </a:xfrm>
          <a:prstGeom prst="roundRect">
            <a:avLst>
              <a:gd name="adj" fmla="val 5556"/>
            </a:avLst>
          </a:prstGeom>
          <a:solidFill>
            <a:srgbClr val="FDF3E8"/>
          </a:solidFill>
          <a:ln w="15875">
            <a:solidFill>
              <a:srgbClr val="D98324"/>
            </a:solidFill>
            <a:prstDash val="solid"/>
          </a:ln>
        </p:spPr>
      </p:sp>
      <p:sp>
        <p:nvSpPr>
          <p:cNvPr id="9" name="Text 6"/>
          <p:cNvSpPr/>
          <p:nvPr/>
        </p:nvSpPr>
        <p:spPr>
          <a:xfrm>
            <a:off x="6473952" y="4187952"/>
            <a:ext cx="2743200" cy="256032"/>
          </a:xfrm>
          <a:prstGeom prst="rect">
            <a:avLst/>
          </a:prstGeom>
          <a:noFill/>
          <a:ln/>
        </p:spPr>
        <p:txBody>
          <a:bodyPr wrap="square" lIns="0" tIns="0" rIns="0" bIns="0" rtlCol="0" anchor="ctr"/>
          <a:lstStyle/>
          <a:p>
            <a:pPr marL="0" indent="0">
              <a:buNone/>
            </a:pPr>
            <a:r>
              <a:rPr lang="en-US" sz="1100" b="1" kern="0" spc="150" dirty="0">
                <a:solidFill>
                  <a:srgbClr val="D98324"/>
                </a:solidFill>
                <a:latin typeface="Calibri" pitchFamily="34" charset="0"/>
                <a:ea typeface="Calibri" pitchFamily="34" charset="-122"/>
                <a:cs typeface="Calibri" pitchFamily="34" charset="-120"/>
              </a:rPr>
              <a:t>Read honestly</a:t>
            </a:r>
            <a:endParaRPr lang="en-US" sz="1100" dirty="0"/>
          </a:p>
        </p:txBody>
      </p:sp>
      <p:sp>
        <p:nvSpPr>
          <p:cNvPr id="10" name="Text 7"/>
          <p:cNvSpPr/>
          <p:nvPr/>
        </p:nvSpPr>
        <p:spPr>
          <a:xfrm>
            <a:off x="6473952" y="4443984"/>
            <a:ext cx="4800600" cy="914400"/>
          </a:xfrm>
          <a:prstGeom prst="rect">
            <a:avLst/>
          </a:prstGeom>
          <a:noFill/>
          <a:ln/>
        </p:spPr>
        <p:txBody>
          <a:bodyPr wrap="square" lIns="0" tIns="0" rIns="0" bIns="0" rtlCol="0" anchor="ctr"/>
          <a:lstStyle/>
          <a:p>
            <a:pPr marL="0" indent="0">
              <a:lnSpc>
                <a:spcPts val="1700"/>
              </a:lnSpc>
              <a:buNone/>
            </a:pPr>
            <a:r>
              <a:rPr lang="en-US" sz="1250" dirty="0">
                <a:solidFill>
                  <a:srgbClr val="1A1A2E"/>
                </a:solidFill>
                <a:latin typeface="Calibri" pitchFamily="34" charset="0"/>
                <a:ea typeface="Calibri" pitchFamily="34" charset="-122"/>
                <a:cs typeface="Calibri" pitchFamily="34" charset="-120"/>
              </a:rPr>
              <a:t>Car-Hacking is the meaningful benchmark. CAN-VTC is trivially separable (51% flood density). VeReMi is near-chance — its export lost the sender ID.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Encrypted versus plaintext, side by side</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Bars are indistinguishable on every dataset — that is the result</a:t>
            </a:r>
            <a:endParaRPr lang="en-US" sz="1350" dirty="0"/>
          </a:p>
        </p:txBody>
      </p:sp>
      <p:graphicFrame>
        <p:nvGraphicFramePr>
          <p:cNvPr id="4" name="Chart 0"/>
          <p:cNvGraphicFramePr/>
          <p:nvPr/>
        </p:nvGraphicFramePr>
        <p:xfrm>
          <a:off x="640080" y="1517904"/>
          <a:ext cx="731520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229600" y="1600200"/>
            <a:ext cx="3291840" cy="1965960"/>
          </a:xfrm>
          <a:prstGeom prst="roundRect">
            <a:avLst>
              <a:gd name="adj" fmla="val 4186"/>
            </a:avLst>
          </a:prstGeom>
          <a:solidFill>
            <a:srgbClr val="F4F7FC"/>
          </a:solidFill>
          <a:ln w="12700">
            <a:solidFill>
              <a:srgbClr val="E1E8F2"/>
            </a:solidFill>
            <a:prstDash val="solid"/>
          </a:ln>
        </p:spPr>
      </p:sp>
      <p:sp>
        <p:nvSpPr>
          <p:cNvPr id="6" name="Text 3"/>
          <p:cNvSpPr/>
          <p:nvPr/>
        </p:nvSpPr>
        <p:spPr>
          <a:xfrm>
            <a:off x="8467344" y="1755648"/>
            <a:ext cx="2834640" cy="274320"/>
          </a:xfrm>
          <a:prstGeom prst="rect">
            <a:avLst/>
          </a:prstGeom>
          <a:noFill/>
          <a:ln/>
        </p:spPr>
        <p:txBody>
          <a:bodyPr wrap="square" lIns="0" tIns="0" rIns="0" bIns="0" rtlCol="0" anchor="ctr"/>
          <a:lstStyle/>
          <a:p>
            <a:pPr marL="0" indent="0">
              <a:buNone/>
            </a:pPr>
            <a:r>
              <a:rPr lang="en-US" sz="1100" b="1" kern="0" spc="120" dirty="0">
                <a:solidFill>
                  <a:srgbClr val="1E2761"/>
                </a:solidFill>
                <a:latin typeface="Calibri" pitchFamily="34" charset="0"/>
                <a:ea typeface="Calibri" pitchFamily="34" charset="-122"/>
                <a:cs typeface="Calibri" pitchFamily="34" charset="-120"/>
              </a:rPr>
              <a:t>Privacy invariant</a:t>
            </a:r>
            <a:endParaRPr lang="en-US" sz="1100" dirty="0"/>
          </a:p>
        </p:txBody>
      </p:sp>
      <p:sp>
        <p:nvSpPr>
          <p:cNvPr id="7" name="Text 4"/>
          <p:cNvSpPr/>
          <p:nvPr/>
        </p:nvSpPr>
        <p:spPr>
          <a:xfrm>
            <a:off x="8467344" y="2029968"/>
            <a:ext cx="2834640" cy="658368"/>
          </a:xfrm>
          <a:prstGeom prst="rect">
            <a:avLst/>
          </a:prstGeom>
          <a:noFill/>
          <a:ln/>
        </p:spPr>
        <p:txBody>
          <a:bodyPr wrap="square" lIns="0" tIns="0" rIns="0" bIns="0" rtlCol="0" anchor="ctr"/>
          <a:lstStyle/>
          <a:p>
            <a:pPr marL="0" indent="0">
              <a:buNone/>
            </a:pPr>
            <a:r>
              <a:rPr lang="en-US" sz="4000" b="1" dirty="0">
                <a:solidFill>
                  <a:srgbClr val="1E9E6A"/>
                </a:solidFill>
                <a:latin typeface="Cambria" pitchFamily="34" charset="0"/>
                <a:ea typeface="Cambria" pitchFamily="34" charset="-122"/>
                <a:cs typeface="Cambria" pitchFamily="34" charset="-120"/>
              </a:rPr>
              <a:t>0</a:t>
            </a:r>
            <a:endParaRPr lang="en-US" sz="4000" dirty="0"/>
          </a:p>
        </p:txBody>
      </p:sp>
      <p:sp>
        <p:nvSpPr>
          <p:cNvPr id="8" name="Text 5"/>
          <p:cNvSpPr/>
          <p:nvPr/>
        </p:nvSpPr>
        <p:spPr>
          <a:xfrm>
            <a:off x="8467344" y="2724912"/>
            <a:ext cx="2834640" cy="731520"/>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individual vehicle updates decrypted by the server, across every run</a:t>
            </a:r>
            <a:endParaRPr lang="en-US" sz="1150" dirty="0"/>
          </a:p>
        </p:txBody>
      </p:sp>
      <p:sp>
        <p:nvSpPr>
          <p:cNvPr id="9" name="Shape 6"/>
          <p:cNvSpPr/>
          <p:nvPr/>
        </p:nvSpPr>
        <p:spPr>
          <a:xfrm>
            <a:off x="8229600" y="3767328"/>
            <a:ext cx="3291840" cy="2231136"/>
          </a:xfrm>
          <a:prstGeom prst="roundRect">
            <a:avLst>
              <a:gd name="adj" fmla="val 3689"/>
            </a:avLst>
          </a:prstGeom>
          <a:solidFill>
            <a:srgbClr val="F4F7FC"/>
          </a:solidFill>
          <a:ln w="12700">
            <a:solidFill>
              <a:srgbClr val="E1E8F2"/>
            </a:solidFill>
            <a:prstDash val="solid"/>
          </a:ln>
        </p:spPr>
      </p:sp>
      <p:sp>
        <p:nvSpPr>
          <p:cNvPr id="10" name="Text 7"/>
          <p:cNvSpPr/>
          <p:nvPr/>
        </p:nvSpPr>
        <p:spPr>
          <a:xfrm>
            <a:off x="8467344" y="3931920"/>
            <a:ext cx="2834640" cy="274320"/>
          </a:xfrm>
          <a:prstGeom prst="rect">
            <a:avLst/>
          </a:prstGeom>
          <a:noFill/>
          <a:ln/>
        </p:spPr>
        <p:txBody>
          <a:bodyPr wrap="square" lIns="0" tIns="0" rIns="0" bIns="0" rtlCol="0" anchor="ctr"/>
          <a:lstStyle/>
          <a:p>
            <a:pPr marL="0" indent="0">
              <a:buNone/>
            </a:pPr>
            <a:r>
              <a:rPr lang="en-US" sz="1100" b="1" kern="0" spc="120" dirty="0">
                <a:solidFill>
                  <a:srgbClr val="D98324"/>
                </a:solidFill>
                <a:latin typeface="Calibri" pitchFamily="34" charset="0"/>
                <a:ea typeface="Calibri" pitchFamily="34" charset="-122"/>
                <a:cs typeface="Calibri" pitchFamily="34" charset="-120"/>
              </a:rPr>
              <a:t>VeReMi is near chance</a:t>
            </a:r>
            <a:endParaRPr lang="en-US" sz="1100" dirty="0"/>
          </a:p>
        </p:txBody>
      </p:sp>
      <p:sp>
        <p:nvSpPr>
          <p:cNvPr id="11" name="Text 8"/>
          <p:cNvSpPr/>
          <p:nvPr/>
        </p:nvSpPr>
        <p:spPr>
          <a:xfrm>
            <a:off x="8467344" y="4224528"/>
            <a:ext cx="2834640" cy="1600200"/>
          </a:xfrm>
          <a:prstGeom prst="rect">
            <a:avLst/>
          </a:prstGeom>
          <a:noFill/>
          <a:ln/>
        </p:spPr>
        <p:txBody>
          <a:bodyPr wrap="square" lIns="0" tIns="0" rIns="0" bIns="0" rtlCol="0" anchor="ctr"/>
          <a:lstStyle/>
          <a:p>
            <a:pPr marL="0" indent="0">
              <a:lnSpc>
                <a:spcPts val="1500"/>
              </a:lnSpc>
              <a:buNone/>
            </a:pPr>
            <a:r>
              <a:rPr lang="en-US" sz="1150" dirty="0">
                <a:solidFill>
                  <a:srgbClr val="5A6472"/>
                </a:solidFill>
                <a:latin typeface="Calibri" pitchFamily="34" charset="0"/>
                <a:ea typeface="Calibri" pitchFamily="34" charset="-122"/>
                <a:cs typeface="Calibri" pitchFamily="34" charset="-120"/>
              </a:rPr>
              <a:t>Its attacks are defined by how a sender's claims change over time, and the cleaned export dropped the sender ID. Neither formulation can express the task. Needs re-acquisition.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we built in Month 5</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Real cryptography replacing a simulation</a:t>
            </a:r>
            <a:endParaRPr lang="en-US" sz="1350" dirty="0"/>
          </a:p>
        </p:txBody>
      </p:sp>
      <p:sp>
        <p:nvSpPr>
          <p:cNvPr id="4" name="Shape 2"/>
          <p:cNvSpPr/>
          <p:nvPr/>
        </p:nvSpPr>
        <p:spPr>
          <a:xfrm>
            <a:off x="640080" y="1572768"/>
            <a:ext cx="420624" cy="420624"/>
          </a:xfrm>
          <a:prstGeom prst="ellipse">
            <a:avLst/>
          </a:prstGeom>
          <a:solidFill>
            <a:srgbClr val="2D6CDF"/>
          </a:solidFill>
          <a:ln/>
        </p:spPr>
      </p:sp>
      <p:sp>
        <p:nvSpPr>
          <p:cNvPr id="5" name="Text 3"/>
          <p:cNvSpPr/>
          <p:nvPr/>
        </p:nvSpPr>
        <p:spPr>
          <a:xfrm>
            <a:off x="640080" y="1591056"/>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6" name="Text 4"/>
          <p:cNvSpPr/>
          <p:nvPr/>
        </p:nvSpPr>
        <p:spPr>
          <a:xfrm>
            <a:off x="1243584" y="1545336"/>
            <a:ext cx="474573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Real CKKS encryption</a:t>
            </a:r>
            <a:endParaRPr lang="en-US" sz="1450" dirty="0"/>
          </a:p>
        </p:txBody>
      </p:sp>
      <p:sp>
        <p:nvSpPr>
          <p:cNvPr id="7" name="Text 5"/>
          <p:cNvSpPr/>
          <p:nvPr/>
        </p:nvSpPr>
        <p:spPr>
          <a:xfrm>
            <a:off x="1243584" y="1837944"/>
            <a:ext cx="474573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The Month-4 'encryption' was a numpy array plus 1e-9 noise. Now genuine TenSEAL ciphertexts, 2.47 MB per vehicle per round.</a:t>
            </a:r>
            <a:endParaRPr lang="en-US" sz="1200" dirty="0"/>
          </a:p>
        </p:txBody>
      </p:sp>
      <p:sp>
        <p:nvSpPr>
          <p:cNvPr id="8" name="Shape 6"/>
          <p:cNvSpPr/>
          <p:nvPr/>
        </p:nvSpPr>
        <p:spPr>
          <a:xfrm>
            <a:off x="640080" y="2761488"/>
            <a:ext cx="420624" cy="420624"/>
          </a:xfrm>
          <a:prstGeom prst="ellipse">
            <a:avLst/>
          </a:prstGeom>
          <a:solidFill>
            <a:srgbClr val="2D6CDF"/>
          </a:solidFill>
          <a:ln/>
        </p:spPr>
      </p:sp>
      <p:sp>
        <p:nvSpPr>
          <p:cNvPr id="9" name="Text 7"/>
          <p:cNvSpPr/>
          <p:nvPr/>
        </p:nvSpPr>
        <p:spPr>
          <a:xfrm>
            <a:off x="640080" y="2779776"/>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0" name="Text 8"/>
          <p:cNvSpPr/>
          <p:nvPr/>
        </p:nvSpPr>
        <p:spPr>
          <a:xfrm>
            <a:off x="1243584" y="2734056"/>
            <a:ext cx="474573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FheFL robust aggregation</a:t>
            </a:r>
            <a:endParaRPr lang="en-US" sz="1450" dirty="0"/>
          </a:p>
        </p:txBody>
      </p:sp>
      <p:sp>
        <p:nvSpPr>
          <p:cNvPr id="11" name="Text 9"/>
          <p:cNvSpPr/>
          <p:nvPr/>
        </p:nvSpPr>
        <p:spPr>
          <a:xfrm>
            <a:off x="1243584" y="3026664"/>
            <a:ext cx="474573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Outliers scored by encrypted distance to the previous global model, then down-weighted — never excluded, never decrypted.</a:t>
            </a:r>
            <a:endParaRPr lang="en-US" sz="1200" dirty="0"/>
          </a:p>
        </p:txBody>
      </p:sp>
      <p:sp>
        <p:nvSpPr>
          <p:cNvPr id="12" name="Shape 10"/>
          <p:cNvSpPr/>
          <p:nvPr/>
        </p:nvSpPr>
        <p:spPr>
          <a:xfrm>
            <a:off x="640080" y="3950208"/>
            <a:ext cx="420624" cy="420624"/>
          </a:xfrm>
          <a:prstGeom prst="ellipse">
            <a:avLst/>
          </a:prstGeom>
          <a:solidFill>
            <a:srgbClr val="2D6CDF"/>
          </a:solidFill>
          <a:ln/>
        </p:spPr>
      </p:sp>
      <p:sp>
        <p:nvSpPr>
          <p:cNvPr id="13" name="Text 11"/>
          <p:cNvSpPr/>
          <p:nvPr/>
        </p:nvSpPr>
        <p:spPr>
          <a:xfrm>
            <a:off x="640080" y="3968496"/>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14" name="Text 12"/>
          <p:cNvSpPr/>
          <p:nvPr/>
        </p:nvSpPr>
        <p:spPr>
          <a:xfrm>
            <a:off x="1243584" y="3922776"/>
            <a:ext cx="474573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Multi-key key sharing</a:t>
            </a:r>
            <a:endParaRPr lang="en-US" sz="1450" dirty="0"/>
          </a:p>
        </p:txBody>
      </p:sp>
      <p:sp>
        <p:nvSpPr>
          <p:cNvPr id="15" name="Text 13"/>
          <p:cNvSpPr/>
          <p:nvPr/>
        </p:nvSpPr>
        <p:spPr>
          <a:xfrm>
            <a:off x="1243584" y="4215384"/>
            <a:ext cx="474573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The decryption key is never assembled. Recovering one vehicle's update needs collusion with U−1 others.</a:t>
            </a:r>
            <a:endParaRPr lang="en-US" sz="1200" dirty="0"/>
          </a:p>
        </p:txBody>
      </p:sp>
      <p:sp>
        <p:nvSpPr>
          <p:cNvPr id="16" name="Shape 14"/>
          <p:cNvSpPr/>
          <p:nvPr/>
        </p:nvSpPr>
        <p:spPr>
          <a:xfrm>
            <a:off x="6172200" y="1572768"/>
            <a:ext cx="420624" cy="420624"/>
          </a:xfrm>
          <a:prstGeom prst="ellipse">
            <a:avLst/>
          </a:prstGeom>
          <a:solidFill>
            <a:srgbClr val="1E9E6A"/>
          </a:solidFill>
          <a:ln/>
        </p:spPr>
      </p:sp>
      <p:sp>
        <p:nvSpPr>
          <p:cNvPr id="17" name="Text 15"/>
          <p:cNvSpPr/>
          <p:nvPr/>
        </p:nvSpPr>
        <p:spPr>
          <a:xfrm>
            <a:off x="6172200" y="1591056"/>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D</a:t>
            </a:r>
            <a:endParaRPr lang="en-US" sz="1500" dirty="0"/>
          </a:p>
        </p:txBody>
      </p:sp>
      <p:sp>
        <p:nvSpPr>
          <p:cNvPr id="18" name="Text 16"/>
          <p:cNvSpPr/>
          <p:nvPr/>
        </p:nvSpPr>
        <p:spPr>
          <a:xfrm>
            <a:off x="6775704" y="1545336"/>
            <a:ext cx="474573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A fix the paper does not have</a:t>
            </a:r>
            <a:endParaRPr lang="en-US" sz="1450" dirty="0"/>
          </a:p>
        </p:txBody>
      </p:sp>
      <p:sp>
        <p:nvSpPr>
          <p:cNvPr id="19" name="Text 17"/>
          <p:cNvSpPr/>
          <p:nvPr/>
        </p:nvSpPr>
        <p:spPr>
          <a:xfrm>
            <a:off x="6775704" y="1837944"/>
            <a:ext cx="474573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Masks only cancel if every keyed vehicle reports in — one offline breaks decryption. We re-scope per round.</a:t>
            </a:r>
            <a:endParaRPr lang="en-US" sz="1200" dirty="0"/>
          </a:p>
        </p:txBody>
      </p:sp>
      <p:sp>
        <p:nvSpPr>
          <p:cNvPr id="20" name="Shape 18"/>
          <p:cNvSpPr/>
          <p:nvPr/>
        </p:nvSpPr>
        <p:spPr>
          <a:xfrm>
            <a:off x="6172200" y="2761488"/>
            <a:ext cx="420624" cy="420624"/>
          </a:xfrm>
          <a:prstGeom prst="ellipse">
            <a:avLst/>
          </a:prstGeom>
          <a:solidFill>
            <a:srgbClr val="1E9E6A"/>
          </a:solidFill>
          <a:ln/>
        </p:spPr>
      </p:sp>
      <p:sp>
        <p:nvSpPr>
          <p:cNvPr id="21" name="Text 19"/>
          <p:cNvSpPr/>
          <p:nvPr/>
        </p:nvSpPr>
        <p:spPr>
          <a:xfrm>
            <a:off x="6172200" y="2779776"/>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E</a:t>
            </a:r>
            <a:endParaRPr lang="en-US" sz="1500" dirty="0"/>
          </a:p>
        </p:txBody>
      </p:sp>
      <p:sp>
        <p:nvSpPr>
          <p:cNvPr id="22" name="Text 20"/>
          <p:cNvSpPr/>
          <p:nvPr/>
        </p:nvSpPr>
        <p:spPr>
          <a:xfrm>
            <a:off x="6775704" y="2734056"/>
            <a:ext cx="474573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Transport security restored</a:t>
            </a:r>
            <a:endParaRPr lang="en-US" sz="1450" dirty="0"/>
          </a:p>
        </p:txBody>
      </p:sp>
      <p:sp>
        <p:nvSpPr>
          <p:cNvPr id="23" name="Text 21"/>
          <p:cNvSpPr/>
          <p:nvPr/>
        </p:nvSpPr>
        <p:spPr>
          <a:xfrm>
            <a:off x="6775704" y="3026664"/>
            <a:ext cx="474573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ECDH-P256 + AES-256-GCM + Ed25519. FHE gives confidentiality only — not authentication, integrity or replay protection.</a:t>
            </a:r>
            <a:endParaRPr lang="en-US" sz="1200" dirty="0"/>
          </a:p>
        </p:txBody>
      </p:sp>
      <p:sp>
        <p:nvSpPr>
          <p:cNvPr id="24" name="Shape 22"/>
          <p:cNvSpPr/>
          <p:nvPr/>
        </p:nvSpPr>
        <p:spPr>
          <a:xfrm>
            <a:off x="6172200" y="3950208"/>
            <a:ext cx="420624" cy="420624"/>
          </a:xfrm>
          <a:prstGeom prst="ellipse">
            <a:avLst/>
          </a:prstGeom>
          <a:solidFill>
            <a:srgbClr val="1E9E6A"/>
          </a:solidFill>
          <a:ln/>
        </p:spPr>
      </p:sp>
      <p:sp>
        <p:nvSpPr>
          <p:cNvPr id="25" name="Text 23"/>
          <p:cNvSpPr/>
          <p:nvPr/>
        </p:nvSpPr>
        <p:spPr>
          <a:xfrm>
            <a:off x="6172200" y="3968496"/>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F</a:t>
            </a:r>
            <a:endParaRPr lang="en-US" sz="1500" dirty="0"/>
          </a:p>
        </p:txBody>
      </p:sp>
      <p:sp>
        <p:nvSpPr>
          <p:cNvPr id="26" name="Text 24"/>
          <p:cNvSpPr/>
          <p:nvPr/>
        </p:nvSpPr>
        <p:spPr>
          <a:xfrm>
            <a:off x="6775704" y="3922776"/>
            <a:ext cx="474573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105 automated assertions</a:t>
            </a:r>
            <a:endParaRPr lang="en-US" sz="1450" dirty="0"/>
          </a:p>
        </p:txBody>
      </p:sp>
      <p:sp>
        <p:nvSpPr>
          <p:cNvPr id="27" name="Text 25"/>
          <p:cNvSpPr/>
          <p:nvPr/>
        </p:nvSpPr>
        <p:spPr>
          <a:xfrm>
            <a:off x="6775704" y="4215384"/>
            <a:ext cx="474573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Three suites gating every result: labelling, split disjointness, and the cryptographic invariants.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Then we closed three older deliverables</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Months 1–4 items that had never been started</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3474720"/>
        </p:xfrm>
        <a:graphic>
          <a:graphicData uri="http://schemas.openxmlformats.org/drawingml/2006/table">
            <a:tbl>
              <a:tblPr/>
              <a:tblGrid>
                <a:gridCol w="32004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53492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8686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Deliverable</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Due</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we delivered</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868680">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Optimized packing &amp; encoding module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M3–4</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29.6% lossless bandwidth reduction — 3.51 MB down to 2.47 MB per vehicle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Complete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1"/>
                  </a:ext>
                </a:extLst>
              </a:tr>
              <a:tr h="868680">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High-performance NTT implementation</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M3–4</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Negacyclic NTT, validated exactly against a reference oracle. 11.22× over an optimised baseline. Test vectors exported for the C port</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Reference done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Baseline benchmarking on hardware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M1–2</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Portable harness plus a full host baseline. The target-board run is the only missing piece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Harness done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579695" y="5126333"/>
            <a:ext cx="10881360" cy="1060704"/>
          </a:xfrm>
          <a:prstGeom prst="roundRect">
            <a:avLst>
              <a:gd name="adj" fmla="val 7759"/>
            </a:avLst>
          </a:prstGeom>
          <a:solidFill>
            <a:srgbClr val="EEF9F4"/>
          </a:solidFill>
          <a:ln w="15875">
            <a:solidFill>
              <a:srgbClr val="1E9E6A"/>
            </a:solidFill>
            <a:prstDash val="solid"/>
          </a:ln>
        </p:spPr>
      </p:sp>
      <p:sp>
        <p:nvSpPr>
          <p:cNvPr id="6" name="Text 3"/>
          <p:cNvSpPr/>
          <p:nvPr/>
        </p:nvSpPr>
        <p:spPr>
          <a:xfrm>
            <a:off x="854015" y="5321118"/>
            <a:ext cx="10332720" cy="566928"/>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Deliverables due by end of Month 4:  5 of 8  →  7 of 8</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Two measured engineering results</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Both reproducible from the repository</a:t>
            </a:r>
            <a:endParaRPr lang="en-US" sz="1350" dirty="0"/>
          </a:p>
        </p:txBody>
      </p:sp>
      <p:sp>
        <p:nvSpPr>
          <p:cNvPr id="4" name="Shape 2"/>
          <p:cNvSpPr/>
          <p:nvPr/>
        </p:nvSpPr>
        <p:spPr>
          <a:xfrm>
            <a:off x="640080" y="1572768"/>
            <a:ext cx="5349240" cy="4114800"/>
          </a:xfrm>
          <a:prstGeom prst="roundRect">
            <a:avLst>
              <a:gd name="adj" fmla="val 2222"/>
            </a:avLst>
          </a:prstGeom>
          <a:solidFill>
            <a:srgbClr val="F4F7FC"/>
          </a:solidFill>
          <a:ln w="12700">
            <a:solidFill>
              <a:srgbClr val="E1E8F2"/>
            </a:solidFill>
            <a:prstDash val="solid"/>
          </a:ln>
        </p:spPr>
      </p:sp>
      <p:sp>
        <p:nvSpPr>
          <p:cNvPr id="5" name="Text 3"/>
          <p:cNvSpPr/>
          <p:nvPr/>
        </p:nvSpPr>
        <p:spPr>
          <a:xfrm>
            <a:off x="914400" y="1792224"/>
            <a:ext cx="4754880" cy="310896"/>
          </a:xfrm>
          <a:prstGeom prst="rect">
            <a:avLst/>
          </a:prstGeom>
          <a:noFill/>
          <a:ln/>
        </p:spPr>
        <p:txBody>
          <a:bodyPr wrap="square" lIns="0" tIns="0" rIns="0" bIns="0" rtlCol="0" anchor="ctr"/>
          <a:lstStyle/>
          <a:p>
            <a:pPr marL="0" indent="0">
              <a:buNone/>
            </a:pPr>
            <a:r>
              <a:rPr lang="en-US" sz="1200" b="1" kern="0" spc="150" dirty="0">
                <a:solidFill>
                  <a:srgbClr val="2D6CDF"/>
                </a:solidFill>
                <a:latin typeface="Calibri" pitchFamily="34" charset="0"/>
                <a:ea typeface="Calibri" pitchFamily="34" charset="-122"/>
                <a:cs typeface="Calibri" pitchFamily="34" charset="-120"/>
              </a:rPr>
              <a:t>Bandwidth</a:t>
            </a:r>
            <a:endParaRPr lang="en-US" sz="1200" dirty="0"/>
          </a:p>
        </p:txBody>
      </p:sp>
      <p:sp>
        <p:nvSpPr>
          <p:cNvPr id="6" name="Text 4"/>
          <p:cNvSpPr/>
          <p:nvPr/>
        </p:nvSpPr>
        <p:spPr>
          <a:xfrm>
            <a:off x="914400" y="2121408"/>
            <a:ext cx="4754880" cy="777240"/>
          </a:xfrm>
          <a:prstGeom prst="rect">
            <a:avLst/>
          </a:prstGeom>
          <a:noFill/>
          <a:ln/>
        </p:spPr>
        <p:txBody>
          <a:bodyPr wrap="square" lIns="0" tIns="0" rIns="0" bIns="0" rtlCol="0" anchor="ctr"/>
          <a:lstStyle/>
          <a:p>
            <a:pPr marL="0" indent="0">
              <a:buNone/>
            </a:pPr>
            <a:r>
              <a:rPr lang="en-US" sz="4600" b="1" dirty="0">
                <a:solidFill>
                  <a:srgbClr val="1E2761"/>
                </a:solidFill>
                <a:latin typeface="Cambria" pitchFamily="34" charset="0"/>
                <a:ea typeface="Cambria" pitchFamily="34" charset="-122"/>
                <a:cs typeface="Cambria" pitchFamily="34" charset="-120"/>
              </a:rPr>
              <a:t>29.6%</a:t>
            </a:r>
            <a:endParaRPr lang="en-US" sz="4600" dirty="0"/>
          </a:p>
        </p:txBody>
      </p:sp>
      <p:sp>
        <p:nvSpPr>
          <p:cNvPr id="7" name="Text 5"/>
          <p:cNvSpPr/>
          <p:nvPr/>
        </p:nvSpPr>
        <p:spPr>
          <a:xfrm>
            <a:off x="914400" y="2889504"/>
            <a:ext cx="4754880" cy="310896"/>
          </a:xfrm>
          <a:prstGeom prst="rect">
            <a:avLst/>
          </a:prstGeom>
          <a:noFill/>
          <a:ln/>
        </p:spPr>
        <p:txBody>
          <a:bodyPr wrap="square" lIns="0" tIns="0" rIns="0" bIns="0" rtlCol="0" anchor="ctr"/>
          <a:lstStyle/>
          <a:p>
            <a:pPr marL="0" indent="0">
              <a:buNone/>
            </a:pPr>
            <a:r>
              <a:rPr lang="en-US" sz="1300" dirty="0">
                <a:solidFill>
                  <a:srgbClr val="5A6472"/>
                </a:solidFill>
                <a:latin typeface="Calibri" pitchFamily="34" charset="0"/>
                <a:ea typeface="Calibri" pitchFamily="34" charset="-122"/>
                <a:cs typeface="Calibri" pitchFamily="34" charset="-120"/>
              </a:rPr>
              <a:t>smaller uploads, at zero accuracy cost</a:t>
            </a:r>
            <a:endParaRPr lang="en-US" sz="1300" dirty="0"/>
          </a:p>
        </p:txBody>
      </p:sp>
      <p:sp>
        <p:nvSpPr>
          <p:cNvPr id="8" name="Text 6"/>
          <p:cNvSpPr/>
          <p:nvPr/>
        </p:nvSpPr>
        <p:spPr>
          <a:xfrm>
            <a:off x="914400" y="3310128"/>
            <a:ext cx="475488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3.51 MB → 2.47 MB per vehicle per round</a:t>
            </a:r>
            <a:endParaRPr lang="en-US" sz="1200" dirty="0"/>
          </a:p>
          <a:p>
            <a:pPr marL="342900" indent="-342900">
              <a:lnSpc>
                <a:spcPts val="1600"/>
              </a:lnSpc>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Found by analysing the protocol, not the crypto</a:t>
            </a:r>
            <a:endParaRPr lang="en-US" sz="1200" dirty="0"/>
          </a:p>
          <a:p>
            <a:pPr marL="342900" indent="-342900">
              <a:lnSpc>
                <a:spcPts val="1600"/>
              </a:lnSpc>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The server's two operations use independent copies, so only one multiplicative level is needed — not two</a:t>
            </a:r>
            <a:endParaRPr lang="en-US" sz="1200" dirty="0"/>
          </a:p>
        </p:txBody>
      </p:sp>
      <p:sp>
        <p:nvSpPr>
          <p:cNvPr id="9" name="Shape 7"/>
          <p:cNvSpPr/>
          <p:nvPr/>
        </p:nvSpPr>
        <p:spPr>
          <a:xfrm>
            <a:off x="6172200" y="1572768"/>
            <a:ext cx="5349240" cy="4114800"/>
          </a:xfrm>
          <a:prstGeom prst="roundRect">
            <a:avLst>
              <a:gd name="adj" fmla="val 2222"/>
            </a:avLst>
          </a:prstGeom>
          <a:solidFill>
            <a:srgbClr val="F4F7FC"/>
          </a:solidFill>
          <a:ln w="12700">
            <a:solidFill>
              <a:srgbClr val="E1E8F2"/>
            </a:solidFill>
            <a:prstDash val="solid"/>
          </a:ln>
        </p:spPr>
      </p:sp>
      <p:sp>
        <p:nvSpPr>
          <p:cNvPr id="10" name="Text 8"/>
          <p:cNvSpPr/>
          <p:nvPr/>
        </p:nvSpPr>
        <p:spPr>
          <a:xfrm>
            <a:off x="6446520" y="1792224"/>
            <a:ext cx="4754880" cy="310896"/>
          </a:xfrm>
          <a:prstGeom prst="rect">
            <a:avLst/>
          </a:prstGeom>
          <a:noFill/>
          <a:ln/>
        </p:spPr>
        <p:txBody>
          <a:bodyPr wrap="square" lIns="0" tIns="0" rIns="0" bIns="0" rtlCol="0" anchor="ctr"/>
          <a:lstStyle/>
          <a:p>
            <a:pPr marL="0" indent="0">
              <a:buNone/>
            </a:pPr>
            <a:r>
              <a:rPr lang="en-US" sz="1200" b="1" kern="0" spc="150" dirty="0">
                <a:solidFill>
                  <a:srgbClr val="2D6CDF"/>
                </a:solidFill>
                <a:latin typeface="Calibri" pitchFamily="34" charset="0"/>
                <a:ea typeface="Calibri" pitchFamily="34" charset="-122"/>
                <a:cs typeface="Calibri" pitchFamily="34" charset="-120"/>
              </a:rPr>
              <a:t>NTT kernel</a:t>
            </a:r>
            <a:endParaRPr lang="en-US" sz="1200" dirty="0"/>
          </a:p>
        </p:txBody>
      </p:sp>
      <p:sp>
        <p:nvSpPr>
          <p:cNvPr id="11" name="Text 9"/>
          <p:cNvSpPr/>
          <p:nvPr/>
        </p:nvSpPr>
        <p:spPr>
          <a:xfrm>
            <a:off x="6446520" y="2121408"/>
            <a:ext cx="4754880" cy="777240"/>
          </a:xfrm>
          <a:prstGeom prst="rect">
            <a:avLst/>
          </a:prstGeom>
          <a:noFill/>
          <a:ln/>
        </p:spPr>
        <p:txBody>
          <a:bodyPr wrap="square" lIns="0" tIns="0" rIns="0" bIns="0" rtlCol="0" anchor="ctr"/>
          <a:lstStyle/>
          <a:p>
            <a:pPr marL="0" indent="0">
              <a:buNone/>
            </a:pPr>
            <a:r>
              <a:rPr lang="en-US" sz="4600" b="1" dirty="0">
                <a:solidFill>
                  <a:srgbClr val="1E2761"/>
                </a:solidFill>
                <a:latin typeface="Cambria" pitchFamily="34" charset="0"/>
                <a:ea typeface="Cambria" pitchFamily="34" charset="-122"/>
                <a:cs typeface="Cambria" pitchFamily="34" charset="-120"/>
              </a:rPr>
              <a:t>11.22×</a:t>
            </a:r>
            <a:endParaRPr lang="en-US" sz="4600" dirty="0"/>
          </a:p>
        </p:txBody>
      </p:sp>
      <p:sp>
        <p:nvSpPr>
          <p:cNvPr id="12" name="Text 10"/>
          <p:cNvSpPr/>
          <p:nvPr/>
        </p:nvSpPr>
        <p:spPr>
          <a:xfrm>
            <a:off x="6446520" y="2889504"/>
            <a:ext cx="4754880" cy="310896"/>
          </a:xfrm>
          <a:prstGeom prst="rect">
            <a:avLst/>
          </a:prstGeom>
          <a:noFill/>
          <a:ln/>
        </p:spPr>
        <p:txBody>
          <a:bodyPr wrap="square" lIns="0" tIns="0" rIns="0" bIns="0" rtlCol="0" anchor="ctr"/>
          <a:lstStyle/>
          <a:p>
            <a:pPr marL="0" indent="0">
              <a:buNone/>
            </a:pPr>
            <a:r>
              <a:rPr lang="en-US" sz="1300" dirty="0">
                <a:solidFill>
                  <a:srgbClr val="5A6472"/>
                </a:solidFill>
                <a:latin typeface="Calibri" pitchFamily="34" charset="0"/>
                <a:ea typeface="Calibri" pitchFamily="34" charset="-122"/>
                <a:cs typeface="Calibri" pitchFamily="34" charset="-120"/>
              </a:rPr>
              <a:t>faster than an optimised O(N²) baseline</a:t>
            </a:r>
            <a:endParaRPr lang="en-US" sz="1300" dirty="0"/>
          </a:p>
        </p:txBody>
      </p:sp>
      <p:sp>
        <p:nvSpPr>
          <p:cNvPr id="13" name="Text 11"/>
          <p:cNvSpPr/>
          <p:nvPr/>
        </p:nvSpPr>
        <p:spPr>
          <a:xfrm>
            <a:off x="6446520" y="3310128"/>
            <a:ext cx="475488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The hottest kernel in any FHE library</a:t>
            </a:r>
            <a:endParaRPr lang="en-US" sz="1200" dirty="0"/>
          </a:p>
          <a:p>
            <a:pPr marL="342900" indent="-342900">
              <a:lnSpc>
                <a:spcPts val="1600"/>
              </a:lnSpc>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Our first version was slower than naive — it made ~8,191 tiny calls per transform</a:t>
            </a:r>
            <a:endParaRPr lang="en-US" sz="1200" dirty="0"/>
          </a:p>
          <a:p>
            <a:pPr marL="342900" indent="-342900">
              <a:lnSpc>
                <a:spcPts val="1600"/>
              </a:lnSpc>
              <a:spcAft>
                <a:spcPts val="700"/>
              </a:spcAft>
              <a:buSzPct val="100000"/>
              <a:buChar char="•"/>
            </a:pPr>
            <a:r>
              <a:rPr lang="en-US" sz="1200" dirty="0">
                <a:solidFill>
                  <a:srgbClr val="1A1A2E"/>
                </a:solidFill>
                <a:latin typeface="Calibri" pitchFamily="34" charset="0"/>
                <a:ea typeface="Calibri" pitchFamily="34" charset="-122"/>
                <a:cs typeface="Calibri" pitchFamily="34" charset="-120"/>
              </a:rPr>
              <a:t>Batching each stage made it 53× faster. Lesson: memory pattern dominates, not arithmetic</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we are not claiming</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Stated up front so nothing reads as an overclaim</a:t>
            </a:r>
            <a:endParaRPr lang="en-US" sz="1350" dirty="0"/>
          </a:p>
        </p:txBody>
      </p:sp>
      <p:sp>
        <p:nvSpPr>
          <p:cNvPr id="4" name="Shape 2"/>
          <p:cNvSpPr/>
          <p:nvPr/>
        </p:nvSpPr>
        <p:spPr>
          <a:xfrm>
            <a:off x="640080" y="1627632"/>
            <a:ext cx="420624" cy="420624"/>
          </a:xfrm>
          <a:prstGeom prst="ellipse">
            <a:avLst/>
          </a:prstGeom>
          <a:solidFill>
            <a:srgbClr val="D98324"/>
          </a:solidFill>
          <a:ln/>
        </p:spPr>
      </p:sp>
      <p:sp>
        <p:nvSpPr>
          <p:cNvPr id="5" name="Text 3"/>
          <p:cNvSpPr/>
          <p:nvPr/>
        </p:nvSpPr>
        <p:spPr>
          <a:xfrm>
            <a:off x="640080" y="1645920"/>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p:nvPr/>
        </p:nvSpPr>
        <p:spPr>
          <a:xfrm>
            <a:off x="1243584" y="1600200"/>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This is not full multi-key CKKS yet</a:t>
            </a:r>
            <a:endParaRPr lang="en-US" sz="1450" dirty="0"/>
          </a:p>
        </p:txBody>
      </p:sp>
      <p:sp>
        <p:nvSpPr>
          <p:cNvPr id="7" name="Text 5"/>
          <p:cNvSpPr/>
          <p:nvPr/>
        </p:nvSpPr>
        <p:spPr>
          <a:xfrm>
            <a:off x="1243584" y="1892808"/>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The homomorphic arithmetic is real. The multi-key key management is an algebraic model, because TenSEAL exposes no multi-key API. Migrating to OpenFHE closes this — it is the Month-6 priority.</a:t>
            </a:r>
            <a:endParaRPr lang="en-US" sz="1200" dirty="0"/>
          </a:p>
        </p:txBody>
      </p:sp>
      <p:sp>
        <p:nvSpPr>
          <p:cNvPr id="8" name="Shape 6"/>
          <p:cNvSpPr/>
          <p:nvPr/>
        </p:nvSpPr>
        <p:spPr>
          <a:xfrm>
            <a:off x="640080" y="2761488"/>
            <a:ext cx="420624" cy="420624"/>
          </a:xfrm>
          <a:prstGeom prst="ellipse">
            <a:avLst/>
          </a:prstGeom>
          <a:solidFill>
            <a:srgbClr val="D98324"/>
          </a:solidFill>
          <a:ln/>
        </p:spPr>
      </p:sp>
      <p:sp>
        <p:nvSpPr>
          <p:cNvPr id="9" name="Text 7"/>
          <p:cNvSpPr/>
          <p:nvPr/>
        </p:nvSpPr>
        <p:spPr>
          <a:xfrm>
            <a:off x="640080" y="2779776"/>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p:nvPr/>
        </p:nvSpPr>
        <p:spPr>
          <a:xfrm>
            <a:off x="1243584" y="2734056"/>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Nothing has run on target hardware</a:t>
            </a:r>
            <a:endParaRPr lang="en-US" sz="1450" dirty="0"/>
          </a:p>
        </p:txBody>
      </p:sp>
      <p:sp>
        <p:nvSpPr>
          <p:cNvPr id="11" name="Text 9"/>
          <p:cNvSpPr/>
          <p:nvPr/>
        </p:nvSpPr>
        <p:spPr>
          <a:xfrm>
            <a:off x="1243584" y="3026664"/>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The NTT reference, packing module and benchmark harness are all built and validated, but every number was measured on a development laptop.</a:t>
            </a:r>
            <a:endParaRPr lang="en-US" sz="1200" dirty="0"/>
          </a:p>
        </p:txBody>
      </p:sp>
      <p:sp>
        <p:nvSpPr>
          <p:cNvPr id="12" name="Shape 10"/>
          <p:cNvSpPr/>
          <p:nvPr/>
        </p:nvSpPr>
        <p:spPr>
          <a:xfrm>
            <a:off x="640080" y="3895344"/>
            <a:ext cx="420624" cy="420624"/>
          </a:xfrm>
          <a:prstGeom prst="ellipse">
            <a:avLst/>
          </a:prstGeom>
          <a:solidFill>
            <a:srgbClr val="D98324"/>
          </a:solidFill>
          <a:ln/>
        </p:spPr>
      </p:sp>
      <p:sp>
        <p:nvSpPr>
          <p:cNvPr id="13" name="Text 11"/>
          <p:cNvSpPr/>
          <p:nvPr/>
        </p:nvSpPr>
        <p:spPr>
          <a:xfrm>
            <a:off x="640080" y="3913632"/>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p:nvPr/>
        </p:nvSpPr>
        <p:spPr>
          <a:xfrm>
            <a:off x="1243584" y="3867912"/>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Byzantine robustness is untested against patient attackers</a:t>
            </a:r>
            <a:endParaRPr lang="en-US" sz="1450" dirty="0"/>
          </a:p>
        </p:txBody>
      </p:sp>
      <p:sp>
        <p:nvSpPr>
          <p:cNvPr id="15" name="Text 13"/>
          <p:cNvSpPr/>
          <p:nvPr/>
        </p:nvSpPr>
        <p:spPr>
          <a:xfrm>
            <a:off x="1243584" y="4160520"/>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Our scoring rewards staying close to the consensus, so a low-magnitude persistent attacker is an open blind spot. The experiment is scheduled for Month 6.</a:t>
            </a:r>
            <a:endParaRPr lang="en-US" sz="1200" dirty="0"/>
          </a:p>
        </p:txBody>
      </p:sp>
      <p:sp>
        <p:nvSpPr>
          <p:cNvPr id="16" name="Shape 14"/>
          <p:cNvSpPr/>
          <p:nvPr/>
        </p:nvSpPr>
        <p:spPr>
          <a:xfrm>
            <a:off x="640080" y="5029200"/>
            <a:ext cx="420624" cy="420624"/>
          </a:xfrm>
          <a:prstGeom prst="ellipse">
            <a:avLst/>
          </a:prstGeom>
          <a:solidFill>
            <a:srgbClr val="D98324"/>
          </a:solidFill>
          <a:ln/>
        </p:spPr>
      </p:sp>
      <p:sp>
        <p:nvSpPr>
          <p:cNvPr id="17" name="Text 15"/>
          <p:cNvSpPr/>
          <p:nvPr/>
        </p:nvSpPr>
        <p:spPr>
          <a:xfrm>
            <a:off x="640080" y="5047488"/>
            <a:ext cx="420624"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8" name="Text 16"/>
          <p:cNvSpPr/>
          <p:nvPr/>
        </p:nvSpPr>
        <p:spPr>
          <a:xfrm>
            <a:off x="1243584" y="5001768"/>
            <a:ext cx="10277856" cy="310896"/>
          </a:xfrm>
          <a:prstGeom prst="rect">
            <a:avLst/>
          </a:prstGeom>
          <a:noFill/>
          <a:ln/>
        </p:spPr>
        <p:txBody>
          <a:bodyPr wrap="square" lIns="0" tIns="0" rIns="0" bIns="0" rtlCol="0" anchor="ctr"/>
          <a:lstStyle/>
          <a:p>
            <a:pPr marL="0" indent="0">
              <a:buNone/>
            </a:pPr>
            <a:r>
              <a:rPr lang="en-US" sz="1450" b="1" dirty="0">
                <a:solidFill>
                  <a:srgbClr val="1A1A2E"/>
                </a:solidFill>
                <a:latin typeface="Calibri" pitchFamily="34" charset="0"/>
                <a:ea typeface="Calibri" pitchFamily="34" charset="-122"/>
                <a:cs typeface="Calibri" pitchFamily="34" charset="-120"/>
              </a:rPr>
              <a:t>One dataset contributes nothing until re-acquired</a:t>
            </a:r>
            <a:endParaRPr lang="en-US" sz="1450" dirty="0"/>
          </a:p>
        </p:txBody>
      </p:sp>
      <p:sp>
        <p:nvSpPr>
          <p:cNvPr id="19" name="Text 17"/>
          <p:cNvSpPr/>
          <p:nvPr/>
        </p:nvSpPr>
        <p:spPr>
          <a:xfrm>
            <a:off x="1243584" y="5294376"/>
            <a:ext cx="10277856" cy="658368"/>
          </a:xfrm>
          <a:prstGeom prst="rect">
            <a:avLst/>
          </a:prstGeom>
          <a:noFill/>
          <a:ln/>
        </p:spPr>
        <p:txBody>
          <a:bodyPr wrap="square" lIns="0" tIns="0" rIns="0" bIns="0" rtlCol="0" anchor="ctr"/>
          <a:lstStyle/>
          <a:p>
            <a:pPr marL="0" indent="0">
              <a:lnSpc>
                <a:spcPts val="1500"/>
              </a:lnSpc>
              <a:buNone/>
            </a:pPr>
            <a:r>
              <a:rPr lang="en-US" sz="1200" dirty="0">
                <a:solidFill>
                  <a:srgbClr val="5A6472"/>
                </a:solidFill>
                <a:latin typeface="Calibri" pitchFamily="34" charset="0"/>
                <a:ea typeface="Calibri" pitchFamily="34" charset="-122"/>
                <a:cs typeface="Calibri" pitchFamily="34" charset="-120"/>
              </a:rPr>
              <a:t>VeReMi's cleaned export dropped the sender ID, and its attacks are defined over time per sender. We measured this before training and training confirmed 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731520" y="658368"/>
            <a:ext cx="1069848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The one thing blocking us</a:t>
            </a:r>
            <a:endParaRPr lang="en-US" sz="3200" dirty="0"/>
          </a:p>
        </p:txBody>
      </p:sp>
      <p:sp>
        <p:nvSpPr>
          <p:cNvPr id="3" name="Text 1"/>
          <p:cNvSpPr/>
          <p:nvPr/>
        </p:nvSpPr>
        <p:spPr>
          <a:xfrm>
            <a:off x="731520" y="1298448"/>
            <a:ext cx="10698480" cy="36576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Every remaining Month 1–4 item is blocked on the same thing, and nothing else</a:t>
            </a:r>
            <a:endParaRPr lang="en-US" sz="1400" dirty="0"/>
          </a:p>
        </p:txBody>
      </p:sp>
      <p:sp>
        <p:nvSpPr>
          <p:cNvPr id="4" name="Shape 2"/>
          <p:cNvSpPr/>
          <p:nvPr/>
        </p:nvSpPr>
        <p:spPr>
          <a:xfrm>
            <a:off x="731520" y="1938528"/>
            <a:ext cx="10698480" cy="1371600"/>
          </a:xfrm>
          <a:prstGeom prst="roundRect">
            <a:avLst>
              <a:gd name="adj" fmla="val 6667"/>
            </a:avLst>
          </a:prstGeom>
          <a:solidFill>
            <a:srgbClr val="141B45"/>
          </a:solidFill>
          <a:ln w="19050">
            <a:solidFill>
              <a:srgbClr val="D98324"/>
            </a:solidFill>
            <a:prstDash val="solid"/>
          </a:ln>
        </p:spPr>
      </p:sp>
      <p:sp>
        <p:nvSpPr>
          <p:cNvPr id="5" name="Text 3"/>
          <p:cNvSpPr/>
          <p:nvPr/>
        </p:nvSpPr>
        <p:spPr>
          <a:xfrm>
            <a:off x="1051560" y="2176272"/>
            <a:ext cx="10058400" cy="457200"/>
          </a:xfrm>
          <a:prstGeom prst="rect">
            <a:avLst/>
          </a:prstGeom>
          <a:noFill/>
          <a:ln/>
        </p:spPr>
        <p:txBody>
          <a:bodyPr wrap="square" lIns="0" tIns="0" rIns="0" bIns="0" rtlCol="0" anchor="ctr"/>
          <a:lstStyle/>
          <a:p>
            <a:pPr marL="0" indent="0">
              <a:buNone/>
            </a:pPr>
            <a:r>
              <a:rPr lang="en-US" sz="2400" b="1" dirty="0">
                <a:solidFill>
                  <a:srgbClr val="D98324"/>
                </a:solidFill>
                <a:latin typeface="Cambria" pitchFamily="34" charset="0"/>
                <a:ea typeface="Cambria" pitchFamily="34" charset="-122"/>
                <a:cs typeface="Cambria" pitchFamily="34" charset="-120"/>
              </a:rPr>
              <a:t>No target hardware has been ordered</a:t>
            </a:r>
            <a:endParaRPr lang="en-US" sz="2400" dirty="0"/>
          </a:p>
        </p:txBody>
      </p:sp>
      <p:sp>
        <p:nvSpPr>
          <p:cNvPr id="6" name="Text 4"/>
          <p:cNvSpPr/>
          <p:nvPr/>
        </p:nvSpPr>
        <p:spPr>
          <a:xfrm>
            <a:off x="1051560" y="2651760"/>
            <a:ext cx="10058400" cy="45720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The embedded track is now software-complete and waiting on a board. Ordering one is about an hour of work.</a:t>
            </a:r>
            <a:endParaRPr lang="en-US" sz="1400" dirty="0"/>
          </a:p>
        </p:txBody>
      </p:sp>
      <p:sp>
        <p:nvSpPr>
          <p:cNvPr id="7" name="Text 5"/>
          <p:cNvSpPr/>
          <p:nvPr/>
        </p:nvSpPr>
        <p:spPr>
          <a:xfrm>
            <a:off x="731520" y="3584448"/>
            <a:ext cx="10698480" cy="329184"/>
          </a:xfrm>
          <a:prstGeom prst="rect">
            <a:avLst/>
          </a:prstGeom>
          <a:noFill/>
          <a:ln/>
        </p:spPr>
        <p:txBody>
          <a:bodyPr wrap="square" lIns="0" tIns="0" rIns="0" bIns="0" rtlCol="0" anchor="ctr"/>
          <a:lstStyle/>
          <a:p>
            <a:pPr marL="0" indent="0">
              <a:buNone/>
            </a:pPr>
            <a:r>
              <a:rPr lang="en-US" sz="1200" b="1" kern="0" spc="150" dirty="0">
                <a:solidFill>
                  <a:srgbClr val="CADCFC"/>
                </a:solidFill>
                <a:latin typeface="Calibri" pitchFamily="34" charset="0"/>
                <a:ea typeface="Calibri" pitchFamily="34" charset="-122"/>
                <a:cs typeface="Calibri" pitchFamily="34" charset="-120"/>
              </a:rPr>
              <a:t>What we are asking for</a:t>
            </a:r>
            <a:endParaRPr lang="en-US" sz="1200" dirty="0"/>
          </a:p>
        </p:txBody>
      </p:sp>
      <p:sp>
        <p:nvSpPr>
          <p:cNvPr id="8" name="Shape 6"/>
          <p:cNvSpPr/>
          <p:nvPr/>
        </p:nvSpPr>
        <p:spPr>
          <a:xfrm>
            <a:off x="731520" y="3950208"/>
            <a:ext cx="5257800" cy="1783080"/>
          </a:xfrm>
          <a:prstGeom prst="roundRect">
            <a:avLst>
              <a:gd name="adj" fmla="val 5128"/>
            </a:avLst>
          </a:prstGeom>
          <a:solidFill>
            <a:srgbClr val="141B45"/>
          </a:solidFill>
          <a:ln w="12700">
            <a:solidFill>
              <a:srgbClr val="39457F"/>
            </a:solidFill>
            <a:prstDash val="solid"/>
          </a:ln>
        </p:spPr>
      </p:sp>
      <p:sp>
        <p:nvSpPr>
          <p:cNvPr id="9" name="Text 7"/>
          <p:cNvSpPr/>
          <p:nvPr/>
        </p:nvSpPr>
        <p:spPr>
          <a:xfrm>
            <a:off x="1005840" y="4151376"/>
            <a:ext cx="4709160" cy="329184"/>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NXP S32G evaluation board</a:t>
            </a:r>
            <a:endParaRPr lang="en-US" sz="1500" dirty="0"/>
          </a:p>
        </p:txBody>
      </p:sp>
      <p:sp>
        <p:nvSpPr>
          <p:cNvPr id="10" name="Text 8"/>
          <p:cNvSpPr/>
          <p:nvPr/>
        </p:nvSpPr>
        <p:spPr>
          <a:xfrm>
            <a:off x="1005840" y="4498848"/>
            <a:ext cx="4709160" cy="1051560"/>
          </a:xfrm>
          <a:prstGeom prst="rect">
            <a:avLst/>
          </a:prstGeom>
          <a:noFill/>
          <a:ln/>
        </p:spPr>
        <p:txBody>
          <a:bodyPr wrap="square" lIns="0" tIns="0" rIns="0" bIns="0" rtlCol="0" anchor="ctr"/>
          <a:lstStyle/>
          <a:p>
            <a:pPr marL="0" indent="0">
              <a:lnSpc>
                <a:spcPts val="1700"/>
              </a:lnSpc>
              <a:buNone/>
            </a:pPr>
            <a:r>
              <a:rPr lang="en-US" sz="1250" dirty="0">
                <a:solidFill>
                  <a:srgbClr val="CADCFC"/>
                </a:solidFill>
                <a:latin typeface="Calibri" pitchFamily="34" charset="0"/>
                <a:ea typeface="Calibri" pitchFamily="34" charset="-122"/>
                <a:cs typeface="Calibri" pitchFamily="34" charset="-120"/>
              </a:rPr>
              <a:t>The realistic production target — an automotive network processor built for vehicle gateways.</a:t>
            </a:r>
            <a:endParaRPr lang="en-US" sz="1250" dirty="0"/>
          </a:p>
        </p:txBody>
      </p:sp>
      <p:sp>
        <p:nvSpPr>
          <p:cNvPr id="11" name="Shape 9"/>
          <p:cNvSpPr/>
          <p:nvPr/>
        </p:nvSpPr>
        <p:spPr>
          <a:xfrm>
            <a:off x="6172200" y="3950208"/>
            <a:ext cx="5257800" cy="1783080"/>
          </a:xfrm>
          <a:prstGeom prst="roundRect">
            <a:avLst>
              <a:gd name="adj" fmla="val 5128"/>
            </a:avLst>
          </a:prstGeom>
          <a:solidFill>
            <a:srgbClr val="141B45"/>
          </a:solidFill>
          <a:ln w="15875">
            <a:solidFill>
              <a:srgbClr val="1E9E6A"/>
            </a:solidFill>
            <a:prstDash val="solid"/>
          </a:ln>
        </p:spPr>
      </p:sp>
      <p:sp>
        <p:nvSpPr>
          <p:cNvPr id="12" name="Text 10"/>
          <p:cNvSpPr/>
          <p:nvPr/>
        </p:nvSpPr>
        <p:spPr>
          <a:xfrm>
            <a:off x="6446520" y="4151376"/>
            <a:ext cx="4709160" cy="329184"/>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Raspberry Pi 5  — available this week</a:t>
            </a:r>
            <a:endParaRPr lang="en-US" sz="1500" dirty="0"/>
          </a:p>
        </p:txBody>
      </p:sp>
      <p:sp>
        <p:nvSpPr>
          <p:cNvPr id="13" name="Text 11"/>
          <p:cNvSpPr/>
          <p:nvPr/>
        </p:nvSpPr>
        <p:spPr>
          <a:xfrm>
            <a:off x="6446520" y="4498848"/>
            <a:ext cx="4709160" cy="1051560"/>
          </a:xfrm>
          <a:prstGeom prst="rect">
            <a:avLst/>
          </a:prstGeom>
          <a:noFill/>
          <a:ln/>
        </p:spPr>
        <p:txBody>
          <a:bodyPr wrap="square" lIns="0" tIns="0" rIns="0" bIns="0" rtlCol="0" anchor="ctr"/>
          <a:lstStyle/>
          <a:p>
            <a:pPr marL="0" indent="0">
              <a:lnSpc>
                <a:spcPts val="1700"/>
              </a:lnSpc>
              <a:buNone/>
            </a:pPr>
            <a:r>
              <a:rPr lang="en-US" sz="1250" dirty="0">
                <a:solidFill>
                  <a:srgbClr val="CADCFC"/>
                </a:solidFill>
                <a:latin typeface="Calibri" pitchFamily="34" charset="0"/>
                <a:ea typeface="Calibri" pitchFamily="34" charset="-122"/>
                <a:cs typeface="Calibri" pitchFamily="34" charset="-120"/>
              </a:rPr>
              <a:t>An interim ARM host. Removes procurement delay from the critical path so cross-compilation and NTT profiling can start immediately.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72800" cy="566928"/>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Month 6 plan</a:t>
            </a:r>
            <a:endParaRPr lang="en-US" sz="3000" dirty="0"/>
          </a:p>
        </p:txBody>
      </p:sp>
      <p:sp>
        <p:nvSpPr>
          <p:cNvPr id="3" name="Text 1"/>
          <p:cNvSpPr/>
          <p:nvPr/>
        </p:nvSpPr>
        <p:spPr>
          <a:xfrm>
            <a:off x="640080" y="969264"/>
            <a:ext cx="10972800" cy="365760"/>
          </a:xfrm>
          <a:prstGeom prst="rect">
            <a:avLst/>
          </a:prstGeom>
          <a:noFill/>
          <a:ln/>
        </p:spPr>
        <p:txBody>
          <a:bodyPr wrap="square" lIns="0" tIns="0" rIns="0" bIns="0" rtlCol="0" anchor="ctr"/>
          <a:lstStyle/>
          <a:p>
            <a:pPr marL="0" indent="0">
              <a:buNone/>
            </a:pPr>
            <a:r>
              <a:rPr lang="en-US" sz="1350" dirty="0">
                <a:solidFill>
                  <a:srgbClr val="5A6472"/>
                </a:solidFill>
                <a:latin typeface="Calibri" pitchFamily="34" charset="0"/>
                <a:ea typeface="Calibri" pitchFamily="34" charset="-122"/>
                <a:cs typeface="Calibri" pitchFamily="34" charset="-120"/>
              </a:rPr>
              <a:t>In priority order</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881360" cy="3328416"/>
        </p:xfrm>
        <a:graphic>
          <a:graphicData uri="http://schemas.openxmlformats.org/drawingml/2006/table">
            <a:tbl>
              <a:tblPr/>
              <a:tblGrid>
                <a:gridCol w="105156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4206240">
                  <a:extLst>
                    <a:ext uri="{9D8B030D-6E8A-4147-A177-3AD203B41FA5}">
                      <a16:colId xmlns:a16="http://schemas.microsoft.com/office/drawing/2014/main" val="20003"/>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Task</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Effort</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is ranked here</a:t>
                      </a:r>
                      <a:endParaRPr lang="en-US" sz="120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75488">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Order target hardware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1 hour</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Unblocks the entire embedded track</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Bind round number into the channel; enforce noise flooding</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3 hours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Closes replay and an approximate-decryption exposure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Migrate to OpenFHE</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12 days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The only way to make multi-key CKKS real — TenSEAL cannot express it</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Low-magnitude poisoning experiment</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3 days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Tests our known blind spot in Byzantine robustness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Scale to 50 vehicles / 50 rounds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4 days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Moves toward the roadmap target of 50–200</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Re-acquire VeReMi with sender IDs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2 days</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tc>
                  <a:txBody>
                    <a:bodyPr/>
                    <a:lstStyle/>
                    <a:p>
                      <a:pPr marL="0" indent="0">
                        <a:buNone/>
                      </a:pPr>
                      <a:r>
                        <a:rPr lang="en-US" sz="1150" dirty="0">
                          <a:solidFill>
                            <a:srgbClr val="1A1A2E"/>
                          </a:solidFill>
                          <a:latin typeface="Calibri" pitchFamily="34" charset="0"/>
                          <a:ea typeface="Calibri" pitchFamily="34" charset="-122"/>
                          <a:cs typeface="Calibri" pitchFamily="34" charset="-120"/>
                        </a:rPr>
                        <a:t>Restores a dataset that currently contributes nothing</a:t>
                      </a:r>
                      <a:endParaRPr lang="en-US" sz="1150" dirty="0">
                        <a:latin typeface="Calibri" charset="0"/>
                        <a:ea typeface="Calibri" charset="0"/>
                        <a:cs typeface="Calibri" charset="0"/>
                      </a:endParaRPr>
                    </a:p>
                  </a:txBody>
                  <a:tcPr anchor="ctr">
                    <a:lnL w="12700" cap="flat" cmpd="sng" algn="ctr">
                      <a:solidFill>
                        <a:srgbClr val="E1E8F2"/>
                      </a:solidFill>
                      <a:prstDash val="solid"/>
                      <a:round/>
                      <a:headEnd type="none" w="med" len="med"/>
                      <a:tailEnd type="none" w="med" len="med"/>
                    </a:lnL>
                    <a:lnR w="12700" cap="flat" cmpd="sng" algn="ctr">
                      <a:solidFill>
                        <a:srgbClr val="E1E8F2"/>
                      </a:solidFill>
                      <a:prstDash val="solid"/>
                      <a:round/>
                      <a:headEnd type="none" w="med" len="med"/>
                      <a:tailEnd type="none" w="med" len="med"/>
                    </a:lnR>
                    <a:lnT w="12700" cap="flat" cmpd="sng" algn="ctr">
                      <a:solidFill>
                        <a:srgbClr val="E1E8F2"/>
                      </a:solidFill>
                      <a:prstDash val="solid"/>
                      <a:round/>
                      <a:headEnd type="none" w="med" len="med"/>
                      <a:tailEnd type="none" w="med" len="med"/>
                    </a:lnT>
                    <a:lnB w="12700" cap="flat" cmpd="sng" algn="ctr">
                      <a:solidFill>
                        <a:srgbClr val="E1E8F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Shape 2"/>
          <p:cNvSpPr/>
          <p:nvPr/>
        </p:nvSpPr>
        <p:spPr>
          <a:xfrm>
            <a:off x="640080" y="4828032"/>
            <a:ext cx="10881360" cy="914400"/>
          </a:xfrm>
          <a:prstGeom prst="roundRect">
            <a:avLst>
              <a:gd name="adj" fmla="val 9000"/>
            </a:avLst>
          </a:prstGeom>
          <a:solidFill>
            <a:srgbClr val="F4F7FC"/>
          </a:solidFill>
          <a:ln w="12700">
            <a:solidFill>
              <a:srgbClr val="E1E8F2"/>
            </a:solidFill>
            <a:prstDash val="solid"/>
          </a:ln>
        </p:spPr>
      </p:sp>
      <p:sp>
        <p:nvSpPr>
          <p:cNvPr id="6" name="Text 3"/>
          <p:cNvSpPr/>
          <p:nvPr/>
        </p:nvSpPr>
        <p:spPr>
          <a:xfrm>
            <a:off x="914400" y="5047488"/>
            <a:ext cx="10332720" cy="502920"/>
          </a:xfrm>
          <a:prstGeom prst="rect">
            <a:avLst/>
          </a:prstGeom>
          <a:noFill/>
          <a:ln/>
        </p:spPr>
        <p:txBody>
          <a:bodyPr wrap="square" lIns="0" tIns="0" rIns="0" bIns="0" rtlCol="0" anchor="ctr"/>
          <a:lstStyle/>
          <a:p>
            <a:pPr marL="0" indent="0">
              <a:buNone/>
            </a:pPr>
            <a:r>
              <a:rPr lang="en-US" sz="1350" dirty="0">
                <a:solidFill>
                  <a:srgbClr val="1A1A2E"/>
                </a:solidFill>
                <a:latin typeface="Calibri" pitchFamily="34" charset="0"/>
                <a:ea typeface="Calibri" pitchFamily="34" charset="-122"/>
                <a:cs typeface="Calibri" pitchFamily="34" charset="-120"/>
              </a:rPr>
              <a:t>The embedded track shrank from ~40 days to ~22 this month, and the on-hardware benchmark from 2 days to half a day.</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777240"/>
            <a:ext cx="10515600" cy="658368"/>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Summary</a:t>
            </a:r>
            <a:endParaRPr lang="en-US" sz="3400" dirty="0"/>
          </a:p>
        </p:txBody>
      </p:sp>
      <p:sp>
        <p:nvSpPr>
          <p:cNvPr id="3" name="Shape 1"/>
          <p:cNvSpPr/>
          <p:nvPr/>
        </p:nvSpPr>
        <p:spPr>
          <a:xfrm>
            <a:off x="822960" y="1728216"/>
            <a:ext cx="292608" cy="292608"/>
          </a:xfrm>
          <a:prstGeom prst="ellipse">
            <a:avLst/>
          </a:prstGeom>
          <a:solidFill>
            <a:srgbClr val="1E9E6A"/>
          </a:solidFill>
          <a:ln/>
        </p:spPr>
      </p:sp>
      <p:sp>
        <p:nvSpPr>
          <p:cNvPr id="4" name="Text 2"/>
          <p:cNvSpPr/>
          <p:nvPr/>
        </p:nvSpPr>
        <p:spPr>
          <a:xfrm>
            <a:off x="1325880" y="1673352"/>
            <a:ext cx="9966960" cy="347472"/>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Audited the project and fixed seven defects</a:t>
            </a:r>
            <a:endParaRPr lang="en-US" sz="1700" dirty="0"/>
          </a:p>
        </p:txBody>
      </p:sp>
      <p:sp>
        <p:nvSpPr>
          <p:cNvPr id="5" name="Text 3"/>
          <p:cNvSpPr/>
          <p:nvPr/>
        </p:nvSpPr>
        <p:spPr>
          <a:xfrm>
            <a:off x="1325880" y="2020824"/>
            <a:ext cx="9966960" cy="329184"/>
          </a:xfrm>
          <a:prstGeom prst="rect">
            <a:avLst/>
          </a:prstGeom>
          <a:noFill/>
          <a:ln/>
        </p:spPr>
        <p:txBody>
          <a:bodyPr wrap="square" lIns="0" tIns="0" rIns="0" bIns="0" rtlCol="0" anchor="ctr"/>
          <a:lstStyle/>
          <a:p>
            <a:pPr marL="0" indent="0">
              <a:buNone/>
            </a:pPr>
            <a:r>
              <a:rPr lang="en-US" sz="1300" dirty="0">
                <a:solidFill>
                  <a:srgbClr val="CADCFC"/>
                </a:solidFill>
                <a:latin typeface="Calibri" pitchFamily="34" charset="0"/>
                <a:ea typeface="Calibri" pitchFamily="34" charset="-122"/>
                <a:cs typeface="Calibri" pitchFamily="34" charset="-120"/>
              </a:rPr>
              <a:t>All machine-verified by 105 automated assertions</a:t>
            </a:r>
            <a:endParaRPr lang="en-US" sz="1300" dirty="0"/>
          </a:p>
        </p:txBody>
      </p:sp>
      <p:sp>
        <p:nvSpPr>
          <p:cNvPr id="6" name="Shape 4"/>
          <p:cNvSpPr/>
          <p:nvPr/>
        </p:nvSpPr>
        <p:spPr>
          <a:xfrm>
            <a:off x="822960" y="2660904"/>
            <a:ext cx="292608" cy="292608"/>
          </a:xfrm>
          <a:prstGeom prst="ellipse">
            <a:avLst/>
          </a:prstGeom>
          <a:solidFill>
            <a:srgbClr val="1E9E6A"/>
          </a:solidFill>
          <a:ln/>
        </p:spPr>
      </p:sp>
      <p:sp>
        <p:nvSpPr>
          <p:cNvPr id="7" name="Text 5"/>
          <p:cNvSpPr/>
          <p:nvPr/>
        </p:nvSpPr>
        <p:spPr>
          <a:xfrm>
            <a:off x="1325880" y="2606040"/>
            <a:ext cx="9966960" cy="347472"/>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Replaced simulated encryption with real CKKS</a:t>
            </a:r>
            <a:endParaRPr lang="en-US" sz="1700" dirty="0"/>
          </a:p>
        </p:txBody>
      </p:sp>
      <p:sp>
        <p:nvSpPr>
          <p:cNvPr id="8" name="Text 6"/>
          <p:cNvSpPr/>
          <p:nvPr/>
        </p:nvSpPr>
        <p:spPr>
          <a:xfrm>
            <a:off x="1325880" y="2953512"/>
            <a:ext cx="9966960" cy="329184"/>
          </a:xfrm>
          <a:prstGeom prst="rect">
            <a:avLst/>
          </a:prstGeom>
          <a:noFill/>
          <a:ln/>
        </p:spPr>
        <p:txBody>
          <a:bodyPr wrap="square" lIns="0" tIns="0" rIns="0" bIns="0" rtlCol="0" anchor="ctr"/>
          <a:lstStyle/>
          <a:p>
            <a:pPr marL="0" indent="0">
              <a:buNone/>
            </a:pPr>
            <a:r>
              <a:rPr lang="en-US" sz="1300" dirty="0">
                <a:solidFill>
                  <a:srgbClr val="CADCFC"/>
                </a:solidFill>
                <a:latin typeface="Calibri" pitchFamily="34" charset="0"/>
                <a:ea typeface="Calibri" pitchFamily="34" charset="-122"/>
                <a:cs typeface="Calibri" pitchFamily="34" charset="-120"/>
              </a:rPr>
              <a:t>And showed encryption costs no accuracy</a:t>
            </a:r>
            <a:endParaRPr lang="en-US" sz="1300" dirty="0"/>
          </a:p>
        </p:txBody>
      </p:sp>
      <p:sp>
        <p:nvSpPr>
          <p:cNvPr id="9" name="Shape 7"/>
          <p:cNvSpPr/>
          <p:nvPr/>
        </p:nvSpPr>
        <p:spPr>
          <a:xfrm>
            <a:off x="822960" y="3593592"/>
            <a:ext cx="292608" cy="292608"/>
          </a:xfrm>
          <a:prstGeom prst="ellipse">
            <a:avLst/>
          </a:prstGeom>
          <a:solidFill>
            <a:srgbClr val="1E9E6A"/>
          </a:solidFill>
          <a:ln/>
        </p:spPr>
      </p:sp>
      <p:sp>
        <p:nvSpPr>
          <p:cNvPr id="10" name="Text 8"/>
          <p:cNvSpPr/>
          <p:nvPr/>
        </p:nvSpPr>
        <p:spPr>
          <a:xfrm>
            <a:off x="1325880" y="3538728"/>
            <a:ext cx="9966960" cy="347472"/>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Closed three Month 1–4 deliverables</a:t>
            </a:r>
            <a:endParaRPr lang="en-US" sz="1700" dirty="0"/>
          </a:p>
        </p:txBody>
      </p:sp>
      <p:sp>
        <p:nvSpPr>
          <p:cNvPr id="11" name="Text 9"/>
          <p:cNvSpPr/>
          <p:nvPr/>
        </p:nvSpPr>
        <p:spPr>
          <a:xfrm>
            <a:off x="1325880" y="3886200"/>
            <a:ext cx="9966960" cy="329184"/>
          </a:xfrm>
          <a:prstGeom prst="rect">
            <a:avLst/>
          </a:prstGeom>
          <a:noFill/>
          <a:ln/>
        </p:spPr>
        <p:txBody>
          <a:bodyPr wrap="square" lIns="0" tIns="0" rIns="0" bIns="0" rtlCol="0" anchor="ctr"/>
          <a:lstStyle/>
          <a:p>
            <a:pPr marL="0" indent="0">
              <a:buNone/>
            </a:pPr>
            <a:r>
              <a:rPr lang="en-US" sz="1300" dirty="0">
                <a:solidFill>
                  <a:srgbClr val="CADCFC"/>
                </a:solidFill>
                <a:latin typeface="Calibri" pitchFamily="34" charset="0"/>
                <a:ea typeface="Calibri" pitchFamily="34" charset="-122"/>
                <a:cs typeface="Calibri" pitchFamily="34" charset="-120"/>
              </a:rPr>
              <a:t>7 of 8 now complete, up from 5 of 8</a:t>
            </a:r>
            <a:endParaRPr lang="en-US" sz="1300" dirty="0"/>
          </a:p>
        </p:txBody>
      </p:sp>
      <p:sp>
        <p:nvSpPr>
          <p:cNvPr id="12" name="Shape 10"/>
          <p:cNvSpPr/>
          <p:nvPr/>
        </p:nvSpPr>
        <p:spPr>
          <a:xfrm>
            <a:off x="822960" y="4526280"/>
            <a:ext cx="292608" cy="292608"/>
          </a:xfrm>
          <a:prstGeom prst="ellipse">
            <a:avLst/>
          </a:prstGeom>
          <a:solidFill>
            <a:srgbClr val="D98324"/>
          </a:solidFill>
          <a:ln/>
        </p:spPr>
      </p:sp>
      <p:sp>
        <p:nvSpPr>
          <p:cNvPr id="13" name="Text 11"/>
          <p:cNvSpPr/>
          <p:nvPr/>
        </p:nvSpPr>
        <p:spPr>
          <a:xfrm>
            <a:off x="1325880" y="4471416"/>
            <a:ext cx="9966960" cy="347472"/>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One blocker remains: order a board</a:t>
            </a:r>
            <a:endParaRPr lang="en-US" sz="1700" dirty="0"/>
          </a:p>
        </p:txBody>
      </p:sp>
      <p:sp>
        <p:nvSpPr>
          <p:cNvPr id="14" name="Text 12"/>
          <p:cNvSpPr/>
          <p:nvPr/>
        </p:nvSpPr>
        <p:spPr>
          <a:xfrm>
            <a:off x="1325880" y="4818888"/>
            <a:ext cx="9966960" cy="329184"/>
          </a:xfrm>
          <a:prstGeom prst="rect">
            <a:avLst/>
          </a:prstGeom>
          <a:noFill/>
          <a:ln/>
        </p:spPr>
        <p:txBody>
          <a:bodyPr wrap="square" lIns="0" tIns="0" rIns="0" bIns="0" rtlCol="0" anchor="ctr"/>
          <a:lstStyle/>
          <a:p>
            <a:pPr marL="0" indent="0">
              <a:buNone/>
            </a:pPr>
            <a:r>
              <a:rPr lang="en-US" sz="1300" dirty="0">
                <a:solidFill>
                  <a:srgbClr val="CADCFC"/>
                </a:solidFill>
                <a:latin typeface="Calibri" pitchFamily="34" charset="0"/>
                <a:ea typeface="Calibri" pitchFamily="34" charset="-122"/>
                <a:cs typeface="Calibri" pitchFamily="34" charset="-120"/>
              </a:rPr>
              <a:t>The embedded track is software-complete and waiting</a:t>
            </a:r>
            <a:endParaRPr lang="en-US" sz="1300" dirty="0"/>
          </a:p>
        </p:txBody>
      </p:sp>
      <p:sp>
        <p:nvSpPr>
          <p:cNvPr id="15" name="Text 13"/>
          <p:cNvSpPr/>
          <p:nvPr/>
        </p:nvSpPr>
        <p:spPr>
          <a:xfrm>
            <a:off x="822960" y="5742432"/>
            <a:ext cx="10515600" cy="365760"/>
          </a:xfrm>
          <a:prstGeom prst="rect">
            <a:avLst/>
          </a:prstGeom>
          <a:noFill/>
          <a:ln/>
        </p:spPr>
        <p:txBody>
          <a:bodyPr wrap="square" lIns="0" tIns="0" rIns="0" bIns="0" rtlCol="0" anchor="ctr"/>
          <a:lstStyle/>
          <a:p>
            <a:pPr marL="0" indent="0">
              <a:buNone/>
            </a:pPr>
            <a:r>
              <a:rPr lang="en-US" sz="1400" dirty="0">
                <a:solidFill>
                  <a:srgbClr val="CADCFC"/>
                </a:solidFill>
                <a:latin typeface="Calibri" pitchFamily="34" charset="0"/>
                <a:ea typeface="Calibri" pitchFamily="34" charset="-122"/>
                <a:cs typeface="Calibri" pitchFamily="34" charset="-120"/>
              </a:rPr>
              <a:t>github.com/hithesh2205/LG-IoV</a:t>
            </a:r>
            <a:endParaRPr lang="en-US" sz="1400" dirty="0"/>
          </a:p>
        </p:txBody>
      </p:sp>
      <p:sp>
        <p:nvSpPr>
          <p:cNvPr id="16" name="Text 14"/>
          <p:cNvSpPr/>
          <p:nvPr/>
        </p:nvSpPr>
        <p:spPr>
          <a:xfrm>
            <a:off x="822960" y="6071616"/>
            <a:ext cx="10515600" cy="329184"/>
          </a:xfrm>
          <a:prstGeom prst="rect">
            <a:avLst/>
          </a:prstGeom>
          <a:noFill/>
          <a:ln/>
        </p:spPr>
        <p:txBody>
          <a:bodyPr wrap="square" lIns="0" tIns="0" rIns="0" bIns="0" rtlCol="0" anchor="ctr"/>
          <a:lstStyle/>
          <a:p>
            <a:pPr marL="0" indent="0">
              <a:buNone/>
            </a:pPr>
            <a:r>
              <a:rPr lang="en-US" sz="1150" dirty="0">
                <a:solidFill>
                  <a:srgbClr val="8FA3CC"/>
                </a:solidFill>
                <a:latin typeface="Calibri" pitchFamily="34" charset="0"/>
                <a:ea typeface="Calibri" pitchFamily="34" charset="-122"/>
                <a:cs typeface="Calibri" pitchFamily="34" charset="-120"/>
              </a:rPr>
              <a:t>Full documentation: 27-page master PDF + 16 supporting documents in the repository</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1976</Words>
  <Application>Microsoft Office PowerPoint</Application>
  <PresentationFormat>Widescreen</PresentationFormat>
  <Paragraphs>252</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Month 5 Status Update</dc:title>
  <dc:subject>PptxGenJS Presentation</dc:subject>
  <dc:creator>LGSI IoV Project</dc:creator>
  <cp:lastModifiedBy>Thrish_Sudha</cp:lastModifiedBy>
  <cp:revision>2</cp:revision>
  <dcterms:created xsi:type="dcterms:W3CDTF">2026-08-12T05:09:19Z</dcterms:created>
  <dcterms:modified xsi:type="dcterms:W3CDTF">2026-08-12T05:21:36Z</dcterms:modified>
</cp:coreProperties>
</file>