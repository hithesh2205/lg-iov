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CKKS encrypted</c:v>
                </c:pt>
              </c:strCache>
            </c:strRef>
          </c:tx>
          <c:spPr>
            <a:solidFill>
              <a:srgbClr val="2D6CDF"/>
            </a:solidFill>
            <a:effectLst/>
          </c:spPr>
          <c:invertIfNegative val="0"/>
          <c:dLbls>
            <c:numFmt formatCode="0.000" sourceLinked="0"/>
            <c:txPr>
              <a:bodyPr/>
              <a:lstStyle/>
              <a:p>
                <a:pPr>
                  <a:defRPr b="0" i="0" strike="noStrike" sz="9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CAN-VTC</c:v>
                  </c:pt>
                  <c:pt idx="1">
                    <c:v>Car-Hacking</c:v>
                  </c:pt>
                  <c:pt idx="2">
                    <c:v>CICIDS-2017</c:v>
                  </c:pt>
                  <c:pt idx="3">
                    <c:v>VeReMi</c:v>
                  </c:pt>
                </c:lvl>
              </c:multiLvlStrCache>
            </c:multiLvlStrRef>
          </c:cat>
          <c:val>
            <c:numRef>
              <c:f>Sheet1!$B$2:$B$5</c:f>
              <c:numCache>
                <c:formatCode>General</c:formatCode>
                <c:ptCount val="4"/>
                <c:pt idx="0">
                  <c:v>1</c:v>
                </c:pt>
                <c:pt idx="1">
                  <c:v>0.9977</c:v>
                </c:pt>
                <c:pt idx="2">
                  <c:v>0.9555</c:v>
                </c:pt>
                <c:pt idx="3">
                  <c:v>0.4839</c:v>
                </c:pt>
              </c:numCache>
            </c:numRef>
          </c:val>
        </c:ser>
        <c:ser>
          <c:idx val="1"/>
          <c:order val="1"/>
          <c:tx>
            <c:strRef>
              <c:f>Sheet1!$C$1</c:f>
              <c:strCache>
                <c:ptCount val="1"/>
                <c:pt idx="0">
                  <c:v>Plaintext baseline</c:v>
                </c:pt>
              </c:strCache>
            </c:strRef>
          </c:tx>
          <c:spPr>
            <a:solidFill>
              <a:srgbClr val="9FB3C8"/>
            </a:solidFill>
            <a:effectLst/>
          </c:spPr>
          <c:invertIfNegative val="0"/>
          <c:dLbls>
            <c:numFmt formatCode="0.000" sourceLinked="0"/>
            <c:txPr>
              <a:bodyPr/>
              <a:lstStyle/>
              <a:p>
                <a:pPr>
                  <a:defRPr b="0" i="0" strike="noStrike" sz="950" u="none">
                    <a:solidFill>
                      <a:srgbClr val="1A1A2E"/>
                    </a:solidFill>
                    <a:latin typeface="Arial"/>
                  </a:defRPr>
                </a:pPr>
              </a:p>
            </c:txPr>
            <c:showLegendKey val="0"/>
            <c:showVal val="1"/>
            <c:showCatName val="0"/>
            <c:showSerName val="0"/>
            <c:showPercent val="0"/>
            <c:showBubbleSize val="0"/>
            <c:showLeaderLines val="0"/>
          </c:dLbls>
          <c:cat>
            <c:multiLvlStrRef>
              <c:f>Sheet1!$A$2:$A$5</c:f>
              <c:multiLvlStrCache>
                <c:ptCount val="4"/>
                <c:lvl>
                  <c:pt idx="0">
                    <c:v>CAN-VTC</c:v>
                  </c:pt>
                  <c:pt idx="1">
                    <c:v>Car-Hacking</c:v>
                  </c:pt>
                  <c:pt idx="2">
                    <c:v>CICIDS-2017</c:v>
                  </c:pt>
                  <c:pt idx="3">
                    <c:v>VeReMi</c:v>
                  </c:pt>
                </c:lvl>
              </c:multiLvlStrCache>
            </c:multiLvlStrRef>
          </c:cat>
          <c:val>
            <c:numRef>
              <c:f>Sheet1!$C$2:$C$5</c:f>
              <c:numCache>
                <c:formatCode>General</c:formatCode>
                <c:ptCount val="4"/>
                <c:pt idx="0">
                  <c:v>1</c:v>
                </c:pt>
                <c:pt idx="1">
                  <c:v>0.9981</c:v>
                </c:pt>
                <c:pt idx="2">
                  <c:v>0.9542</c:v>
                </c:pt>
                <c:pt idx="3">
                  <c:v>0.4851</c:v>
                </c:pt>
              </c:numCache>
            </c:numRef>
          </c:val>
        </c:ser>
        <c:dLbls>
          <c:numFmt formatCode="0.000" sourceLinked="0"/>
          <c:txPr>
            <a:bodyPr/>
            <a:lstStyle/>
            <a:p>
              <a:pPr>
                <a:defRPr b="0" i="0" strike="noStrike" sz="950" u="none">
                  <a:solidFill>
                    <a:srgbClr val="1A1A2E"/>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1.15"/>
          <c:min val="0"/>
        </c:scaling>
        <c:delete val="0"/>
        <c:axPos val="l"/>
        <c:majorGridlines>
          <c:spPr>
            <a:ln w="12700" cap="flat">
              <a:solidFill>
                <a:srgbClr val="EDF1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 5 of 12. Headline: the month became an audit-then-rebuild. We found seven defects that invalidated earlier results, fixed all of them, and then went back and closed three deliverables from Months 1-4 that had never been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this slide. Four numbers, then the headline. The one blocker is that no hardware has been ordered - everything else on the embedded track is now software-complete and waiting on a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this. Finding the defects was the valuable part - had we built multi-key CKKS on top of a leaky pipeline we would have produced a cryptographically elegant result about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 is the one to emphasise: the deck said the server never sees plaintext, and the code decrypted every client's full 44,164-parameter update every round. That is now a machine-checked invariant, asserted after every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Month-4 setup was structurally incapable of answering this question, because its simulated encryption injected noise that sent the two arms down different training trajectories. This is the first controlled version of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VeReMi is low: we measured it before training. Best single-feature class separation is 0.046 standard deviations - the features cannot express the task. Training then confirmed it at ROC-AUC 0.516.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 is our own contribution beyond the paper. FheFL samples a random subset of users each round but generates pairwise secrets once at enrolment - so any dropout breaks decryption silently. For a vehicle fleet that is the normal case, not an edge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genuinely not started before this month. The packing win came from reading the protocol rather than the cryptography - the server's two operations act on independent copies of each ciphertext, so the update only needs one multiplicative level, not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NTT lesson transfers directly to the embedded port: performance is governed by memory access pattern and per-operation overhead, not by the butterfly arithmetic. That is why the production kernel needs contiguous SIMD lanes rather than a literal transcription of the pseudocode.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here is deliberate. Every one of these has a dated plan attached. Raising them ourselves is better than having them found in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The Pi is the important half - it is inexpensive and it unblocks the work now, while the automotive board is sourced. Without a board, months 7-12 (hardware-in-the-loop, power audit) cannot start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OpenFHE is the biggest single item and the most important. Until it lands we should not describe the system as full multi-key CKKS in any writeup.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Everything else is on track and documented; the board is the one decision we need from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417320"/>
            <a:ext cx="10515600" cy="365760"/>
          </a:xfrm>
          <a:prstGeom prst="rect">
            <a:avLst/>
          </a:prstGeom>
          <a:noFill/>
          <a:ln/>
        </p:spPr>
        <p:txBody>
          <a:bodyPr wrap="square" rtlCol="0" anchor="ctr"/>
          <a:lstStyle/>
          <a:p>
            <a:pPr indent="0" marL="0">
              <a:buNone/>
            </a:pPr>
            <a:r>
              <a:rPr lang="en-US" sz="1400" b="1" spc="300" kern="0" dirty="0">
                <a:solidFill>
                  <a:srgbClr val="CADCFC"/>
                </a:solidFill>
                <a:latin typeface="Calibri" pitchFamily="34" charset="0"/>
                <a:ea typeface="Calibri" pitchFamily="34" charset="-122"/>
                <a:cs typeface="Calibri" pitchFamily="34" charset="-120"/>
              </a:rPr>
              <a:t>LG SOFT INDIA  ·  12-MONTH INDUSTRY PROJECT</a:t>
            </a:r>
            <a:endParaRPr lang="en-US" sz="1400" dirty="0"/>
          </a:p>
        </p:txBody>
      </p:sp>
      <p:sp>
        <p:nvSpPr>
          <p:cNvPr id="3" name="Text 1"/>
          <p:cNvSpPr/>
          <p:nvPr/>
        </p:nvSpPr>
        <p:spPr>
          <a:xfrm>
            <a:off x="822960" y="1874520"/>
            <a:ext cx="10515600" cy="173736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Privacy-Preserving Collaborative</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Intrusion Detection for the IoV</a:t>
            </a:r>
            <a:endParaRPr lang="en-US" sz="4000" dirty="0"/>
          </a:p>
        </p:txBody>
      </p:sp>
      <p:sp>
        <p:nvSpPr>
          <p:cNvPr id="4" name="Text 2"/>
          <p:cNvSpPr/>
          <p:nvPr/>
        </p:nvSpPr>
        <p:spPr>
          <a:xfrm>
            <a:off x="822960" y="3794760"/>
            <a:ext cx="10515600" cy="822960"/>
          </a:xfrm>
          <a:prstGeom prst="rect">
            <a:avLst/>
          </a:prstGeom>
          <a:noFill/>
          <a:ln/>
        </p:spPr>
        <p:txBody>
          <a:bodyPr wrap="square" rtlCol="0" anchor="ctr"/>
          <a:lstStyle/>
          <a:p>
            <a:pPr indent="0" marL="0">
              <a:lnSpc>
                <a:spcPts val="2400"/>
              </a:lnSpc>
              <a:buNone/>
            </a:pPr>
            <a:r>
              <a:rPr lang="en-US" sz="1600" dirty="0">
                <a:solidFill>
                  <a:srgbClr val="CADCFC"/>
                </a:solidFill>
                <a:latin typeface="Calibri" pitchFamily="34" charset="0"/>
                <a:ea typeface="Calibri" pitchFamily="34" charset="-122"/>
                <a:cs typeface="Calibri" pitchFamily="34" charset="-120"/>
              </a:rPr>
              <a:t>Federated learning with CKKS homomorphic encryption</a:t>
            </a:r>
            <a:endParaRPr lang="en-US" sz="1600" dirty="0"/>
          </a:p>
          <a:p>
            <a:pPr indent="0" marL="0">
              <a:lnSpc>
                <a:spcPts val="2400"/>
              </a:lnSpc>
              <a:buNone/>
            </a:pPr>
            <a:r>
              <a:rPr lang="en-US" sz="1600" dirty="0">
                <a:solidFill>
                  <a:srgbClr val="CADCFC"/>
                </a:solidFill>
                <a:latin typeface="Calibri" pitchFamily="34" charset="0"/>
                <a:ea typeface="Calibri" pitchFamily="34" charset="-122"/>
                <a:cs typeface="Calibri" pitchFamily="34" charset="-120"/>
              </a:rPr>
              <a:t>Month 5 status update</a:t>
            </a:r>
            <a:endParaRPr lang="en-US" sz="1600" dirty="0"/>
          </a:p>
        </p:txBody>
      </p:sp>
      <p:sp>
        <p:nvSpPr>
          <p:cNvPr id="5" name="Shape 3"/>
          <p:cNvSpPr/>
          <p:nvPr/>
        </p:nvSpPr>
        <p:spPr>
          <a:xfrm>
            <a:off x="822960" y="4983480"/>
            <a:ext cx="1005840" cy="32004"/>
          </a:xfrm>
          <a:prstGeom prst="rect">
            <a:avLst/>
          </a:prstGeom>
          <a:solidFill>
            <a:srgbClr val="2D6CDF"/>
          </a:solidFill>
          <a:ln/>
        </p:spPr>
      </p:sp>
      <p:sp>
        <p:nvSpPr>
          <p:cNvPr id="6" name="Text 4"/>
          <p:cNvSpPr/>
          <p:nvPr/>
        </p:nvSpPr>
        <p:spPr>
          <a:xfrm>
            <a:off x="822960" y="5193792"/>
            <a:ext cx="10515600" cy="36576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Federated Learning  ·  Homomorphic Encryption  ·  Byzantine Robustness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Where we stand</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End of Month 5 of 12</a:t>
            </a:r>
            <a:endParaRPr lang="en-US" sz="1350" dirty="0"/>
          </a:p>
        </p:txBody>
      </p:sp>
      <p:sp>
        <p:nvSpPr>
          <p:cNvPr id="4" name="Shape 2"/>
          <p:cNvSpPr/>
          <p:nvPr/>
        </p:nvSpPr>
        <p:spPr>
          <a:xfrm>
            <a:off x="640080" y="1600200"/>
            <a:ext cx="2514600" cy="1417320"/>
          </a:xfrm>
          <a:prstGeom prst="roundRect">
            <a:avLst>
              <a:gd name="adj" fmla="val 5806"/>
            </a:avLst>
          </a:prstGeom>
          <a:solidFill>
            <a:srgbClr val="F4F7FC"/>
          </a:solidFill>
          <a:ln w="12700">
            <a:solidFill>
              <a:srgbClr val="E1E8F2"/>
            </a:solidFill>
            <a:prstDash val="solid"/>
          </a:ln>
        </p:spPr>
      </p:sp>
      <p:sp>
        <p:nvSpPr>
          <p:cNvPr id="5" name="Text 3"/>
          <p:cNvSpPr/>
          <p:nvPr/>
        </p:nvSpPr>
        <p:spPr>
          <a:xfrm>
            <a:off x="640080" y="1746504"/>
            <a:ext cx="2514600" cy="685800"/>
          </a:xfrm>
          <a:prstGeom prst="rect">
            <a:avLst/>
          </a:prstGeom>
          <a:noFill/>
          <a:ln/>
        </p:spPr>
        <p:txBody>
          <a:bodyPr wrap="square" lIns="0" tIns="0" rIns="0" bIns="0" rtlCol="0" anchor="ctr"/>
          <a:lstStyle/>
          <a:p>
            <a:pPr algn="ctr" indent="0" marL="0">
              <a:buNone/>
            </a:pPr>
            <a:r>
              <a:rPr lang="en-US" sz="3400" b="1" dirty="0">
                <a:solidFill>
                  <a:srgbClr val="1E2761"/>
                </a:solidFill>
                <a:latin typeface="Cambria" pitchFamily="34" charset="0"/>
                <a:ea typeface="Cambria" pitchFamily="34" charset="-122"/>
                <a:cs typeface="Cambria" pitchFamily="34" charset="-120"/>
              </a:rPr>
              <a:t>5 / 12</a:t>
            </a:r>
            <a:endParaRPr lang="en-US" sz="3400" dirty="0"/>
          </a:p>
        </p:txBody>
      </p:sp>
      <p:sp>
        <p:nvSpPr>
          <p:cNvPr id="6" name="Text 4"/>
          <p:cNvSpPr/>
          <p:nvPr/>
        </p:nvSpPr>
        <p:spPr>
          <a:xfrm>
            <a:off x="749808" y="2450592"/>
            <a:ext cx="2295144"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months elapsed</a:t>
            </a:r>
            <a:endParaRPr lang="en-US" sz="1150" dirty="0"/>
          </a:p>
        </p:txBody>
      </p:sp>
      <p:sp>
        <p:nvSpPr>
          <p:cNvPr id="7" name="Shape 5"/>
          <p:cNvSpPr/>
          <p:nvPr/>
        </p:nvSpPr>
        <p:spPr>
          <a:xfrm>
            <a:off x="3429000" y="1600200"/>
            <a:ext cx="2514600" cy="1417320"/>
          </a:xfrm>
          <a:prstGeom prst="roundRect">
            <a:avLst>
              <a:gd name="adj" fmla="val 5806"/>
            </a:avLst>
          </a:prstGeom>
          <a:solidFill>
            <a:srgbClr val="F4F7FC"/>
          </a:solidFill>
          <a:ln w="12700">
            <a:solidFill>
              <a:srgbClr val="E1E8F2"/>
            </a:solidFill>
            <a:prstDash val="solid"/>
          </a:ln>
        </p:spPr>
      </p:sp>
      <p:sp>
        <p:nvSpPr>
          <p:cNvPr id="8" name="Text 6"/>
          <p:cNvSpPr/>
          <p:nvPr/>
        </p:nvSpPr>
        <p:spPr>
          <a:xfrm>
            <a:off x="3429000" y="1746504"/>
            <a:ext cx="2514600" cy="685800"/>
          </a:xfrm>
          <a:prstGeom prst="rect">
            <a:avLst/>
          </a:prstGeom>
          <a:noFill/>
          <a:ln/>
        </p:spPr>
        <p:txBody>
          <a:bodyPr wrap="square" lIns="0" tIns="0" rIns="0" bIns="0" rtlCol="0" anchor="ctr"/>
          <a:lstStyle/>
          <a:p>
            <a:pPr algn="ctr" indent="0" marL="0">
              <a:buNone/>
            </a:pPr>
            <a:r>
              <a:rPr lang="en-US" sz="3400" b="1" dirty="0">
                <a:solidFill>
                  <a:srgbClr val="1E9E6A"/>
                </a:solidFill>
                <a:latin typeface="Cambria" pitchFamily="34" charset="0"/>
                <a:ea typeface="Cambria" pitchFamily="34" charset="-122"/>
                <a:cs typeface="Cambria" pitchFamily="34" charset="-120"/>
              </a:rPr>
              <a:t>7 / 8</a:t>
            </a:r>
            <a:endParaRPr lang="en-US" sz="3400" dirty="0"/>
          </a:p>
        </p:txBody>
      </p:sp>
      <p:sp>
        <p:nvSpPr>
          <p:cNvPr id="9" name="Text 7"/>
          <p:cNvSpPr/>
          <p:nvPr/>
        </p:nvSpPr>
        <p:spPr>
          <a:xfrm>
            <a:off x="3538728" y="2450592"/>
            <a:ext cx="2295144"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deliverables due by</a:t>
            </a:r>
            <a:endParaRPr lang="en-US" sz="1150" dirty="0"/>
          </a:p>
          <a:p>
            <a:pPr algn="ctr" indent="0" marL="0">
              <a:buNone/>
            </a:pPr>
            <a:r>
              <a:rPr lang="en-US" sz="1150" dirty="0">
                <a:solidFill>
                  <a:srgbClr val="5A6472"/>
                </a:solidFill>
                <a:latin typeface="Calibri" pitchFamily="34" charset="0"/>
                <a:ea typeface="Calibri" pitchFamily="34" charset="-122"/>
                <a:cs typeface="Calibri" pitchFamily="34" charset="-120"/>
              </a:rPr>
              <a:t>Month 4 now closed</a:t>
            </a:r>
            <a:endParaRPr lang="en-US" sz="1150" dirty="0"/>
          </a:p>
        </p:txBody>
      </p:sp>
      <p:sp>
        <p:nvSpPr>
          <p:cNvPr id="10" name="Shape 8"/>
          <p:cNvSpPr/>
          <p:nvPr/>
        </p:nvSpPr>
        <p:spPr>
          <a:xfrm>
            <a:off x="6217920" y="1600200"/>
            <a:ext cx="2514600" cy="1417320"/>
          </a:xfrm>
          <a:prstGeom prst="roundRect">
            <a:avLst>
              <a:gd name="adj" fmla="val 5806"/>
            </a:avLst>
          </a:prstGeom>
          <a:solidFill>
            <a:srgbClr val="F4F7FC"/>
          </a:solidFill>
          <a:ln w="12700">
            <a:solidFill>
              <a:srgbClr val="E1E8F2"/>
            </a:solidFill>
            <a:prstDash val="solid"/>
          </a:ln>
        </p:spPr>
      </p:sp>
      <p:sp>
        <p:nvSpPr>
          <p:cNvPr id="11" name="Text 9"/>
          <p:cNvSpPr/>
          <p:nvPr/>
        </p:nvSpPr>
        <p:spPr>
          <a:xfrm>
            <a:off x="6217920" y="1746504"/>
            <a:ext cx="2514600" cy="685800"/>
          </a:xfrm>
          <a:prstGeom prst="rect">
            <a:avLst/>
          </a:prstGeom>
          <a:noFill/>
          <a:ln/>
        </p:spPr>
        <p:txBody>
          <a:bodyPr wrap="square" lIns="0" tIns="0" rIns="0" bIns="0" rtlCol="0" anchor="ctr"/>
          <a:lstStyle/>
          <a:p>
            <a:pPr algn="ctr" indent="0" marL="0">
              <a:buNone/>
            </a:pPr>
            <a:r>
              <a:rPr lang="en-US" sz="3400" b="1" dirty="0">
                <a:solidFill>
                  <a:srgbClr val="2D6CDF"/>
                </a:solidFill>
                <a:latin typeface="Cambria" pitchFamily="34" charset="0"/>
                <a:ea typeface="Cambria" pitchFamily="34" charset="-122"/>
                <a:cs typeface="Cambria" pitchFamily="34" charset="-120"/>
              </a:rPr>
              <a:t>105</a:t>
            </a:r>
            <a:endParaRPr lang="en-US" sz="3400" dirty="0"/>
          </a:p>
        </p:txBody>
      </p:sp>
      <p:sp>
        <p:nvSpPr>
          <p:cNvPr id="12" name="Text 10"/>
          <p:cNvSpPr/>
          <p:nvPr/>
        </p:nvSpPr>
        <p:spPr>
          <a:xfrm>
            <a:off x="6327648" y="2450592"/>
            <a:ext cx="2295144"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automated correctness</a:t>
            </a:r>
            <a:endParaRPr lang="en-US" sz="1150" dirty="0"/>
          </a:p>
          <a:p>
            <a:pPr algn="ctr" indent="0" marL="0">
              <a:buNone/>
            </a:pPr>
            <a:r>
              <a:rPr lang="en-US" sz="1150" dirty="0">
                <a:solidFill>
                  <a:srgbClr val="5A6472"/>
                </a:solidFill>
                <a:latin typeface="Calibri" pitchFamily="34" charset="0"/>
                <a:ea typeface="Calibri" pitchFamily="34" charset="-122"/>
                <a:cs typeface="Calibri" pitchFamily="34" charset="-120"/>
              </a:rPr>
              <a:t>assertions, all passing</a:t>
            </a:r>
            <a:endParaRPr lang="en-US" sz="1150" dirty="0"/>
          </a:p>
        </p:txBody>
      </p:sp>
      <p:sp>
        <p:nvSpPr>
          <p:cNvPr id="13" name="Shape 11"/>
          <p:cNvSpPr/>
          <p:nvPr/>
        </p:nvSpPr>
        <p:spPr>
          <a:xfrm>
            <a:off x="9006840" y="1600200"/>
            <a:ext cx="2514600" cy="1417320"/>
          </a:xfrm>
          <a:prstGeom prst="roundRect">
            <a:avLst>
              <a:gd name="adj" fmla="val 5806"/>
            </a:avLst>
          </a:prstGeom>
          <a:solidFill>
            <a:srgbClr val="F4F7FC"/>
          </a:solidFill>
          <a:ln w="12700">
            <a:solidFill>
              <a:srgbClr val="E1E8F2"/>
            </a:solidFill>
            <a:prstDash val="solid"/>
          </a:ln>
        </p:spPr>
      </p:sp>
      <p:sp>
        <p:nvSpPr>
          <p:cNvPr id="14" name="Text 12"/>
          <p:cNvSpPr/>
          <p:nvPr/>
        </p:nvSpPr>
        <p:spPr>
          <a:xfrm>
            <a:off x="9006840" y="1746504"/>
            <a:ext cx="2514600" cy="685800"/>
          </a:xfrm>
          <a:prstGeom prst="rect">
            <a:avLst/>
          </a:prstGeom>
          <a:noFill/>
          <a:ln/>
        </p:spPr>
        <p:txBody>
          <a:bodyPr wrap="square" lIns="0" tIns="0" rIns="0" bIns="0" rtlCol="0" anchor="ctr"/>
          <a:lstStyle/>
          <a:p>
            <a:pPr algn="ctr" indent="0" marL="0">
              <a:buNone/>
            </a:pPr>
            <a:r>
              <a:rPr lang="en-US" sz="3400" b="1" dirty="0">
                <a:solidFill>
                  <a:srgbClr val="D98324"/>
                </a:solidFill>
                <a:latin typeface="Cambria" pitchFamily="34" charset="0"/>
                <a:ea typeface="Cambria" pitchFamily="34" charset="-122"/>
                <a:cs typeface="Cambria" pitchFamily="34" charset="-120"/>
              </a:rPr>
              <a:t>1</a:t>
            </a:r>
            <a:endParaRPr lang="en-US" sz="3400" dirty="0"/>
          </a:p>
        </p:txBody>
      </p:sp>
      <p:sp>
        <p:nvSpPr>
          <p:cNvPr id="15" name="Text 13"/>
          <p:cNvSpPr/>
          <p:nvPr/>
        </p:nvSpPr>
        <p:spPr>
          <a:xfrm>
            <a:off x="9116568" y="2450592"/>
            <a:ext cx="2295144" cy="457200"/>
          </a:xfrm>
          <a:prstGeom prst="rect">
            <a:avLst/>
          </a:prstGeom>
          <a:noFill/>
          <a:ln/>
        </p:spPr>
        <p:txBody>
          <a:bodyPr wrap="square" lIns="0" tIns="0" rIns="0" bIns="0" rtlCol="0" anchor="ctr"/>
          <a:lstStyle/>
          <a:p>
            <a:pPr algn="ctr" indent="0" marL="0">
              <a:buNone/>
            </a:pPr>
            <a:r>
              <a:rPr lang="en-US" sz="1150" dirty="0">
                <a:solidFill>
                  <a:srgbClr val="5A6472"/>
                </a:solidFill>
                <a:latin typeface="Calibri" pitchFamily="34" charset="0"/>
                <a:ea typeface="Calibri" pitchFamily="34" charset="-122"/>
                <a:cs typeface="Calibri" pitchFamily="34" charset="-120"/>
              </a:rPr>
              <a:t>blocker, and it is</a:t>
            </a:r>
            <a:endParaRPr lang="en-US" sz="1150" dirty="0"/>
          </a:p>
          <a:p>
            <a:pPr algn="ctr" indent="0" marL="0">
              <a:buNone/>
            </a:pPr>
            <a:r>
              <a:rPr lang="en-US" sz="1150" dirty="0">
                <a:solidFill>
                  <a:srgbClr val="5A6472"/>
                </a:solidFill>
                <a:latin typeface="Calibri" pitchFamily="34" charset="0"/>
                <a:ea typeface="Calibri" pitchFamily="34" charset="-122"/>
                <a:cs typeface="Calibri" pitchFamily="34" charset="-120"/>
              </a:rPr>
              <a:t>procurement</a:t>
            </a:r>
            <a:endParaRPr lang="en-US" sz="1150" dirty="0"/>
          </a:p>
        </p:txBody>
      </p:sp>
      <p:sp>
        <p:nvSpPr>
          <p:cNvPr id="16" name="Shape 14"/>
          <p:cNvSpPr/>
          <p:nvPr/>
        </p:nvSpPr>
        <p:spPr>
          <a:xfrm>
            <a:off x="640080" y="3346704"/>
            <a:ext cx="10881360" cy="1207008"/>
          </a:xfrm>
          <a:prstGeom prst="roundRect">
            <a:avLst>
              <a:gd name="adj" fmla="val 6818"/>
            </a:avLst>
          </a:prstGeom>
          <a:solidFill>
            <a:srgbClr val="EEF9F4"/>
          </a:solidFill>
          <a:ln w="15875">
            <a:solidFill>
              <a:srgbClr val="1E9E6A"/>
            </a:solidFill>
            <a:prstDash val="solid"/>
          </a:ln>
        </p:spPr>
      </p:sp>
      <p:sp>
        <p:nvSpPr>
          <p:cNvPr id="17" name="Text 15"/>
          <p:cNvSpPr/>
          <p:nvPr/>
        </p:nvSpPr>
        <p:spPr>
          <a:xfrm>
            <a:off x="914400" y="3493008"/>
            <a:ext cx="2743200" cy="274320"/>
          </a:xfrm>
          <a:prstGeom prst="rect">
            <a:avLst/>
          </a:prstGeom>
          <a:noFill/>
          <a:ln/>
        </p:spPr>
        <p:txBody>
          <a:bodyPr wrap="square" lIns="0" tIns="0" rIns="0" bIns="0" rtlCol="0" anchor="ctr"/>
          <a:lstStyle/>
          <a:p>
            <a:pPr indent="0" marL="0">
              <a:buNone/>
            </a:pPr>
            <a:r>
              <a:rPr lang="en-US" sz="1150" b="1" spc="150" kern="0" dirty="0">
                <a:solidFill>
                  <a:srgbClr val="1E9E6A"/>
                </a:solidFill>
                <a:latin typeface="Calibri" pitchFamily="34" charset="0"/>
                <a:ea typeface="Calibri" pitchFamily="34" charset="-122"/>
                <a:cs typeface="Calibri" pitchFamily="34" charset="-120"/>
              </a:rPr>
              <a:t>Headline</a:t>
            </a:r>
            <a:endParaRPr lang="en-US" sz="1150" dirty="0"/>
          </a:p>
        </p:txBody>
      </p:sp>
      <p:sp>
        <p:nvSpPr>
          <p:cNvPr id="18" name="Text 16"/>
          <p:cNvSpPr/>
          <p:nvPr/>
        </p:nvSpPr>
        <p:spPr>
          <a:xfrm>
            <a:off x="914400" y="3749040"/>
            <a:ext cx="10332720" cy="685800"/>
          </a:xfrm>
          <a:prstGeom prst="rect">
            <a:avLst/>
          </a:prstGeom>
          <a:noFill/>
          <a:ln/>
        </p:spPr>
        <p:txBody>
          <a:bodyPr wrap="square" lIns="0" tIns="0" rIns="0" bIns="0" rtlCol="0" anchor="ctr"/>
          <a:lstStyle/>
          <a:p>
            <a:pPr indent="0" marL="0">
              <a:lnSpc>
                <a:spcPts val="1900"/>
              </a:lnSpc>
              <a:buNone/>
            </a:pPr>
            <a:r>
              <a:rPr lang="en-US" sz="1400" dirty="0">
                <a:solidFill>
                  <a:srgbClr val="1A1A2E"/>
                </a:solidFill>
                <a:latin typeface="Calibri" pitchFamily="34" charset="0"/>
                <a:ea typeface="Calibri" pitchFamily="34" charset="-122"/>
                <a:cs typeface="Calibri" pitchFamily="34" charset="-120"/>
              </a:rPr>
              <a:t>Encryption costs no accuracy. Across all four datasets the encrypted and plaintext runs agree to within seed variance — and the server never decrypted a single individual vehicle update.</a:t>
            </a:r>
            <a:endParaRPr lang="en-US" sz="1400" dirty="0"/>
          </a:p>
        </p:txBody>
      </p:sp>
      <p:sp>
        <p:nvSpPr>
          <p:cNvPr id="19" name="Text 17"/>
          <p:cNvSpPr/>
          <p:nvPr/>
        </p:nvSpPr>
        <p:spPr>
          <a:xfrm>
            <a:off x="640080" y="4773168"/>
            <a:ext cx="10881360" cy="548640"/>
          </a:xfrm>
          <a:prstGeom prst="rect">
            <a:avLst/>
          </a:prstGeom>
          <a:noFill/>
          <a:ln/>
        </p:spPr>
        <p:txBody>
          <a:bodyPr wrap="square" lIns="0" tIns="0" rIns="0" bIns="0" rtlCol="0" anchor="ctr"/>
          <a:lstStyle/>
          <a:p>
            <a:pPr indent="0" marL="0">
              <a:lnSpc>
                <a:spcPts val="1800"/>
              </a:lnSpc>
              <a:buNone/>
            </a:pPr>
            <a:r>
              <a:rPr lang="en-US" sz="1300" dirty="0">
                <a:solidFill>
                  <a:srgbClr val="5A6472"/>
                </a:solidFill>
                <a:latin typeface="Calibri" pitchFamily="34" charset="0"/>
                <a:ea typeface="Calibri" pitchFamily="34" charset="-122"/>
                <a:cs typeface="Calibri" pitchFamily="34" charset="-120"/>
              </a:rPr>
              <a:t>Cryptography and machine-learning tracks are healthy and one item is ahead of schedule. The embedded/hardware track is the whole of the remaining gap.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Month 5 became</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It started as multi-key CKKS research. An audit changed the plan.</a:t>
            </a:r>
            <a:endParaRPr lang="en-US" sz="1350" dirty="0"/>
          </a:p>
        </p:txBody>
      </p:sp>
      <p:sp>
        <p:nvSpPr>
          <p:cNvPr id="4" name="Shape 2"/>
          <p:cNvSpPr/>
          <p:nvPr/>
        </p:nvSpPr>
        <p:spPr>
          <a:xfrm>
            <a:off x="640080" y="1600200"/>
            <a:ext cx="420624" cy="420624"/>
          </a:xfrm>
          <a:prstGeom prst="ellipse">
            <a:avLst/>
          </a:prstGeom>
          <a:solidFill>
            <a:srgbClr val="2D6CDF"/>
          </a:solidFill>
          <a:ln/>
        </p:spPr>
      </p:sp>
      <p:sp>
        <p:nvSpPr>
          <p:cNvPr id="5" name="Text 3"/>
          <p:cNvSpPr/>
          <p:nvPr/>
        </p:nvSpPr>
        <p:spPr>
          <a:xfrm>
            <a:off x="640080" y="1618488"/>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43584" y="1572768"/>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We audited the whole project before building on it</a:t>
            </a:r>
            <a:endParaRPr lang="en-US" sz="1450" dirty="0"/>
          </a:p>
        </p:txBody>
      </p:sp>
      <p:sp>
        <p:nvSpPr>
          <p:cNvPr id="7" name="Text 5"/>
          <p:cNvSpPr/>
          <p:nvPr/>
        </p:nvSpPr>
        <p:spPr>
          <a:xfrm>
            <a:off x="1243584" y="1865376"/>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Standard practice before adopting a new cryptographic scheme: check the foundation first.</a:t>
            </a:r>
            <a:endParaRPr lang="en-US" sz="1200" dirty="0"/>
          </a:p>
        </p:txBody>
      </p:sp>
      <p:sp>
        <p:nvSpPr>
          <p:cNvPr id="8" name="Shape 6"/>
          <p:cNvSpPr/>
          <p:nvPr/>
        </p:nvSpPr>
        <p:spPr>
          <a:xfrm>
            <a:off x="640080" y="2606040"/>
            <a:ext cx="420624" cy="420624"/>
          </a:xfrm>
          <a:prstGeom prst="ellipse">
            <a:avLst/>
          </a:prstGeom>
          <a:solidFill>
            <a:srgbClr val="D64545"/>
          </a:solidFill>
          <a:ln/>
        </p:spPr>
      </p:sp>
      <p:sp>
        <p:nvSpPr>
          <p:cNvPr id="9" name="Text 7"/>
          <p:cNvSpPr/>
          <p:nvPr/>
        </p:nvSpPr>
        <p:spPr>
          <a:xfrm>
            <a:off x="640080" y="2624328"/>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243584" y="2578608"/>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The audit found seven defects — several invalidated our headline results</a:t>
            </a:r>
            <a:endParaRPr lang="en-US" sz="1450" dirty="0"/>
          </a:p>
        </p:txBody>
      </p:sp>
      <p:sp>
        <p:nvSpPr>
          <p:cNvPr id="11" name="Text 9"/>
          <p:cNvSpPr/>
          <p:nvPr/>
        </p:nvSpPr>
        <p:spPr>
          <a:xfrm>
            <a:off x="1243584" y="2871216"/>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The encryption in the training loop was not encryption. The Byzantine filter decrypted every vehicle's update. CAN labels came from filenames.</a:t>
            </a:r>
            <a:endParaRPr lang="en-US" sz="1200" dirty="0"/>
          </a:p>
        </p:txBody>
      </p:sp>
      <p:sp>
        <p:nvSpPr>
          <p:cNvPr id="12" name="Shape 10"/>
          <p:cNvSpPr/>
          <p:nvPr/>
        </p:nvSpPr>
        <p:spPr>
          <a:xfrm>
            <a:off x="640080" y="3611880"/>
            <a:ext cx="420624" cy="420624"/>
          </a:xfrm>
          <a:prstGeom prst="ellipse">
            <a:avLst/>
          </a:prstGeom>
          <a:solidFill>
            <a:srgbClr val="D98324"/>
          </a:solidFill>
          <a:ln/>
        </p:spPr>
      </p:sp>
      <p:sp>
        <p:nvSpPr>
          <p:cNvPr id="13" name="Text 11"/>
          <p:cNvSpPr/>
          <p:nvPr/>
        </p:nvSpPr>
        <p:spPr>
          <a:xfrm>
            <a:off x="640080" y="3630168"/>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243584" y="3584448"/>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So Month 5 became: fix the foundation, then build on it</a:t>
            </a:r>
            <a:endParaRPr lang="en-US" sz="1450" dirty="0"/>
          </a:p>
        </p:txBody>
      </p:sp>
      <p:sp>
        <p:nvSpPr>
          <p:cNvPr id="15" name="Text 13"/>
          <p:cNvSpPr/>
          <p:nvPr/>
        </p:nvSpPr>
        <p:spPr>
          <a:xfrm>
            <a:off x="1243584" y="3877056"/>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All seven fixed and machine-verified. Then real CKKS, FheFL aggregation and multi-key sharing on top.</a:t>
            </a:r>
            <a:endParaRPr lang="en-US" sz="1200" dirty="0"/>
          </a:p>
        </p:txBody>
      </p:sp>
      <p:sp>
        <p:nvSpPr>
          <p:cNvPr id="16" name="Shape 14"/>
          <p:cNvSpPr/>
          <p:nvPr/>
        </p:nvSpPr>
        <p:spPr>
          <a:xfrm>
            <a:off x="640080" y="4617720"/>
            <a:ext cx="420624" cy="420624"/>
          </a:xfrm>
          <a:prstGeom prst="ellipse">
            <a:avLst/>
          </a:prstGeom>
          <a:solidFill>
            <a:srgbClr val="1E9E6A"/>
          </a:solidFill>
          <a:ln/>
        </p:spPr>
      </p:sp>
      <p:sp>
        <p:nvSpPr>
          <p:cNvPr id="17" name="Text 15"/>
          <p:cNvSpPr/>
          <p:nvPr/>
        </p:nvSpPr>
        <p:spPr>
          <a:xfrm>
            <a:off x="640080" y="4636008"/>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243584" y="4590288"/>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Then we went back and closed three Month 1–4 deliverables</a:t>
            </a:r>
            <a:endParaRPr lang="en-US" sz="1450" dirty="0"/>
          </a:p>
        </p:txBody>
      </p:sp>
      <p:sp>
        <p:nvSpPr>
          <p:cNvPr id="19" name="Text 17"/>
          <p:cNvSpPr/>
          <p:nvPr/>
        </p:nvSpPr>
        <p:spPr>
          <a:xfrm>
            <a:off x="1243584" y="4882896"/>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Packing module, NTT implementation and the hardware benchmark harness — none had been started.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 seven defects — all fixed and verified</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Each is now guarded by an automated test, so it cannot silently return</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881360" cy="914400"/>
        </p:xfrm>
        <a:graphic>
          <a:graphicData uri="http://schemas.openxmlformats.org/drawingml/2006/table">
            <a:tbl>
              <a:tblPr/>
              <a:tblGrid>
                <a:gridCol w="566928"/>
                <a:gridCol w="3520440"/>
                <a:gridCol w="5148072"/>
                <a:gridCol w="164592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was wrong</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mattered</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Labels came from the source filename, not ground truth</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Trained a capture-file classifier, not an IDS. Caused the 100% accuracy</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75%-overlapping windows split randomly across train/test</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Test accuracy measured memorisation, not generalisation</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D3</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FHE-vs-plaintext was not a controlled experiment</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Produced a spurious 5-point accuracy gap that was pure divergence</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D4</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The server decrypted every individual client update</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Voided the central privacy claim of the entire project</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D5</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VeReMi windowed across mixed senders</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Label was near-random; model was fine. Needs data re-acquisition</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Diagnosed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D6</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Transport security had been removed in Month 4</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FHE gives no authentication, integrity or replay protection</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02336">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D7</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Documentation contradicted the code</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Three months of drift</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00" dirty="0">
                          <a:solidFill>
                            <a:srgbClr val="1A1A2E"/>
                          </a:solidFill>
                          <a:latin typeface="Calibri" pitchFamily="34" charset="0"/>
                          <a:ea typeface="Calibri" pitchFamily="34" charset="-122"/>
                          <a:cs typeface="Calibri" pitchFamily="34" charset="-120"/>
                        </a:rPr>
                        <a:t>Fixed</a:t>
                      </a:r>
                      <a:endParaRPr lang="en-US" sz="11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Results — does encryption cost accuracy?</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3 seeds · 10 simulated vehicles · 5 federated rounds · Dirichlet alpha = 0.3</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881360" cy="914400"/>
        </p:xfrm>
        <a:graphic>
          <a:graphicData uri="http://schemas.openxmlformats.org/drawingml/2006/table">
            <a:tbl>
              <a:tblPr/>
              <a:tblGrid>
                <a:gridCol w="2103120"/>
                <a:gridCol w="2377440"/>
                <a:gridCol w="2377440"/>
                <a:gridCol w="1737360"/>
                <a:gridCol w="228600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Dataset</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CKKS encrypted</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Plaintext baseline</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Difference</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Verdict</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r>
              <a:tr h="438912">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CAN-VTC</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1.0000 ± 0.0000</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1.0000 ± 0.0000</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0.0000</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within seed noise</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38912">
                <a:tc>
                  <a:txBody>
                    <a:bodyPr/>
                    <a:lstStyle/>
                    <a:p>
                      <a:pPr indent="0" marL="0">
                        <a:buNone/>
                      </a:pPr>
                      <a:r>
                        <a:rPr lang="en-US" sz="1250" b="1" dirty="0">
                          <a:solidFill>
                            <a:srgbClr val="1A1A2E"/>
                          </a:solidFill>
                          <a:latin typeface="Calibri" pitchFamily="34" charset="0"/>
                          <a:ea typeface="Calibri" pitchFamily="34" charset="-122"/>
                          <a:cs typeface="Calibri" pitchFamily="34" charset="-120"/>
                        </a:rPr>
                        <a:t>Car-Hacking</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b="1" dirty="0">
                          <a:solidFill>
                            <a:srgbClr val="1A1A2E"/>
                          </a:solidFill>
                          <a:latin typeface="Calibri" pitchFamily="34" charset="0"/>
                          <a:ea typeface="Calibri" pitchFamily="34" charset="-122"/>
                          <a:cs typeface="Calibri" pitchFamily="34" charset="-120"/>
                        </a:rPr>
                        <a:t>0.9977 ± 0.0012</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b="1" dirty="0">
                          <a:solidFill>
                            <a:srgbClr val="1A1A2E"/>
                          </a:solidFill>
                          <a:latin typeface="Calibri" pitchFamily="34" charset="0"/>
                          <a:ea typeface="Calibri" pitchFamily="34" charset="-122"/>
                          <a:cs typeface="Calibri" pitchFamily="34" charset="-120"/>
                        </a:rPr>
                        <a:t>0.9981 ± 0.0006</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b="1" dirty="0">
                          <a:solidFill>
                            <a:srgbClr val="1A1A2E"/>
                          </a:solidFill>
                          <a:latin typeface="Calibri" pitchFamily="34" charset="0"/>
                          <a:ea typeface="Calibri" pitchFamily="34" charset="-122"/>
                          <a:cs typeface="Calibri" pitchFamily="34" charset="-120"/>
                        </a:rPr>
                        <a:t>−0.0004</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b="1" dirty="0">
                          <a:solidFill>
                            <a:srgbClr val="1A1A2E"/>
                          </a:solidFill>
                          <a:latin typeface="Calibri" pitchFamily="34" charset="0"/>
                          <a:ea typeface="Calibri" pitchFamily="34" charset="-122"/>
                          <a:cs typeface="Calibri" pitchFamily="34" charset="-120"/>
                        </a:rPr>
                        <a:t>within seed noise</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38912">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CICIDS-2017</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0.9555 ± 0.0079</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0.9542 ± 0.0098</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+0.0013</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within seed noise</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38912">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VeReMi</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0.4839 ± 0.0433</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0.4851 ± 0.0424</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−0.0012</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250" dirty="0">
                          <a:solidFill>
                            <a:srgbClr val="1A1A2E"/>
                          </a:solidFill>
                          <a:latin typeface="Calibri" pitchFamily="34" charset="0"/>
                          <a:ea typeface="Calibri" pitchFamily="34" charset="-122"/>
                          <a:cs typeface="Calibri" pitchFamily="34" charset="-120"/>
                        </a:rPr>
                        <a:t>within seed noise</a:t>
                      </a:r>
                      <a:endParaRPr lang="en-US" sz="12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bl>
          </a:graphicData>
        </a:graphic>
      </p:graphicFrame>
      <p:sp>
        <p:nvSpPr>
          <p:cNvPr id="5" name="Shape 2"/>
          <p:cNvSpPr/>
          <p:nvPr/>
        </p:nvSpPr>
        <p:spPr>
          <a:xfrm>
            <a:off x="640080" y="4041648"/>
            <a:ext cx="5303520" cy="1481328"/>
          </a:xfrm>
          <a:prstGeom prst="roundRect">
            <a:avLst>
              <a:gd name="adj" fmla="val 5556"/>
            </a:avLst>
          </a:prstGeom>
          <a:solidFill>
            <a:srgbClr val="EEF9F4"/>
          </a:solidFill>
          <a:ln w="15875">
            <a:solidFill>
              <a:srgbClr val="1E9E6A"/>
            </a:solidFill>
            <a:prstDash val="solid"/>
          </a:ln>
        </p:spPr>
      </p:sp>
      <p:sp>
        <p:nvSpPr>
          <p:cNvPr id="6" name="Text 3"/>
          <p:cNvSpPr/>
          <p:nvPr/>
        </p:nvSpPr>
        <p:spPr>
          <a:xfrm>
            <a:off x="896112" y="4187952"/>
            <a:ext cx="2743200" cy="256032"/>
          </a:xfrm>
          <a:prstGeom prst="rect">
            <a:avLst/>
          </a:prstGeom>
          <a:noFill/>
          <a:ln/>
        </p:spPr>
        <p:txBody>
          <a:bodyPr wrap="square" lIns="0" tIns="0" rIns="0" bIns="0" rtlCol="0" anchor="ctr"/>
          <a:lstStyle/>
          <a:p>
            <a:pPr indent="0" marL="0">
              <a:buNone/>
            </a:pPr>
            <a:r>
              <a:rPr lang="en-US" sz="1100" b="1" spc="150" kern="0" dirty="0">
                <a:solidFill>
                  <a:srgbClr val="1E9E6A"/>
                </a:solidFill>
                <a:latin typeface="Calibri" pitchFamily="34" charset="0"/>
                <a:ea typeface="Calibri" pitchFamily="34" charset="-122"/>
                <a:cs typeface="Calibri" pitchFamily="34" charset="-120"/>
              </a:rPr>
              <a:t>Conclusion</a:t>
            </a:r>
            <a:endParaRPr lang="en-US" sz="1100" dirty="0"/>
          </a:p>
        </p:txBody>
      </p:sp>
      <p:sp>
        <p:nvSpPr>
          <p:cNvPr id="7" name="Text 4"/>
          <p:cNvSpPr/>
          <p:nvPr/>
        </p:nvSpPr>
        <p:spPr>
          <a:xfrm>
            <a:off x="896112" y="4443984"/>
            <a:ext cx="4800600" cy="914400"/>
          </a:xfrm>
          <a:prstGeom prst="rect">
            <a:avLst/>
          </a:prstGeom>
          <a:noFill/>
          <a:ln/>
        </p:spPr>
        <p:txBody>
          <a:bodyPr wrap="square" lIns="0" tIns="0" rIns="0" bIns="0" rtlCol="0" anchor="ctr"/>
          <a:lstStyle/>
          <a:p>
            <a:pPr indent="0" marL="0">
              <a:lnSpc>
                <a:spcPts val="1700"/>
              </a:lnSpc>
              <a:buNone/>
            </a:pPr>
            <a:r>
              <a:rPr lang="en-US" sz="1250" dirty="0">
                <a:solidFill>
                  <a:srgbClr val="1A1A2E"/>
                </a:solidFill>
                <a:latin typeface="Calibri" pitchFamily="34" charset="0"/>
                <a:ea typeface="Calibri" pitchFamily="34" charset="-122"/>
                <a:cs typeface="Calibri" pitchFamily="34" charset="-120"/>
              </a:rPr>
              <a:t>CKKS introduces ~1e-8 of numerical error — six orders of magnitude below the noise already in SGD. Encryption is free in accuracy terms.</a:t>
            </a:r>
            <a:endParaRPr lang="en-US" sz="1250" dirty="0"/>
          </a:p>
        </p:txBody>
      </p:sp>
      <p:sp>
        <p:nvSpPr>
          <p:cNvPr id="8" name="Shape 5"/>
          <p:cNvSpPr/>
          <p:nvPr/>
        </p:nvSpPr>
        <p:spPr>
          <a:xfrm>
            <a:off x="6217920" y="4041648"/>
            <a:ext cx="5303520" cy="1481328"/>
          </a:xfrm>
          <a:prstGeom prst="roundRect">
            <a:avLst>
              <a:gd name="adj" fmla="val 5556"/>
            </a:avLst>
          </a:prstGeom>
          <a:solidFill>
            <a:srgbClr val="FDF3E8"/>
          </a:solidFill>
          <a:ln w="15875">
            <a:solidFill>
              <a:srgbClr val="D98324"/>
            </a:solidFill>
            <a:prstDash val="solid"/>
          </a:ln>
        </p:spPr>
      </p:sp>
      <p:sp>
        <p:nvSpPr>
          <p:cNvPr id="9" name="Text 6"/>
          <p:cNvSpPr/>
          <p:nvPr/>
        </p:nvSpPr>
        <p:spPr>
          <a:xfrm>
            <a:off x="6473952" y="4187952"/>
            <a:ext cx="2743200" cy="256032"/>
          </a:xfrm>
          <a:prstGeom prst="rect">
            <a:avLst/>
          </a:prstGeom>
          <a:noFill/>
          <a:ln/>
        </p:spPr>
        <p:txBody>
          <a:bodyPr wrap="square" lIns="0" tIns="0" rIns="0" bIns="0" rtlCol="0" anchor="ctr"/>
          <a:lstStyle/>
          <a:p>
            <a:pPr indent="0" marL="0">
              <a:buNone/>
            </a:pPr>
            <a:r>
              <a:rPr lang="en-US" sz="1100" b="1" spc="150" kern="0" dirty="0">
                <a:solidFill>
                  <a:srgbClr val="D98324"/>
                </a:solidFill>
                <a:latin typeface="Calibri" pitchFamily="34" charset="0"/>
                <a:ea typeface="Calibri" pitchFamily="34" charset="-122"/>
                <a:cs typeface="Calibri" pitchFamily="34" charset="-120"/>
              </a:rPr>
              <a:t>Read honestly</a:t>
            </a:r>
            <a:endParaRPr lang="en-US" sz="1100" dirty="0"/>
          </a:p>
        </p:txBody>
      </p:sp>
      <p:sp>
        <p:nvSpPr>
          <p:cNvPr id="10" name="Text 7"/>
          <p:cNvSpPr/>
          <p:nvPr/>
        </p:nvSpPr>
        <p:spPr>
          <a:xfrm>
            <a:off x="6473952" y="4443984"/>
            <a:ext cx="4800600" cy="914400"/>
          </a:xfrm>
          <a:prstGeom prst="rect">
            <a:avLst/>
          </a:prstGeom>
          <a:noFill/>
          <a:ln/>
        </p:spPr>
        <p:txBody>
          <a:bodyPr wrap="square" lIns="0" tIns="0" rIns="0" bIns="0" rtlCol="0" anchor="ctr"/>
          <a:lstStyle/>
          <a:p>
            <a:pPr indent="0" marL="0">
              <a:lnSpc>
                <a:spcPts val="1700"/>
              </a:lnSpc>
              <a:buNone/>
            </a:pPr>
            <a:r>
              <a:rPr lang="en-US" sz="1250" dirty="0">
                <a:solidFill>
                  <a:srgbClr val="1A1A2E"/>
                </a:solidFill>
                <a:latin typeface="Calibri" pitchFamily="34" charset="0"/>
                <a:ea typeface="Calibri" pitchFamily="34" charset="-122"/>
                <a:cs typeface="Calibri" pitchFamily="34" charset="-120"/>
              </a:rPr>
              <a:t>Car-Hacking is the meaningful benchmark. CAN-VTC is trivially separable (51% flood density). VeReMi is near-chance — its export lost the sender ID.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Encrypted versus plaintext, side by side</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Bars are indistinguishable on every dataset — that is the result</a:t>
            </a:r>
            <a:endParaRPr lang="en-US" sz="1350" dirty="0"/>
          </a:p>
        </p:txBody>
      </p:sp>
      <p:graphicFrame>
        <p:nvGraphicFramePr>
          <p:cNvPr id="4" name="Chart 0" descr=""/>
          <p:cNvGraphicFramePr/>
          <p:nvPr/>
        </p:nvGraphicFramePr>
        <p:xfrm>
          <a:off x="640080" y="1517904"/>
          <a:ext cx="731520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600200"/>
            <a:ext cx="3291840" cy="1965960"/>
          </a:xfrm>
          <a:prstGeom prst="roundRect">
            <a:avLst>
              <a:gd name="adj" fmla="val 4186"/>
            </a:avLst>
          </a:prstGeom>
          <a:solidFill>
            <a:srgbClr val="F4F7FC"/>
          </a:solidFill>
          <a:ln w="12700">
            <a:solidFill>
              <a:srgbClr val="E1E8F2"/>
            </a:solidFill>
            <a:prstDash val="solid"/>
          </a:ln>
        </p:spPr>
      </p:sp>
      <p:sp>
        <p:nvSpPr>
          <p:cNvPr id="6" name="Text 3"/>
          <p:cNvSpPr/>
          <p:nvPr/>
        </p:nvSpPr>
        <p:spPr>
          <a:xfrm>
            <a:off x="8467344" y="1755648"/>
            <a:ext cx="2834640" cy="274320"/>
          </a:xfrm>
          <a:prstGeom prst="rect">
            <a:avLst/>
          </a:prstGeom>
          <a:noFill/>
          <a:ln/>
        </p:spPr>
        <p:txBody>
          <a:bodyPr wrap="square" lIns="0" tIns="0" rIns="0" bIns="0" rtlCol="0" anchor="ctr"/>
          <a:lstStyle/>
          <a:p>
            <a:pPr indent="0" marL="0">
              <a:buNone/>
            </a:pPr>
            <a:r>
              <a:rPr lang="en-US" sz="1100" b="1" spc="120" kern="0" dirty="0">
                <a:solidFill>
                  <a:srgbClr val="1E2761"/>
                </a:solidFill>
                <a:latin typeface="Calibri" pitchFamily="34" charset="0"/>
                <a:ea typeface="Calibri" pitchFamily="34" charset="-122"/>
                <a:cs typeface="Calibri" pitchFamily="34" charset="-120"/>
              </a:rPr>
              <a:t>Privacy invariant</a:t>
            </a:r>
            <a:endParaRPr lang="en-US" sz="1100" dirty="0"/>
          </a:p>
        </p:txBody>
      </p:sp>
      <p:sp>
        <p:nvSpPr>
          <p:cNvPr id="7" name="Text 4"/>
          <p:cNvSpPr/>
          <p:nvPr/>
        </p:nvSpPr>
        <p:spPr>
          <a:xfrm>
            <a:off x="8467344" y="2029968"/>
            <a:ext cx="2834640" cy="658368"/>
          </a:xfrm>
          <a:prstGeom prst="rect">
            <a:avLst/>
          </a:prstGeom>
          <a:noFill/>
          <a:ln/>
        </p:spPr>
        <p:txBody>
          <a:bodyPr wrap="square" lIns="0" tIns="0" rIns="0" bIns="0" rtlCol="0" anchor="ctr"/>
          <a:lstStyle/>
          <a:p>
            <a:pPr indent="0" marL="0">
              <a:buNone/>
            </a:pPr>
            <a:r>
              <a:rPr lang="en-US" sz="4000" b="1" dirty="0">
                <a:solidFill>
                  <a:srgbClr val="1E9E6A"/>
                </a:solidFill>
                <a:latin typeface="Cambria" pitchFamily="34" charset="0"/>
                <a:ea typeface="Cambria" pitchFamily="34" charset="-122"/>
                <a:cs typeface="Cambria" pitchFamily="34" charset="-120"/>
              </a:rPr>
              <a:t>0</a:t>
            </a:r>
            <a:endParaRPr lang="en-US" sz="4000" dirty="0"/>
          </a:p>
        </p:txBody>
      </p:sp>
      <p:sp>
        <p:nvSpPr>
          <p:cNvPr id="8" name="Text 5"/>
          <p:cNvSpPr/>
          <p:nvPr/>
        </p:nvSpPr>
        <p:spPr>
          <a:xfrm>
            <a:off x="8467344" y="2724912"/>
            <a:ext cx="2834640" cy="731520"/>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individual vehicle updates decrypted by the server, across every run</a:t>
            </a:r>
            <a:endParaRPr lang="en-US" sz="1150" dirty="0"/>
          </a:p>
        </p:txBody>
      </p:sp>
      <p:sp>
        <p:nvSpPr>
          <p:cNvPr id="9" name="Shape 6"/>
          <p:cNvSpPr/>
          <p:nvPr/>
        </p:nvSpPr>
        <p:spPr>
          <a:xfrm>
            <a:off x="8229600" y="3767328"/>
            <a:ext cx="3291840" cy="2231136"/>
          </a:xfrm>
          <a:prstGeom prst="roundRect">
            <a:avLst>
              <a:gd name="adj" fmla="val 3689"/>
            </a:avLst>
          </a:prstGeom>
          <a:solidFill>
            <a:srgbClr val="F4F7FC"/>
          </a:solidFill>
          <a:ln w="12700">
            <a:solidFill>
              <a:srgbClr val="E1E8F2"/>
            </a:solidFill>
            <a:prstDash val="solid"/>
          </a:ln>
        </p:spPr>
      </p:sp>
      <p:sp>
        <p:nvSpPr>
          <p:cNvPr id="10" name="Text 7"/>
          <p:cNvSpPr/>
          <p:nvPr/>
        </p:nvSpPr>
        <p:spPr>
          <a:xfrm>
            <a:off x="8467344" y="3931920"/>
            <a:ext cx="2834640" cy="274320"/>
          </a:xfrm>
          <a:prstGeom prst="rect">
            <a:avLst/>
          </a:prstGeom>
          <a:noFill/>
          <a:ln/>
        </p:spPr>
        <p:txBody>
          <a:bodyPr wrap="square" lIns="0" tIns="0" rIns="0" bIns="0" rtlCol="0" anchor="ctr"/>
          <a:lstStyle/>
          <a:p>
            <a:pPr indent="0" marL="0">
              <a:buNone/>
            </a:pPr>
            <a:r>
              <a:rPr lang="en-US" sz="1100" b="1" spc="120" kern="0" dirty="0">
                <a:solidFill>
                  <a:srgbClr val="D98324"/>
                </a:solidFill>
                <a:latin typeface="Calibri" pitchFamily="34" charset="0"/>
                <a:ea typeface="Calibri" pitchFamily="34" charset="-122"/>
                <a:cs typeface="Calibri" pitchFamily="34" charset="-120"/>
              </a:rPr>
              <a:t>VeReMi is near chance</a:t>
            </a:r>
            <a:endParaRPr lang="en-US" sz="1100" dirty="0"/>
          </a:p>
        </p:txBody>
      </p:sp>
      <p:sp>
        <p:nvSpPr>
          <p:cNvPr id="11" name="Text 8"/>
          <p:cNvSpPr/>
          <p:nvPr/>
        </p:nvSpPr>
        <p:spPr>
          <a:xfrm>
            <a:off x="8467344" y="4224528"/>
            <a:ext cx="2834640" cy="1600200"/>
          </a:xfrm>
          <a:prstGeom prst="rect">
            <a:avLst/>
          </a:prstGeom>
          <a:noFill/>
          <a:ln/>
        </p:spPr>
        <p:txBody>
          <a:bodyPr wrap="square" lIns="0" tIns="0" rIns="0" bIns="0" rtlCol="0" anchor="ctr"/>
          <a:lstStyle/>
          <a:p>
            <a:pPr indent="0" marL="0">
              <a:lnSpc>
                <a:spcPts val="1500"/>
              </a:lnSpc>
              <a:buNone/>
            </a:pPr>
            <a:r>
              <a:rPr lang="en-US" sz="1150" dirty="0">
                <a:solidFill>
                  <a:srgbClr val="5A6472"/>
                </a:solidFill>
                <a:latin typeface="Calibri" pitchFamily="34" charset="0"/>
                <a:ea typeface="Calibri" pitchFamily="34" charset="-122"/>
                <a:cs typeface="Calibri" pitchFamily="34" charset="-120"/>
              </a:rPr>
              <a:t>Its attacks are defined by how a sender's claims change over time, and the cleaned export dropped the sender ID. Neither formulation can express the task. Needs re-acquisition.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 built in Month 5</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Real cryptography replacing a simulation</a:t>
            </a:r>
            <a:endParaRPr lang="en-US" sz="1350" dirty="0"/>
          </a:p>
        </p:txBody>
      </p:sp>
      <p:sp>
        <p:nvSpPr>
          <p:cNvPr id="4" name="Shape 2"/>
          <p:cNvSpPr/>
          <p:nvPr/>
        </p:nvSpPr>
        <p:spPr>
          <a:xfrm>
            <a:off x="640080" y="1572768"/>
            <a:ext cx="420624" cy="420624"/>
          </a:xfrm>
          <a:prstGeom prst="ellipse">
            <a:avLst/>
          </a:prstGeom>
          <a:solidFill>
            <a:srgbClr val="2D6CDF"/>
          </a:solidFill>
          <a:ln/>
        </p:spPr>
      </p:sp>
      <p:sp>
        <p:nvSpPr>
          <p:cNvPr id="5" name="Text 3"/>
          <p:cNvSpPr/>
          <p:nvPr/>
        </p:nvSpPr>
        <p:spPr>
          <a:xfrm>
            <a:off x="640080" y="159105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6" name="Text 4"/>
          <p:cNvSpPr/>
          <p:nvPr/>
        </p:nvSpPr>
        <p:spPr>
          <a:xfrm>
            <a:off x="1243584" y="154533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Real CKKS encryption</a:t>
            </a:r>
            <a:endParaRPr lang="en-US" sz="1450" dirty="0"/>
          </a:p>
        </p:txBody>
      </p:sp>
      <p:sp>
        <p:nvSpPr>
          <p:cNvPr id="7" name="Text 5"/>
          <p:cNvSpPr/>
          <p:nvPr/>
        </p:nvSpPr>
        <p:spPr>
          <a:xfrm>
            <a:off x="1243584" y="183794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The Month-4 'encryption' was a numpy array plus 1e-9 noise. Now genuine TenSEAL ciphertexts, 2.47 MB per vehicle per round.</a:t>
            </a:r>
            <a:endParaRPr lang="en-US" sz="1200" dirty="0"/>
          </a:p>
        </p:txBody>
      </p:sp>
      <p:sp>
        <p:nvSpPr>
          <p:cNvPr id="8" name="Shape 6"/>
          <p:cNvSpPr/>
          <p:nvPr/>
        </p:nvSpPr>
        <p:spPr>
          <a:xfrm>
            <a:off x="640080" y="2761488"/>
            <a:ext cx="420624" cy="420624"/>
          </a:xfrm>
          <a:prstGeom prst="ellipse">
            <a:avLst/>
          </a:prstGeom>
          <a:solidFill>
            <a:srgbClr val="2D6CDF"/>
          </a:solidFill>
          <a:ln/>
        </p:spPr>
      </p:sp>
      <p:sp>
        <p:nvSpPr>
          <p:cNvPr id="9" name="Text 7"/>
          <p:cNvSpPr/>
          <p:nvPr/>
        </p:nvSpPr>
        <p:spPr>
          <a:xfrm>
            <a:off x="640080" y="277977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0" name="Text 8"/>
          <p:cNvSpPr/>
          <p:nvPr/>
        </p:nvSpPr>
        <p:spPr>
          <a:xfrm>
            <a:off x="1243584" y="273405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FheFL robust aggregation</a:t>
            </a:r>
            <a:endParaRPr lang="en-US" sz="1450" dirty="0"/>
          </a:p>
        </p:txBody>
      </p:sp>
      <p:sp>
        <p:nvSpPr>
          <p:cNvPr id="11" name="Text 9"/>
          <p:cNvSpPr/>
          <p:nvPr/>
        </p:nvSpPr>
        <p:spPr>
          <a:xfrm>
            <a:off x="1243584" y="302666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Outliers scored by encrypted distance to the previous global model, then down-weighted — never excluded, never decrypted.</a:t>
            </a:r>
            <a:endParaRPr lang="en-US" sz="1200" dirty="0"/>
          </a:p>
        </p:txBody>
      </p:sp>
      <p:sp>
        <p:nvSpPr>
          <p:cNvPr id="12" name="Shape 10"/>
          <p:cNvSpPr/>
          <p:nvPr/>
        </p:nvSpPr>
        <p:spPr>
          <a:xfrm>
            <a:off x="640080" y="3950208"/>
            <a:ext cx="420624" cy="420624"/>
          </a:xfrm>
          <a:prstGeom prst="ellipse">
            <a:avLst/>
          </a:prstGeom>
          <a:solidFill>
            <a:srgbClr val="2D6CDF"/>
          </a:solidFill>
          <a:ln/>
        </p:spPr>
      </p:sp>
      <p:sp>
        <p:nvSpPr>
          <p:cNvPr id="13" name="Text 11"/>
          <p:cNvSpPr/>
          <p:nvPr/>
        </p:nvSpPr>
        <p:spPr>
          <a:xfrm>
            <a:off x="640080" y="396849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4" name="Text 12"/>
          <p:cNvSpPr/>
          <p:nvPr/>
        </p:nvSpPr>
        <p:spPr>
          <a:xfrm>
            <a:off x="1243584" y="392277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Multi-key key sharing</a:t>
            </a:r>
            <a:endParaRPr lang="en-US" sz="1450" dirty="0"/>
          </a:p>
        </p:txBody>
      </p:sp>
      <p:sp>
        <p:nvSpPr>
          <p:cNvPr id="15" name="Text 13"/>
          <p:cNvSpPr/>
          <p:nvPr/>
        </p:nvSpPr>
        <p:spPr>
          <a:xfrm>
            <a:off x="1243584" y="421538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The decryption key is never assembled. Recovering one vehicle's update needs collusion with U−1 others.</a:t>
            </a:r>
            <a:endParaRPr lang="en-US" sz="1200" dirty="0"/>
          </a:p>
        </p:txBody>
      </p:sp>
      <p:sp>
        <p:nvSpPr>
          <p:cNvPr id="16" name="Shape 14"/>
          <p:cNvSpPr/>
          <p:nvPr/>
        </p:nvSpPr>
        <p:spPr>
          <a:xfrm>
            <a:off x="6172200" y="1572768"/>
            <a:ext cx="420624" cy="420624"/>
          </a:xfrm>
          <a:prstGeom prst="ellipse">
            <a:avLst/>
          </a:prstGeom>
          <a:solidFill>
            <a:srgbClr val="1E9E6A"/>
          </a:solidFill>
          <a:ln/>
        </p:spPr>
      </p:sp>
      <p:sp>
        <p:nvSpPr>
          <p:cNvPr id="17" name="Text 15"/>
          <p:cNvSpPr/>
          <p:nvPr/>
        </p:nvSpPr>
        <p:spPr>
          <a:xfrm>
            <a:off x="6172200" y="159105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8" name="Text 16"/>
          <p:cNvSpPr/>
          <p:nvPr/>
        </p:nvSpPr>
        <p:spPr>
          <a:xfrm>
            <a:off x="6775704" y="154533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A fix the paper does not have</a:t>
            </a:r>
            <a:endParaRPr lang="en-US" sz="1450" dirty="0"/>
          </a:p>
        </p:txBody>
      </p:sp>
      <p:sp>
        <p:nvSpPr>
          <p:cNvPr id="19" name="Text 17"/>
          <p:cNvSpPr/>
          <p:nvPr/>
        </p:nvSpPr>
        <p:spPr>
          <a:xfrm>
            <a:off x="6775704" y="183794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Masks only cancel if every keyed vehicle reports in — one offline breaks decryption. We re-scope per round.</a:t>
            </a:r>
            <a:endParaRPr lang="en-US" sz="1200" dirty="0"/>
          </a:p>
        </p:txBody>
      </p:sp>
      <p:sp>
        <p:nvSpPr>
          <p:cNvPr id="20" name="Shape 18"/>
          <p:cNvSpPr/>
          <p:nvPr/>
        </p:nvSpPr>
        <p:spPr>
          <a:xfrm>
            <a:off x="6172200" y="2761488"/>
            <a:ext cx="420624" cy="420624"/>
          </a:xfrm>
          <a:prstGeom prst="ellipse">
            <a:avLst/>
          </a:prstGeom>
          <a:solidFill>
            <a:srgbClr val="1E9E6A"/>
          </a:solidFill>
          <a:ln/>
        </p:spPr>
      </p:sp>
      <p:sp>
        <p:nvSpPr>
          <p:cNvPr id="21" name="Text 19"/>
          <p:cNvSpPr/>
          <p:nvPr/>
        </p:nvSpPr>
        <p:spPr>
          <a:xfrm>
            <a:off x="6172200" y="277977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22" name="Text 20"/>
          <p:cNvSpPr/>
          <p:nvPr/>
        </p:nvSpPr>
        <p:spPr>
          <a:xfrm>
            <a:off x="6775704" y="273405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Transport security restored</a:t>
            </a:r>
            <a:endParaRPr lang="en-US" sz="1450" dirty="0"/>
          </a:p>
        </p:txBody>
      </p:sp>
      <p:sp>
        <p:nvSpPr>
          <p:cNvPr id="23" name="Text 21"/>
          <p:cNvSpPr/>
          <p:nvPr/>
        </p:nvSpPr>
        <p:spPr>
          <a:xfrm>
            <a:off x="6775704" y="302666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ECDH-P256 + AES-256-GCM + Ed25519. FHE gives confidentiality only — not authentication, integrity or replay protection.</a:t>
            </a:r>
            <a:endParaRPr lang="en-US" sz="1200" dirty="0"/>
          </a:p>
        </p:txBody>
      </p:sp>
      <p:sp>
        <p:nvSpPr>
          <p:cNvPr id="24" name="Shape 22"/>
          <p:cNvSpPr/>
          <p:nvPr/>
        </p:nvSpPr>
        <p:spPr>
          <a:xfrm>
            <a:off x="6172200" y="3950208"/>
            <a:ext cx="420624" cy="420624"/>
          </a:xfrm>
          <a:prstGeom prst="ellipse">
            <a:avLst/>
          </a:prstGeom>
          <a:solidFill>
            <a:srgbClr val="1E9E6A"/>
          </a:solidFill>
          <a:ln/>
        </p:spPr>
      </p:sp>
      <p:sp>
        <p:nvSpPr>
          <p:cNvPr id="25" name="Text 23"/>
          <p:cNvSpPr/>
          <p:nvPr/>
        </p:nvSpPr>
        <p:spPr>
          <a:xfrm>
            <a:off x="6172200" y="396849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a:t>
            </a:r>
            <a:endParaRPr lang="en-US" sz="1500" dirty="0"/>
          </a:p>
        </p:txBody>
      </p:sp>
      <p:sp>
        <p:nvSpPr>
          <p:cNvPr id="26" name="Text 24"/>
          <p:cNvSpPr/>
          <p:nvPr/>
        </p:nvSpPr>
        <p:spPr>
          <a:xfrm>
            <a:off x="6775704" y="3922776"/>
            <a:ext cx="474573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105 automated assertions</a:t>
            </a:r>
            <a:endParaRPr lang="en-US" sz="1450" dirty="0"/>
          </a:p>
        </p:txBody>
      </p:sp>
      <p:sp>
        <p:nvSpPr>
          <p:cNvPr id="27" name="Text 25"/>
          <p:cNvSpPr/>
          <p:nvPr/>
        </p:nvSpPr>
        <p:spPr>
          <a:xfrm>
            <a:off x="6775704" y="4215384"/>
            <a:ext cx="474573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Three suites gating every result: labelling, split disjointness, and the cryptographic invariants.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Then we closed three older deliverables</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Months 1–4 items that had never been started</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536192"/>
          <a:ext cx="10881360" cy="914400"/>
        </p:xfrm>
        <a:graphic>
          <a:graphicData uri="http://schemas.openxmlformats.org/drawingml/2006/table">
            <a:tbl>
              <a:tblPr/>
              <a:tblGrid>
                <a:gridCol w="3200400"/>
                <a:gridCol w="868680"/>
                <a:gridCol w="5349240"/>
                <a:gridCol w="1463040"/>
              </a:tblGrid>
              <a:tr h="8686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Due</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we delivered</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r>
              <a:tr h="868680">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Optimized packing &amp; encoding module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M3–4</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29.6% lossless bandwidth reduction — 3.51 MB down to 2.47 MB per vehicle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Complete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868680">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High-performance NTT implementation</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M3–4</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Negacyclic NTT, validated exactly against a reference oracle. 11.22× over an optimised baseline. Test vectors exported for the C port</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Reference done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868680">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Baseline benchmarking on hardware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M1–2</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Portable harness plus a full host baseline. The target-board run is the only missing piece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Harness done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bl>
          </a:graphicData>
        </a:graphic>
      </p:graphicFrame>
      <p:sp>
        <p:nvSpPr>
          <p:cNvPr id="5" name="Shape 2"/>
          <p:cNvSpPr/>
          <p:nvPr/>
        </p:nvSpPr>
        <p:spPr>
          <a:xfrm>
            <a:off x="640080" y="4645152"/>
            <a:ext cx="10881360" cy="1060704"/>
          </a:xfrm>
          <a:prstGeom prst="roundRect">
            <a:avLst>
              <a:gd name="adj" fmla="val 7759"/>
            </a:avLst>
          </a:prstGeom>
          <a:solidFill>
            <a:srgbClr val="EEF9F4"/>
          </a:solidFill>
          <a:ln w="15875">
            <a:solidFill>
              <a:srgbClr val="1E9E6A"/>
            </a:solidFill>
            <a:prstDash val="solid"/>
          </a:ln>
        </p:spPr>
      </p:sp>
      <p:sp>
        <p:nvSpPr>
          <p:cNvPr id="6" name="Text 3"/>
          <p:cNvSpPr/>
          <p:nvPr/>
        </p:nvSpPr>
        <p:spPr>
          <a:xfrm>
            <a:off x="914400" y="4864608"/>
            <a:ext cx="10332720" cy="566928"/>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Deliverables due by end of Month 4:  5 of 8  →  7 of 8</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Two measured engineering results</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Both reproducible from the repository</a:t>
            </a:r>
            <a:endParaRPr lang="en-US" sz="1350" dirty="0"/>
          </a:p>
        </p:txBody>
      </p:sp>
      <p:sp>
        <p:nvSpPr>
          <p:cNvPr id="4" name="Shape 2"/>
          <p:cNvSpPr/>
          <p:nvPr/>
        </p:nvSpPr>
        <p:spPr>
          <a:xfrm>
            <a:off x="640080" y="1572768"/>
            <a:ext cx="5349240" cy="4114800"/>
          </a:xfrm>
          <a:prstGeom prst="roundRect">
            <a:avLst>
              <a:gd name="adj" fmla="val 2222"/>
            </a:avLst>
          </a:prstGeom>
          <a:solidFill>
            <a:srgbClr val="F4F7FC"/>
          </a:solidFill>
          <a:ln w="12700">
            <a:solidFill>
              <a:srgbClr val="E1E8F2"/>
            </a:solidFill>
            <a:prstDash val="solid"/>
          </a:ln>
        </p:spPr>
      </p:sp>
      <p:sp>
        <p:nvSpPr>
          <p:cNvPr id="5" name="Text 3"/>
          <p:cNvSpPr/>
          <p:nvPr/>
        </p:nvSpPr>
        <p:spPr>
          <a:xfrm>
            <a:off x="914400" y="1792224"/>
            <a:ext cx="4754880" cy="310896"/>
          </a:xfrm>
          <a:prstGeom prst="rect">
            <a:avLst/>
          </a:prstGeom>
          <a:noFill/>
          <a:ln/>
        </p:spPr>
        <p:txBody>
          <a:bodyPr wrap="square" lIns="0" tIns="0" rIns="0" bIns="0" rtlCol="0" anchor="ctr"/>
          <a:lstStyle/>
          <a:p>
            <a:pPr indent="0" marL="0">
              <a:buNone/>
            </a:pPr>
            <a:r>
              <a:rPr lang="en-US" sz="1200" b="1" spc="150" kern="0" dirty="0">
                <a:solidFill>
                  <a:srgbClr val="2D6CDF"/>
                </a:solidFill>
                <a:latin typeface="Calibri" pitchFamily="34" charset="0"/>
                <a:ea typeface="Calibri" pitchFamily="34" charset="-122"/>
                <a:cs typeface="Calibri" pitchFamily="34" charset="-120"/>
              </a:rPr>
              <a:t>Bandwidth</a:t>
            </a:r>
            <a:endParaRPr lang="en-US" sz="1200" dirty="0"/>
          </a:p>
        </p:txBody>
      </p:sp>
      <p:sp>
        <p:nvSpPr>
          <p:cNvPr id="6" name="Text 4"/>
          <p:cNvSpPr/>
          <p:nvPr/>
        </p:nvSpPr>
        <p:spPr>
          <a:xfrm>
            <a:off x="914400" y="2121408"/>
            <a:ext cx="475488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29.6%</a:t>
            </a:r>
            <a:endParaRPr lang="en-US" sz="4600" dirty="0"/>
          </a:p>
        </p:txBody>
      </p:sp>
      <p:sp>
        <p:nvSpPr>
          <p:cNvPr id="7" name="Text 5"/>
          <p:cNvSpPr/>
          <p:nvPr/>
        </p:nvSpPr>
        <p:spPr>
          <a:xfrm>
            <a:off x="914400" y="2889504"/>
            <a:ext cx="4754880" cy="310896"/>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smaller uploads, at zero accuracy cost</a:t>
            </a:r>
            <a:endParaRPr lang="en-US" sz="1300" dirty="0"/>
          </a:p>
        </p:txBody>
      </p:sp>
      <p:sp>
        <p:nvSpPr>
          <p:cNvPr id="8" name="Text 6"/>
          <p:cNvSpPr/>
          <p:nvPr/>
        </p:nvSpPr>
        <p:spPr>
          <a:xfrm>
            <a:off x="914400" y="3310128"/>
            <a:ext cx="4754880" cy="21031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3.51 MB → 2.47 MB per vehicle per round</a:t>
            </a:r>
            <a:endParaRPr lang="en-US" sz="1200" dirty="0"/>
          </a:p>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Found by analysing the protocol, not the crypto</a:t>
            </a:r>
            <a:endParaRPr lang="en-US" sz="1200" dirty="0"/>
          </a:p>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The server's two operations use independent copies, so only one multiplicative level is needed — not two</a:t>
            </a:r>
            <a:endParaRPr lang="en-US" sz="1200" dirty="0"/>
          </a:p>
        </p:txBody>
      </p:sp>
      <p:sp>
        <p:nvSpPr>
          <p:cNvPr id="9" name="Shape 7"/>
          <p:cNvSpPr/>
          <p:nvPr/>
        </p:nvSpPr>
        <p:spPr>
          <a:xfrm>
            <a:off x="6172200" y="1572768"/>
            <a:ext cx="5349240" cy="4114800"/>
          </a:xfrm>
          <a:prstGeom prst="roundRect">
            <a:avLst>
              <a:gd name="adj" fmla="val 2222"/>
            </a:avLst>
          </a:prstGeom>
          <a:solidFill>
            <a:srgbClr val="F4F7FC"/>
          </a:solidFill>
          <a:ln w="12700">
            <a:solidFill>
              <a:srgbClr val="E1E8F2"/>
            </a:solidFill>
            <a:prstDash val="solid"/>
          </a:ln>
        </p:spPr>
      </p:sp>
      <p:sp>
        <p:nvSpPr>
          <p:cNvPr id="10" name="Text 8"/>
          <p:cNvSpPr/>
          <p:nvPr/>
        </p:nvSpPr>
        <p:spPr>
          <a:xfrm>
            <a:off x="6446520" y="1792224"/>
            <a:ext cx="4754880" cy="310896"/>
          </a:xfrm>
          <a:prstGeom prst="rect">
            <a:avLst/>
          </a:prstGeom>
          <a:noFill/>
          <a:ln/>
        </p:spPr>
        <p:txBody>
          <a:bodyPr wrap="square" lIns="0" tIns="0" rIns="0" bIns="0" rtlCol="0" anchor="ctr"/>
          <a:lstStyle/>
          <a:p>
            <a:pPr indent="0" marL="0">
              <a:buNone/>
            </a:pPr>
            <a:r>
              <a:rPr lang="en-US" sz="1200" b="1" spc="150" kern="0" dirty="0">
                <a:solidFill>
                  <a:srgbClr val="2D6CDF"/>
                </a:solidFill>
                <a:latin typeface="Calibri" pitchFamily="34" charset="0"/>
                <a:ea typeface="Calibri" pitchFamily="34" charset="-122"/>
                <a:cs typeface="Calibri" pitchFamily="34" charset="-120"/>
              </a:rPr>
              <a:t>NTT kernel</a:t>
            </a:r>
            <a:endParaRPr lang="en-US" sz="1200" dirty="0"/>
          </a:p>
        </p:txBody>
      </p:sp>
      <p:sp>
        <p:nvSpPr>
          <p:cNvPr id="11" name="Text 9"/>
          <p:cNvSpPr/>
          <p:nvPr/>
        </p:nvSpPr>
        <p:spPr>
          <a:xfrm>
            <a:off x="6446520" y="2121408"/>
            <a:ext cx="4754880" cy="777240"/>
          </a:xfrm>
          <a:prstGeom prst="rect">
            <a:avLst/>
          </a:prstGeom>
          <a:noFill/>
          <a:ln/>
        </p:spPr>
        <p:txBody>
          <a:bodyPr wrap="square" lIns="0" tIns="0" rIns="0" bIns="0" rtlCol="0" anchor="ctr"/>
          <a:lstStyle/>
          <a:p>
            <a:pPr indent="0" marL="0">
              <a:buNone/>
            </a:pPr>
            <a:r>
              <a:rPr lang="en-US" sz="4600" b="1" dirty="0">
                <a:solidFill>
                  <a:srgbClr val="1E2761"/>
                </a:solidFill>
                <a:latin typeface="Cambria" pitchFamily="34" charset="0"/>
                <a:ea typeface="Cambria" pitchFamily="34" charset="-122"/>
                <a:cs typeface="Cambria" pitchFamily="34" charset="-120"/>
              </a:rPr>
              <a:t>11.22×</a:t>
            </a:r>
            <a:endParaRPr lang="en-US" sz="4600" dirty="0"/>
          </a:p>
        </p:txBody>
      </p:sp>
      <p:sp>
        <p:nvSpPr>
          <p:cNvPr id="12" name="Text 10"/>
          <p:cNvSpPr/>
          <p:nvPr/>
        </p:nvSpPr>
        <p:spPr>
          <a:xfrm>
            <a:off x="6446520" y="2889504"/>
            <a:ext cx="4754880" cy="310896"/>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faster than an optimised O(N²) baseline</a:t>
            </a:r>
            <a:endParaRPr lang="en-US" sz="1300" dirty="0"/>
          </a:p>
        </p:txBody>
      </p:sp>
      <p:sp>
        <p:nvSpPr>
          <p:cNvPr id="13" name="Text 11"/>
          <p:cNvSpPr/>
          <p:nvPr/>
        </p:nvSpPr>
        <p:spPr>
          <a:xfrm>
            <a:off x="6446520" y="3310128"/>
            <a:ext cx="4754880" cy="210312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The hottest kernel in any FHE library</a:t>
            </a:r>
            <a:endParaRPr lang="en-US" sz="1200" dirty="0"/>
          </a:p>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Our first version was slower than naive — it made ~8,191 tiny calls per transform</a:t>
            </a:r>
            <a:endParaRPr lang="en-US" sz="1200" dirty="0"/>
          </a:p>
          <a:p>
            <a:pPr marL="342900" indent="-342900">
              <a:lnSpc>
                <a:spcPts val="1600"/>
              </a:lnSpc>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Batching each stage made it 53× faster. Lesson: memory pattern dominates, not arithmetic</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What we are not claiming</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Stated up front so nothing reads as an overclaim</a:t>
            </a:r>
            <a:endParaRPr lang="en-US" sz="1350" dirty="0"/>
          </a:p>
        </p:txBody>
      </p:sp>
      <p:sp>
        <p:nvSpPr>
          <p:cNvPr id="4" name="Shape 2"/>
          <p:cNvSpPr/>
          <p:nvPr/>
        </p:nvSpPr>
        <p:spPr>
          <a:xfrm>
            <a:off x="640080" y="1627632"/>
            <a:ext cx="420624" cy="420624"/>
          </a:xfrm>
          <a:prstGeom prst="ellipse">
            <a:avLst/>
          </a:prstGeom>
          <a:solidFill>
            <a:srgbClr val="D98324"/>
          </a:solidFill>
          <a:ln/>
        </p:spPr>
      </p:sp>
      <p:sp>
        <p:nvSpPr>
          <p:cNvPr id="5" name="Text 3"/>
          <p:cNvSpPr/>
          <p:nvPr/>
        </p:nvSpPr>
        <p:spPr>
          <a:xfrm>
            <a:off x="640080" y="1645920"/>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43584" y="1600200"/>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This is not full multi-key CKKS yet</a:t>
            </a:r>
            <a:endParaRPr lang="en-US" sz="1450" dirty="0"/>
          </a:p>
        </p:txBody>
      </p:sp>
      <p:sp>
        <p:nvSpPr>
          <p:cNvPr id="7" name="Text 5"/>
          <p:cNvSpPr/>
          <p:nvPr/>
        </p:nvSpPr>
        <p:spPr>
          <a:xfrm>
            <a:off x="1243584" y="1892808"/>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The homomorphic arithmetic is real. The multi-key key management is an algebraic model, because TenSEAL exposes no multi-key API. Migrating to OpenFHE closes this — it is the Month-6 priority.</a:t>
            </a:r>
            <a:endParaRPr lang="en-US" sz="1200" dirty="0"/>
          </a:p>
        </p:txBody>
      </p:sp>
      <p:sp>
        <p:nvSpPr>
          <p:cNvPr id="8" name="Shape 6"/>
          <p:cNvSpPr/>
          <p:nvPr/>
        </p:nvSpPr>
        <p:spPr>
          <a:xfrm>
            <a:off x="640080" y="2761488"/>
            <a:ext cx="420624" cy="420624"/>
          </a:xfrm>
          <a:prstGeom prst="ellipse">
            <a:avLst/>
          </a:prstGeom>
          <a:solidFill>
            <a:srgbClr val="D98324"/>
          </a:solidFill>
          <a:ln/>
        </p:spPr>
      </p:sp>
      <p:sp>
        <p:nvSpPr>
          <p:cNvPr id="9" name="Text 7"/>
          <p:cNvSpPr/>
          <p:nvPr/>
        </p:nvSpPr>
        <p:spPr>
          <a:xfrm>
            <a:off x="640080" y="2779776"/>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243584" y="2734056"/>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Nothing has run on target hardware</a:t>
            </a:r>
            <a:endParaRPr lang="en-US" sz="1450" dirty="0"/>
          </a:p>
        </p:txBody>
      </p:sp>
      <p:sp>
        <p:nvSpPr>
          <p:cNvPr id="11" name="Text 9"/>
          <p:cNvSpPr/>
          <p:nvPr/>
        </p:nvSpPr>
        <p:spPr>
          <a:xfrm>
            <a:off x="1243584" y="3026664"/>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The NTT reference, packing module and benchmark harness are all built and validated, but every number was measured on a development laptop.</a:t>
            </a:r>
            <a:endParaRPr lang="en-US" sz="1200" dirty="0"/>
          </a:p>
        </p:txBody>
      </p:sp>
      <p:sp>
        <p:nvSpPr>
          <p:cNvPr id="12" name="Shape 10"/>
          <p:cNvSpPr/>
          <p:nvPr/>
        </p:nvSpPr>
        <p:spPr>
          <a:xfrm>
            <a:off x="640080" y="3895344"/>
            <a:ext cx="420624" cy="420624"/>
          </a:xfrm>
          <a:prstGeom prst="ellipse">
            <a:avLst/>
          </a:prstGeom>
          <a:solidFill>
            <a:srgbClr val="D98324"/>
          </a:solidFill>
          <a:ln/>
        </p:spPr>
      </p:sp>
      <p:sp>
        <p:nvSpPr>
          <p:cNvPr id="13" name="Text 11"/>
          <p:cNvSpPr/>
          <p:nvPr/>
        </p:nvSpPr>
        <p:spPr>
          <a:xfrm>
            <a:off x="640080" y="3913632"/>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243584" y="3867912"/>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Byzantine robustness is untested against patient attackers</a:t>
            </a:r>
            <a:endParaRPr lang="en-US" sz="1450" dirty="0"/>
          </a:p>
        </p:txBody>
      </p:sp>
      <p:sp>
        <p:nvSpPr>
          <p:cNvPr id="15" name="Text 13"/>
          <p:cNvSpPr/>
          <p:nvPr/>
        </p:nvSpPr>
        <p:spPr>
          <a:xfrm>
            <a:off x="1243584" y="4160520"/>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Our scoring rewards staying close to the consensus, so a low-magnitude persistent attacker is an open blind spot. The experiment is scheduled for Month 6.</a:t>
            </a:r>
            <a:endParaRPr lang="en-US" sz="1200" dirty="0"/>
          </a:p>
        </p:txBody>
      </p:sp>
      <p:sp>
        <p:nvSpPr>
          <p:cNvPr id="16" name="Shape 14"/>
          <p:cNvSpPr/>
          <p:nvPr/>
        </p:nvSpPr>
        <p:spPr>
          <a:xfrm>
            <a:off x="640080" y="5029200"/>
            <a:ext cx="420624" cy="420624"/>
          </a:xfrm>
          <a:prstGeom prst="ellipse">
            <a:avLst/>
          </a:prstGeom>
          <a:solidFill>
            <a:srgbClr val="D98324"/>
          </a:solidFill>
          <a:ln/>
        </p:spPr>
      </p:sp>
      <p:sp>
        <p:nvSpPr>
          <p:cNvPr id="17" name="Text 15"/>
          <p:cNvSpPr/>
          <p:nvPr/>
        </p:nvSpPr>
        <p:spPr>
          <a:xfrm>
            <a:off x="640080" y="5047488"/>
            <a:ext cx="4206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p:nvPr/>
        </p:nvSpPr>
        <p:spPr>
          <a:xfrm>
            <a:off x="1243584" y="5001768"/>
            <a:ext cx="10277856" cy="310896"/>
          </a:xfrm>
          <a:prstGeom prst="rect">
            <a:avLst/>
          </a:prstGeom>
          <a:noFill/>
          <a:ln/>
        </p:spPr>
        <p:txBody>
          <a:bodyPr wrap="square" lIns="0" tIns="0" rIns="0" bIns="0" rtlCol="0" anchor="ctr"/>
          <a:lstStyle/>
          <a:p>
            <a:pPr indent="0" marL="0">
              <a:buNone/>
            </a:pPr>
            <a:r>
              <a:rPr lang="en-US" sz="1450" b="1" dirty="0">
                <a:solidFill>
                  <a:srgbClr val="1A1A2E"/>
                </a:solidFill>
                <a:latin typeface="Calibri" pitchFamily="34" charset="0"/>
                <a:ea typeface="Calibri" pitchFamily="34" charset="-122"/>
                <a:cs typeface="Calibri" pitchFamily="34" charset="-120"/>
              </a:rPr>
              <a:t>One dataset contributes nothing until re-acquired</a:t>
            </a:r>
            <a:endParaRPr lang="en-US" sz="1450" dirty="0"/>
          </a:p>
        </p:txBody>
      </p:sp>
      <p:sp>
        <p:nvSpPr>
          <p:cNvPr id="19" name="Text 17"/>
          <p:cNvSpPr/>
          <p:nvPr/>
        </p:nvSpPr>
        <p:spPr>
          <a:xfrm>
            <a:off x="1243584" y="5294376"/>
            <a:ext cx="10277856" cy="658368"/>
          </a:xfrm>
          <a:prstGeom prst="rect">
            <a:avLst/>
          </a:prstGeom>
          <a:noFill/>
          <a:ln/>
        </p:spPr>
        <p:txBody>
          <a:bodyPr wrap="square" lIns="0" tIns="0" rIns="0" bIns="0" rtlCol="0" anchor="ctr"/>
          <a:lstStyle/>
          <a:p>
            <a:pPr indent="0" marL="0">
              <a:lnSpc>
                <a:spcPts val="1500"/>
              </a:lnSpc>
              <a:buNone/>
            </a:pPr>
            <a:r>
              <a:rPr lang="en-US" sz="1200" dirty="0">
                <a:solidFill>
                  <a:srgbClr val="5A6472"/>
                </a:solidFill>
                <a:latin typeface="Calibri" pitchFamily="34" charset="0"/>
                <a:ea typeface="Calibri" pitchFamily="34" charset="-122"/>
                <a:cs typeface="Calibri" pitchFamily="34" charset="-120"/>
              </a:rPr>
              <a:t>VeReMi's cleaned export dropped the sender ID, and its attacks are defined over time per sender. We measured this before training and training confirmed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58368"/>
            <a:ext cx="1069848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one thing blocking us</a:t>
            </a:r>
            <a:endParaRPr lang="en-US" sz="3200" dirty="0"/>
          </a:p>
        </p:txBody>
      </p:sp>
      <p:sp>
        <p:nvSpPr>
          <p:cNvPr id="3" name="Text 1"/>
          <p:cNvSpPr/>
          <p:nvPr/>
        </p:nvSpPr>
        <p:spPr>
          <a:xfrm>
            <a:off x="731520" y="1298448"/>
            <a:ext cx="1069848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remaining Month 1–4 item is blocked on the same thing, and nothing else</a:t>
            </a:r>
            <a:endParaRPr lang="en-US" sz="1400" dirty="0"/>
          </a:p>
        </p:txBody>
      </p:sp>
      <p:sp>
        <p:nvSpPr>
          <p:cNvPr id="4" name="Shape 2"/>
          <p:cNvSpPr/>
          <p:nvPr/>
        </p:nvSpPr>
        <p:spPr>
          <a:xfrm>
            <a:off x="731520" y="1938528"/>
            <a:ext cx="10698480" cy="1371600"/>
          </a:xfrm>
          <a:prstGeom prst="roundRect">
            <a:avLst>
              <a:gd name="adj" fmla="val 6667"/>
            </a:avLst>
          </a:prstGeom>
          <a:solidFill>
            <a:srgbClr val="141B45"/>
          </a:solidFill>
          <a:ln w="19050">
            <a:solidFill>
              <a:srgbClr val="D98324"/>
            </a:solidFill>
            <a:prstDash val="solid"/>
          </a:ln>
        </p:spPr>
      </p:sp>
      <p:sp>
        <p:nvSpPr>
          <p:cNvPr id="5" name="Text 3"/>
          <p:cNvSpPr/>
          <p:nvPr/>
        </p:nvSpPr>
        <p:spPr>
          <a:xfrm>
            <a:off x="1051560" y="2176272"/>
            <a:ext cx="10058400" cy="457200"/>
          </a:xfrm>
          <a:prstGeom prst="rect">
            <a:avLst/>
          </a:prstGeom>
          <a:noFill/>
          <a:ln/>
        </p:spPr>
        <p:txBody>
          <a:bodyPr wrap="square" lIns="0" tIns="0" rIns="0" bIns="0" rtlCol="0" anchor="ctr"/>
          <a:lstStyle/>
          <a:p>
            <a:pPr indent="0" marL="0">
              <a:buNone/>
            </a:pPr>
            <a:r>
              <a:rPr lang="en-US" sz="2400" b="1" dirty="0">
                <a:solidFill>
                  <a:srgbClr val="D98324"/>
                </a:solidFill>
                <a:latin typeface="Cambria" pitchFamily="34" charset="0"/>
                <a:ea typeface="Cambria" pitchFamily="34" charset="-122"/>
                <a:cs typeface="Cambria" pitchFamily="34" charset="-120"/>
              </a:rPr>
              <a:t>No target hardware has been ordered</a:t>
            </a:r>
            <a:endParaRPr lang="en-US" sz="2400" dirty="0"/>
          </a:p>
        </p:txBody>
      </p:sp>
      <p:sp>
        <p:nvSpPr>
          <p:cNvPr id="6" name="Text 4"/>
          <p:cNvSpPr/>
          <p:nvPr/>
        </p:nvSpPr>
        <p:spPr>
          <a:xfrm>
            <a:off x="1051560" y="2651760"/>
            <a:ext cx="100584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embedded track is now software-complete and waiting on a board. Ordering one is about an hour of work.</a:t>
            </a:r>
            <a:endParaRPr lang="en-US" sz="1400" dirty="0"/>
          </a:p>
        </p:txBody>
      </p:sp>
      <p:sp>
        <p:nvSpPr>
          <p:cNvPr id="7" name="Text 5"/>
          <p:cNvSpPr/>
          <p:nvPr/>
        </p:nvSpPr>
        <p:spPr>
          <a:xfrm>
            <a:off x="731520" y="3584448"/>
            <a:ext cx="10698480" cy="329184"/>
          </a:xfrm>
          <a:prstGeom prst="rect">
            <a:avLst/>
          </a:prstGeom>
          <a:noFill/>
          <a:ln/>
        </p:spPr>
        <p:txBody>
          <a:bodyPr wrap="square" lIns="0" tIns="0" rIns="0" bIns="0" rtlCol="0" anchor="ctr"/>
          <a:lstStyle/>
          <a:p>
            <a:pPr indent="0" marL="0">
              <a:buNone/>
            </a:pPr>
            <a:r>
              <a:rPr lang="en-US" sz="1200" b="1" spc="150" kern="0" dirty="0">
                <a:solidFill>
                  <a:srgbClr val="CADCFC"/>
                </a:solidFill>
                <a:latin typeface="Calibri" pitchFamily="34" charset="0"/>
                <a:ea typeface="Calibri" pitchFamily="34" charset="-122"/>
                <a:cs typeface="Calibri" pitchFamily="34" charset="-120"/>
              </a:rPr>
              <a:t>What we are asking for</a:t>
            </a:r>
            <a:endParaRPr lang="en-US" sz="1200" dirty="0"/>
          </a:p>
        </p:txBody>
      </p:sp>
      <p:sp>
        <p:nvSpPr>
          <p:cNvPr id="8" name="Shape 6"/>
          <p:cNvSpPr/>
          <p:nvPr/>
        </p:nvSpPr>
        <p:spPr>
          <a:xfrm>
            <a:off x="731520" y="3950208"/>
            <a:ext cx="5257800" cy="1783080"/>
          </a:xfrm>
          <a:prstGeom prst="roundRect">
            <a:avLst>
              <a:gd name="adj" fmla="val 5128"/>
            </a:avLst>
          </a:prstGeom>
          <a:solidFill>
            <a:srgbClr val="141B45"/>
          </a:solidFill>
          <a:ln w="12700">
            <a:solidFill>
              <a:srgbClr val="39457F"/>
            </a:solidFill>
            <a:prstDash val="solid"/>
          </a:ln>
        </p:spPr>
      </p:sp>
      <p:sp>
        <p:nvSpPr>
          <p:cNvPr id="9" name="Text 7"/>
          <p:cNvSpPr/>
          <p:nvPr/>
        </p:nvSpPr>
        <p:spPr>
          <a:xfrm>
            <a:off x="1005840" y="4151376"/>
            <a:ext cx="470916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NXP S32G evaluation board</a:t>
            </a:r>
            <a:endParaRPr lang="en-US" sz="1500" dirty="0"/>
          </a:p>
        </p:txBody>
      </p:sp>
      <p:sp>
        <p:nvSpPr>
          <p:cNvPr id="10" name="Text 8"/>
          <p:cNvSpPr/>
          <p:nvPr/>
        </p:nvSpPr>
        <p:spPr>
          <a:xfrm>
            <a:off x="1005840" y="4498848"/>
            <a:ext cx="4709160" cy="105156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The realistic production target — an automotive network processor built for vehicle gateways.</a:t>
            </a:r>
            <a:endParaRPr lang="en-US" sz="1250" dirty="0"/>
          </a:p>
        </p:txBody>
      </p:sp>
      <p:sp>
        <p:nvSpPr>
          <p:cNvPr id="11" name="Shape 9"/>
          <p:cNvSpPr/>
          <p:nvPr/>
        </p:nvSpPr>
        <p:spPr>
          <a:xfrm>
            <a:off x="6172200" y="3950208"/>
            <a:ext cx="5257800" cy="1783080"/>
          </a:xfrm>
          <a:prstGeom prst="roundRect">
            <a:avLst>
              <a:gd name="adj" fmla="val 5128"/>
            </a:avLst>
          </a:prstGeom>
          <a:solidFill>
            <a:srgbClr val="141B45"/>
          </a:solidFill>
          <a:ln w="15875">
            <a:solidFill>
              <a:srgbClr val="1E9E6A"/>
            </a:solidFill>
            <a:prstDash val="solid"/>
          </a:ln>
        </p:spPr>
      </p:sp>
      <p:sp>
        <p:nvSpPr>
          <p:cNvPr id="12" name="Text 10"/>
          <p:cNvSpPr/>
          <p:nvPr/>
        </p:nvSpPr>
        <p:spPr>
          <a:xfrm>
            <a:off x="6446520" y="4151376"/>
            <a:ext cx="4709160" cy="329184"/>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Raspberry Pi 5  — available this week</a:t>
            </a:r>
            <a:endParaRPr lang="en-US" sz="1500" dirty="0"/>
          </a:p>
        </p:txBody>
      </p:sp>
      <p:sp>
        <p:nvSpPr>
          <p:cNvPr id="13" name="Text 11"/>
          <p:cNvSpPr/>
          <p:nvPr/>
        </p:nvSpPr>
        <p:spPr>
          <a:xfrm>
            <a:off x="6446520" y="4498848"/>
            <a:ext cx="4709160" cy="1051560"/>
          </a:xfrm>
          <a:prstGeom prst="rect">
            <a:avLst/>
          </a:prstGeom>
          <a:noFill/>
          <a:ln/>
        </p:spPr>
        <p:txBody>
          <a:bodyPr wrap="square" lIns="0" tIns="0" rIns="0" bIns="0" rtlCol="0" anchor="ctr"/>
          <a:lstStyle/>
          <a:p>
            <a:pPr indent="0" marL="0">
              <a:lnSpc>
                <a:spcPts val="1700"/>
              </a:lnSpc>
              <a:buNone/>
            </a:pPr>
            <a:r>
              <a:rPr lang="en-US" sz="1250" dirty="0">
                <a:solidFill>
                  <a:srgbClr val="CADCFC"/>
                </a:solidFill>
                <a:latin typeface="Calibri" pitchFamily="34" charset="0"/>
                <a:ea typeface="Calibri" pitchFamily="34" charset="-122"/>
                <a:cs typeface="Calibri" pitchFamily="34" charset="-120"/>
              </a:rPr>
              <a:t>An interim ARM host. Removes procurement delay from the critical path so cross-compilation and NTT profiling can start immediately.</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56692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Month 6 plan</a:t>
            </a:r>
            <a:endParaRPr lang="en-US" sz="3000" dirty="0"/>
          </a:p>
        </p:txBody>
      </p:sp>
      <p:sp>
        <p:nvSpPr>
          <p:cNvPr id="3" name="Text 1"/>
          <p:cNvSpPr/>
          <p:nvPr/>
        </p:nvSpPr>
        <p:spPr>
          <a:xfrm>
            <a:off x="640080" y="969264"/>
            <a:ext cx="109728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In priority order</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881360" cy="914400"/>
        </p:xfrm>
        <a:graphic>
          <a:graphicData uri="http://schemas.openxmlformats.org/drawingml/2006/table">
            <a:tbl>
              <a:tblPr/>
              <a:tblGrid>
                <a:gridCol w="1051560"/>
                <a:gridCol w="4434840"/>
                <a:gridCol w="1188720"/>
                <a:gridCol w="42062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Task</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Effort</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 it is ranked here</a:t>
                      </a:r>
                      <a:endParaRPr lang="en-US" sz="120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solidFill>
                      <a:srgbClr val="1E2761"/>
                    </a:solidFill>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Order target hardware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1 hour</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Unblocks the entire embedded track</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P0</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Bind round number into the channel; enforce noise flooding</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3 hours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Closes replay and an approximate-decryption exposure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Migrate to OpenFHE</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12 days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The only way to make multi-key CKKS real — TenSEAL cannot express it</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Low-magnitude poisoning experiment</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3 days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Tests our known blind spot in Byzantine robustness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Scale to 50 vehicles / 50 rounds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4 days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Moves toward the roadmap target of 50–200</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r h="475488">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P1</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Re-acquire VeReMi with sender IDs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2 days</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c>
                  <a:txBody>
                    <a:bodyPr/>
                    <a:lstStyle/>
                    <a:p>
                      <a:pPr indent="0" marL="0">
                        <a:buNone/>
                      </a:pPr>
                      <a:r>
                        <a:rPr lang="en-US" sz="1150" dirty="0">
                          <a:solidFill>
                            <a:srgbClr val="1A1A2E"/>
                          </a:solidFill>
                          <a:latin typeface="Calibri" pitchFamily="34" charset="0"/>
                          <a:ea typeface="Calibri" pitchFamily="34" charset="-122"/>
                          <a:cs typeface="Calibri" pitchFamily="34" charset="-120"/>
                        </a:rPr>
                        <a:t>Restores a dataset that currently contributes nothing</a:t>
                      </a:r>
                      <a:endParaRPr lang="en-US" sz="1150" dirty="0">
                        <a:latin typeface="Calibri" charset="0"/>
                        <a:ea typeface="Calibri" charset="0"/>
                        <a:cs typeface="Calibri" charset="0"/>
                      </a:endParaRPr>
                    </a:p>
                  </a:txBody>
                  <a:tcPr marL="91440" marR="91440" marT="45720" marB="45720" anchor="ctr">
                    <a:lnL w="12700" cap="flat" cmpd="sng" algn="ctr">
                      <a:solidFill>
                        <a:srgbClr val="E1E8F2"/>
                      </a:solidFill>
                      <a:prstDash val="solid"/>
                      <a:round/>
                      <a:headEnd type="none" w="med" len="med"/>
                      <a:tailEnd type="none" w="med" len="med"/>
                    </a:lnL>
                    <a:lnR w="12700" cap="flat" cmpd="sng" algn="ctr">
                      <a:solidFill>
                        <a:srgbClr val="E1E8F2"/>
                      </a:solidFill>
                      <a:prstDash val="solid"/>
                      <a:round/>
                      <a:headEnd type="none" w="med" len="med"/>
                      <a:tailEnd type="none" w="med" len="med"/>
                    </a:lnR>
                    <a:lnT w="12700" cap="flat" cmpd="sng" algn="ctr">
                      <a:solidFill>
                        <a:srgbClr val="E1E8F2"/>
                      </a:solidFill>
                      <a:prstDash val="solid"/>
                      <a:round/>
                      <a:headEnd type="none" w="med" len="med"/>
                      <a:tailEnd type="none" w="med" len="med"/>
                    </a:lnT>
                    <a:lnB w="12700" cap="flat" cmpd="sng" algn="ctr">
                      <a:solidFill>
                        <a:srgbClr val="E1E8F2"/>
                      </a:solidFill>
                      <a:prstDash val="solid"/>
                      <a:round/>
                      <a:headEnd type="none" w="med" len="med"/>
                      <a:tailEnd type="none" w="med" len="med"/>
                    </a:lnB>
                  </a:tcPr>
                </a:tc>
              </a:tr>
            </a:tbl>
          </a:graphicData>
        </a:graphic>
      </p:graphicFrame>
      <p:sp>
        <p:nvSpPr>
          <p:cNvPr id="5" name="Shape 2"/>
          <p:cNvSpPr/>
          <p:nvPr/>
        </p:nvSpPr>
        <p:spPr>
          <a:xfrm>
            <a:off x="640080" y="4828032"/>
            <a:ext cx="10881360" cy="914400"/>
          </a:xfrm>
          <a:prstGeom prst="roundRect">
            <a:avLst>
              <a:gd name="adj" fmla="val 9000"/>
            </a:avLst>
          </a:prstGeom>
          <a:solidFill>
            <a:srgbClr val="F4F7FC"/>
          </a:solidFill>
          <a:ln w="12700">
            <a:solidFill>
              <a:srgbClr val="E1E8F2"/>
            </a:solidFill>
            <a:prstDash val="solid"/>
          </a:ln>
        </p:spPr>
      </p:sp>
      <p:sp>
        <p:nvSpPr>
          <p:cNvPr id="6" name="Text 3"/>
          <p:cNvSpPr/>
          <p:nvPr/>
        </p:nvSpPr>
        <p:spPr>
          <a:xfrm>
            <a:off x="914400" y="5047488"/>
            <a:ext cx="10332720" cy="502920"/>
          </a:xfrm>
          <a:prstGeom prst="rect">
            <a:avLst/>
          </a:prstGeom>
          <a:noFill/>
          <a:ln/>
        </p:spPr>
        <p:txBody>
          <a:bodyPr wrap="square" lIns="0" tIns="0" rIns="0" bIns="0" rtlCol="0" anchor="ctr"/>
          <a:lstStyle/>
          <a:p>
            <a:pPr indent="0" marL="0">
              <a:buNone/>
            </a:pPr>
            <a:r>
              <a:rPr lang="en-US" sz="1350" dirty="0">
                <a:solidFill>
                  <a:srgbClr val="1A1A2E"/>
                </a:solidFill>
                <a:latin typeface="Calibri" pitchFamily="34" charset="0"/>
                <a:ea typeface="Calibri" pitchFamily="34" charset="-122"/>
                <a:cs typeface="Calibri" pitchFamily="34" charset="-120"/>
              </a:rPr>
              <a:t>The embedded track shrank from ~40 days to ~22 this month, and the on-hardware benchmark from 2 days to half a day.</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777240"/>
            <a:ext cx="10515600" cy="65836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Summary</a:t>
            </a:r>
            <a:endParaRPr lang="en-US" sz="3400" dirty="0"/>
          </a:p>
        </p:txBody>
      </p:sp>
      <p:sp>
        <p:nvSpPr>
          <p:cNvPr id="3" name="Shape 1"/>
          <p:cNvSpPr/>
          <p:nvPr/>
        </p:nvSpPr>
        <p:spPr>
          <a:xfrm>
            <a:off x="822960" y="1728216"/>
            <a:ext cx="292608" cy="292608"/>
          </a:xfrm>
          <a:prstGeom prst="ellipse">
            <a:avLst/>
          </a:prstGeom>
          <a:solidFill>
            <a:srgbClr val="1E9E6A"/>
          </a:solidFill>
          <a:ln/>
        </p:spPr>
      </p:sp>
      <p:sp>
        <p:nvSpPr>
          <p:cNvPr id="4" name="Text 2"/>
          <p:cNvSpPr/>
          <p:nvPr/>
        </p:nvSpPr>
        <p:spPr>
          <a:xfrm>
            <a:off x="1325880" y="1673352"/>
            <a:ext cx="996696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Audited the project and fixed seven defects</a:t>
            </a:r>
            <a:endParaRPr lang="en-US" sz="1700" dirty="0"/>
          </a:p>
        </p:txBody>
      </p:sp>
      <p:sp>
        <p:nvSpPr>
          <p:cNvPr id="5" name="Text 3"/>
          <p:cNvSpPr/>
          <p:nvPr/>
        </p:nvSpPr>
        <p:spPr>
          <a:xfrm>
            <a:off x="1325880" y="2020824"/>
            <a:ext cx="9966960" cy="32918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All machine-verified by 105 automated assertions</a:t>
            </a:r>
            <a:endParaRPr lang="en-US" sz="1300" dirty="0"/>
          </a:p>
        </p:txBody>
      </p:sp>
      <p:sp>
        <p:nvSpPr>
          <p:cNvPr id="6" name="Shape 4"/>
          <p:cNvSpPr/>
          <p:nvPr/>
        </p:nvSpPr>
        <p:spPr>
          <a:xfrm>
            <a:off x="822960" y="2660904"/>
            <a:ext cx="292608" cy="292608"/>
          </a:xfrm>
          <a:prstGeom prst="ellipse">
            <a:avLst/>
          </a:prstGeom>
          <a:solidFill>
            <a:srgbClr val="1E9E6A"/>
          </a:solidFill>
          <a:ln/>
        </p:spPr>
      </p:sp>
      <p:sp>
        <p:nvSpPr>
          <p:cNvPr id="7" name="Text 5"/>
          <p:cNvSpPr/>
          <p:nvPr/>
        </p:nvSpPr>
        <p:spPr>
          <a:xfrm>
            <a:off x="1325880" y="2606040"/>
            <a:ext cx="996696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Replaced simulated encryption with real CKKS</a:t>
            </a:r>
            <a:endParaRPr lang="en-US" sz="1700" dirty="0"/>
          </a:p>
        </p:txBody>
      </p:sp>
      <p:sp>
        <p:nvSpPr>
          <p:cNvPr id="8" name="Text 6"/>
          <p:cNvSpPr/>
          <p:nvPr/>
        </p:nvSpPr>
        <p:spPr>
          <a:xfrm>
            <a:off x="1325880" y="2953512"/>
            <a:ext cx="9966960" cy="32918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And showed encryption costs no accuracy</a:t>
            </a:r>
            <a:endParaRPr lang="en-US" sz="1300" dirty="0"/>
          </a:p>
        </p:txBody>
      </p:sp>
      <p:sp>
        <p:nvSpPr>
          <p:cNvPr id="9" name="Shape 7"/>
          <p:cNvSpPr/>
          <p:nvPr/>
        </p:nvSpPr>
        <p:spPr>
          <a:xfrm>
            <a:off x="822960" y="3593592"/>
            <a:ext cx="292608" cy="292608"/>
          </a:xfrm>
          <a:prstGeom prst="ellipse">
            <a:avLst/>
          </a:prstGeom>
          <a:solidFill>
            <a:srgbClr val="1E9E6A"/>
          </a:solidFill>
          <a:ln/>
        </p:spPr>
      </p:sp>
      <p:sp>
        <p:nvSpPr>
          <p:cNvPr id="10" name="Text 8"/>
          <p:cNvSpPr/>
          <p:nvPr/>
        </p:nvSpPr>
        <p:spPr>
          <a:xfrm>
            <a:off x="1325880" y="3538728"/>
            <a:ext cx="996696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Closed three Month 1–4 deliverables</a:t>
            </a:r>
            <a:endParaRPr lang="en-US" sz="1700" dirty="0"/>
          </a:p>
        </p:txBody>
      </p:sp>
      <p:sp>
        <p:nvSpPr>
          <p:cNvPr id="11" name="Text 9"/>
          <p:cNvSpPr/>
          <p:nvPr/>
        </p:nvSpPr>
        <p:spPr>
          <a:xfrm>
            <a:off x="1325880" y="3886200"/>
            <a:ext cx="9966960" cy="32918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7 of 8 now complete, up from 5 of 8</a:t>
            </a:r>
            <a:endParaRPr lang="en-US" sz="1300" dirty="0"/>
          </a:p>
        </p:txBody>
      </p:sp>
      <p:sp>
        <p:nvSpPr>
          <p:cNvPr id="12" name="Shape 10"/>
          <p:cNvSpPr/>
          <p:nvPr/>
        </p:nvSpPr>
        <p:spPr>
          <a:xfrm>
            <a:off x="822960" y="4526280"/>
            <a:ext cx="292608" cy="292608"/>
          </a:xfrm>
          <a:prstGeom prst="ellipse">
            <a:avLst/>
          </a:prstGeom>
          <a:solidFill>
            <a:srgbClr val="D98324"/>
          </a:solidFill>
          <a:ln/>
        </p:spPr>
      </p:sp>
      <p:sp>
        <p:nvSpPr>
          <p:cNvPr id="13" name="Text 11"/>
          <p:cNvSpPr/>
          <p:nvPr/>
        </p:nvSpPr>
        <p:spPr>
          <a:xfrm>
            <a:off x="1325880" y="4471416"/>
            <a:ext cx="9966960" cy="347472"/>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One blocker remains: order a board</a:t>
            </a:r>
            <a:endParaRPr lang="en-US" sz="1700" dirty="0"/>
          </a:p>
        </p:txBody>
      </p:sp>
      <p:sp>
        <p:nvSpPr>
          <p:cNvPr id="14" name="Text 12"/>
          <p:cNvSpPr/>
          <p:nvPr/>
        </p:nvSpPr>
        <p:spPr>
          <a:xfrm>
            <a:off x="1325880" y="4818888"/>
            <a:ext cx="9966960" cy="329184"/>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The embedded track is software-complete and waiting</a:t>
            </a:r>
            <a:endParaRPr lang="en-US" sz="1300" dirty="0"/>
          </a:p>
        </p:txBody>
      </p:sp>
      <p:sp>
        <p:nvSpPr>
          <p:cNvPr id="15" name="Text 13"/>
          <p:cNvSpPr/>
          <p:nvPr/>
        </p:nvSpPr>
        <p:spPr>
          <a:xfrm>
            <a:off x="822960" y="5742432"/>
            <a:ext cx="10515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github.com/hithesh2205/LG-IoV</a:t>
            </a:r>
            <a:endParaRPr lang="en-US" sz="1400" dirty="0"/>
          </a:p>
        </p:txBody>
      </p:sp>
      <p:sp>
        <p:nvSpPr>
          <p:cNvPr id="16" name="Text 14"/>
          <p:cNvSpPr/>
          <p:nvPr/>
        </p:nvSpPr>
        <p:spPr>
          <a:xfrm>
            <a:off x="822960" y="6071616"/>
            <a:ext cx="10515600" cy="329184"/>
          </a:xfrm>
          <a:prstGeom prst="rect">
            <a:avLst/>
          </a:prstGeom>
          <a:noFill/>
          <a:ln/>
        </p:spPr>
        <p:txBody>
          <a:bodyPr wrap="square" lIns="0" tIns="0" rIns="0" bIns="0" rtlCol="0" anchor="ctr"/>
          <a:lstStyle/>
          <a:p>
            <a:pPr indent="0" marL="0">
              <a:buNone/>
            </a:pPr>
            <a:r>
              <a:rPr lang="en-US" sz="1150" dirty="0">
                <a:solidFill>
                  <a:srgbClr val="8FA3CC"/>
                </a:solidFill>
                <a:latin typeface="Calibri" pitchFamily="34" charset="0"/>
                <a:ea typeface="Calibri" pitchFamily="34" charset="-122"/>
                <a:cs typeface="Calibri" pitchFamily="34" charset="-120"/>
              </a:rPr>
              <a:t>Full documentation: 27-page master PDF + 16 supporting documents in the repository</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Month 5 Status Update</dc:title>
  <dc:subject>PptxGenJS Presentation</dc:subject>
  <dc:creator>LGSI IoV Project</dc:creator>
  <cp:lastModifiedBy>LGSI IoV Project</cp:lastModifiedBy>
  <cp:revision>1</cp:revision>
  <dcterms:created xsi:type="dcterms:W3CDTF">2026-08-12T05:09:19Z</dcterms:created>
  <dcterms:modified xsi:type="dcterms:W3CDTF">2026-08-12T05:09:19Z</dcterms:modified>
</cp:coreProperties>
</file>