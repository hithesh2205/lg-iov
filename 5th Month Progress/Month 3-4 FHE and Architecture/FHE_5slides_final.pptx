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11-05-2026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11-05-2026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11-05-2026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"/>
          <p:cNvSpPr>
            <a:spLocks noGrp="1"/>
          </p:cNvSpPr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2200" b="1" i="0" dirty="0">
                <a:solidFill>
                  <a:srgbClr val="FFFFFF"/>
                </a:solidFill>
                <a:latin typeface="Calibri"/>
              </a:rPr>
              <a:t>Why Homomorphic Encryption in Federated Learning?</a:t>
            </a:r>
          </a:p>
        </p:txBody>
      </p:sp>
      <p:sp>
        <p:nvSpPr>
          <p:cNvPr id="20" name="lhdr"/>
          <p:cNvSpPr>
            <a:spLocks noGrp="1"/>
          </p:cNvSpPr>
          <p:nvPr/>
        </p:nvSpPr>
        <p:spPr>
          <a:xfrm>
            <a:off x="228600" y="749808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lhdrtxt"/>
          <p:cNvSpPr>
            <a:spLocks noGrp="1"/>
          </p:cNvSpPr>
          <p:nvPr/>
        </p:nvSpPr>
        <p:spPr>
          <a:xfrm>
            <a:off x="256032" y="768096"/>
            <a:ext cx="53400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</a:rPr>
              <a:t>The FL Privacy Problem</a:t>
            </a:r>
          </a:p>
        </p:txBody>
      </p:sp>
      <p:sp>
        <p:nvSpPr>
          <p:cNvPr id="42" name="bx"/>
          <p:cNvSpPr>
            <a:spLocks noGrp="1"/>
          </p:cNvSpPr>
          <p:nvPr/>
        </p:nvSpPr>
        <p:spPr>
          <a:xfrm>
            <a:off x="228600" y="1152144"/>
            <a:ext cx="5394960" cy="640080"/>
          </a:xfrm>
          <a:prstGeom prst="rect">
            <a:avLst/>
          </a:prstGeom>
          <a:solidFill>
            <a:srgbClr val="EAF3FB"/>
          </a:solidFill>
          <a:ln w="1905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bt"/>
          <p:cNvSpPr>
            <a:spLocks noGrp="1"/>
          </p:cNvSpPr>
          <p:nvPr/>
        </p:nvSpPr>
        <p:spPr>
          <a:xfrm>
            <a:off x="338328" y="1207008"/>
            <a:ext cx="517550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50" b="1" i="0" dirty="0">
                <a:solidFill>
                  <a:srgbClr val="1A5276"/>
                </a:solidFill>
                <a:latin typeface="Calibri"/>
              </a:rPr>
              <a:t>① Vehicle trains local IDS model on CAN bus data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(data stays on device)</a:t>
            </a:r>
          </a:p>
        </p:txBody>
      </p:sp>
      <p:sp>
        <p:nvSpPr>
          <p:cNvPr id="50" name="bx"/>
          <p:cNvSpPr>
            <a:spLocks noGrp="1"/>
          </p:cNvSpPr>
          <p:nvPr/>
        </p:nvSpPr>
        <p:spPr>
          <a:xfrm>
            <a:off x="228600" y="1874519"/>
            <a:ext cx="5394960" cy="640080"/>
          </a:xfrm>
          <a:prstGeom prst="rect">
            <a:avLst/>
          </a:prstGeom>
          <a:solidFill>
            <a:srgbClr val="FDF0F1"/>
          </a:solidFill>
          <a:ln w="1905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bt"/>
          <p:cNvSpPr>
            <a:spLocks noGrp="1"/>
          </p:cNvSpPr>
          <p:nvPr/>
        </p:nvSpPr>
        <p:spPr>
          <a:xfrm>
            <a:off x="338328" y="1929384"/>
            <a:ext cx="517550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50" b="1" i="0" dirty="0">
                <a:solidFill>
                  <a:srgbClr val="BE1E2D"/>
                </a:solidFill>
                <a:latin typeface="Calibri"/>
              </a:rPr>
              <a:t>② Vehicle sends model WEIGHTS (not raw data)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to aggregation server</a:t>
            </a:r>
          </a:p>
        </p:txBody>
      </p:sp>
      <p:sp>
        <p:nvSpPr>
          <p:cNvPr id="58" name="bx"/>
          <p:cNvSpPr>
            <a:spLocks noGrp="1"/>
          </p:cNvSpPr>
          <p:nvPr/>
        </p:nvSpPr>
        <p:spPr>
          <a:xfrm>
            <a:off x="228600" y="2596896"/>
            <a:ext cx="5394960" cy="640080"/>
          </a:xfrm>
          <a:prstGeom prst="rect">
            <a:avLst/>
          </a:prstGeom>
          <a:solidFill>
            <a:srgbClr val="EAF3FB"/>
          </a:solidFill>
          <a:ln w="1905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bt"/>
          <p:cNvSpPr>
            <a:spLocks noGrp="1"/>
          </p:cNvSpPr>
          <p:nvPr/>
        </p:nvSpPr>
        <p:spPr>
          <a:xfrm>
            <a:off x="338328" y="2651760"/>
            <a:ext cx="517550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50" b="1" i="0" dirty="0">
                <a:solidFill>
                  <a:srgbClr val="1A5276"/>
                </a:solidFill>
                <a:latin typeface="Calibri"/>
              </a:rPr>
              <a:t>③ Server averages all weights → sends global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model back to vehicles</a:t>
            </a:r>
          </a:p>
        </p:txBody>
      </p:sp>
      <p:sp>
        <p:nvSpPr>
          <p:cNvPr id="2" name="arr1"/>
          <p:cNvSpPr>
            <a:spLocks noGrp="1"/>
          </p:cNvSpPr>
          <p:nvPr/>
        </p:nvSpPr>
        <p:spPr>
          <a:xfrm>
            <a:off x="822960" y="1783080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00" b="1" i="0" dirty="0">
                <a:solidFill>
                  <a:srgbClr val="404040"/>
                </a:solidFill>
                <a:latin typeface="Calibri"/>
              </a:rPr>
              <a:t>↓</a:t>
            </a:r>
          </a:p>
        </p:txBody>
      </p:sp>
      <p:sp>
        <p:nvSpPr>
          <p:cNvPr id="3" name="arr2"/>
          <p:cNvSpPr>
            <a:spLocks noGrp="1"/>
          </p:cNvSpPr>
          <p:nvPr/>
        </p:nvSpPr>
        <p:spPr>
          <a:xfrm>
            <a:off x="822960" y="2505456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00" b="1" i="0" dirty="0">
                <a:solidFill>
                  <a:srgbClr val="404040"/>
                </a:solidFill>
                <a:latin typeface="Calibri"/>
              </a:rPr>
              <a:t>↓</a:t>
            </a:r>
          </a:p>
        </p:txBody>
      </p:sp>
      <p:sp>
        <p:nvSpPr>
          <p:cNvPr id="55" name="threat"/>
          <p:cNvSpPr>
            <a:spLocks noGrp="1"/>
          </p:cNvSpPr>
          <p:nvPr/>
        </p:nvSpPr>
        <p:spPr>
          <a:xfrm>
            <a:off x="228600" y="3337560"/>
            <a:ext cx="5394960" cy="841248"/>
          </a:xfrm>
          <a:prstGeom prst="rect">
            <a:avLst/>
          </a:prstGeom>
          <a:solidFill>
            <a:srgbClr val="FFF3F3"/>
          </a:solidFill>
          <a:ln w="280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hreattxt"/>
          <p:cNvSpPr>
            <a:spLocks noGrp="1"/>
          </p:cNvSpPr>
          <p:nvPr/>
        </p:nvSpPr>
        <p:spPr>
          <a:xfrm>
            <a:off x="320040" y="3364992"/>
            <a:ext cx="521208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200" b="1" i="0" dirty="0">
                <a:solidFill>
                  <a:srgbClr val="BE1E2D"/>
                </a:solidFill>
                <a:latin typeface="Calibri"/>
              </a:rPr>
              <a:t>⚠  The Hidden Threat: Gradient Inversion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Proven research (Zhu et al., 2019) shows that an attacker — even the server itself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— can RECONSTRUCT private driving data from plaintext model weights.</a:t>
            </a:r>
          </a:p>
        </p:txBody>
      </p:sp>
      <p:sp>
        <p:nvSpPr>
          <p:cNvPr id="60" name="rhdr"/>
          <p:cNvSpPr>
            <a:spLocks noGrp="1"/>
          </p:cNvSpPr>
          <p:nvPr/>
        </p:nvSpPr>
        <p:spPr>
          <a:xfrm>
            <a:off x="5852160" y="749808"/>
            <a:ext cx="6080760" cy="34747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rhdrtxt"/>
          <p:cNvSpPr>
            <a:spLocks noGrp="1"/>
          </p:cNvSpPr>
          <p:nvPr/>
        </p:nvSpPr>
        <p:spPr>
          <a:xfrm>
            <a:off x="5870448" y="768096"/>
            <a:ext cx="60441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</a:rPr>
              <a:t>How FHE Solves This</a:t>
            </a:r>
          </a:p>
        </p:txBody>
      </p:sp>
      <p:sp>
        <p:nvSpPr>
          <p:cNvPr id="62" name="fhebox"/>
          <p:cNvSpPr>
            <a:spLocks noGrp="1"/>
          </p:cNvSpPr>
          <p:nvPr/>
        </p:nvSpPr>
        <p:spPr>
          <a:xfrm>
            <a:off x="5852160" y="1152144"/>
            <a:ext cx="6080760" cy="1115568"/>
          </a:xfrm>
          <a:prstGeom prst="rect">
            <a:avLst/>
          </a:prstGeom>
          <a:solidFill>
            <a:srgbClr val="EAF3FB"/>
          </a:solidFill>
          <a:ln w="1905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fhetxt"/>
          <p:cNvSpPr>
            <a:spLocks noGrp="1"/>
          </p:cNvSpPr>
          <p:nvPr/>
        </p:nvSpPr>
        <p:spPr>
          <a:xfrm>
            <a:off x="5961888" y="1188720"/>
            <a:ext cx="5861304" cy="104241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0" i="0" dirty="0">
                <a:solidFill>
                  <a:srgbClr val="1A1A1A"/>
                </a:solidFill>
                <a:latin typeface="Calibri"/>
              </a:rPr>
              <a:t>Fully Homomorphic Encryption (FHE) allows mathematical</a:t>
            </a:r>
          </a:p>
          <a:p>
            <a:pPr lvl="0">
              <a:buNone/>
            </a:pPr>
            <a:r>
              <a:rPr lang="en-IN" sz="1100" b="1" i="0" dirty="0">
                <a:solidFill>
                  <a:srgbClr val="1A5276"/>
                </a:solidFill>
                <a:latin typeface="Calibri"/>
              </a:rPr>
              <a:t>operations to be performed DIRECTLY ON ENCRYPTED DATA.</a:t>
            </a:r>
          </a:p>
          <a:p>
            <a:pPr lvl="0">
              <a:buNone/>
            </a:pPr>
            <a:r>
              <a:rPr lang="en-IN" sz="1100" b="0" i="0" dirty="0">
                <a:solidFill>
                  <a:srgbClr val="1A1A1A"/>
                </a:solidFill>
                <a:latin typeface="Calibri"/>
              </a:rPr>
              <a:t>The server aggregates ciphertexts — it never sees plaintext weights.</a:t>
            </a:r>
          </a:p>
        </p:txBody>
      </p:sp>
      <p:sp>
        <p:nvSpPr>
          <p:cNvPr id="64" name="dpbox"/>
          <p:cNvSpPr>
            <a:spLocks noGrp="1"/>
          </p:cNvSpPr>
          <p:nvPr/>
        </p:nvSpPr>
        <p:spPr>
          <a:xfrm>
            <a:off x="5852160" y="2331720"/>
            <a:ext cx="6080760" cy="822960"/>
          </a:xfrm>
          <a:prstGeom prst="rect">
            <a:avLst/>
          </a:prstGeom>
          <a:solidFill>
            <a:srgbClr val="FFFAEC"/>
          </a:solidFill>
          <a:ln w="19050">
            <a:solidFill>
              <a:srgbClr val="B886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dptxt"/>
          <p:cNvSpPr>
            <a:spLocks noGrp="1"/>
          </p:cNvSpPr>
          <p:nvPr/>
        </p:nvSpPr>
        <p:spPr>
          <a:xfrm>
            <a:off x="5961888" y="2359152"/>
            <a:ext cx="5861304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50" b="1" i="0" dirty="0">
                <a:solidFill>
                  <a:srgbClr val="8B6914"/>
                </a:solidFill>
                <a:latin typeface="Calibri"/>
              </a:rPr>
              <a:t>Why not Differential Privacy (DP)?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DP adds noise to gradients to hide data. But noise degrades model accuracy.</a:t>
            </a:r>
          </a:p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In a safety-critical IDS, a less accurate model = missed attacks. Unacceptable.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5852160" y="3246120"/>
            <a:ext cx="1920240" cy="960120"/>
          </a:xfrm>
          <a:prstGeom prst="rect">
            <a:avLst/>
          </a:prstGeom>
          <a:solidFill>
            <a:srgbClr val="EDF7F0"/>
          </a:solidFill>
          <a:ln w="19050">
            <a:solidFill>
              <a:srgbClr val="1A7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ctxt"/>
          <p:cNvSpPr>
            <a:spLocks noGrp="1"/>
          </p:cNvSpPr>
          <p:nvPr/>
        </p:nvSpPr>
        <p:spPr>
          <a:xfrm>
            <a:off x="5943600" y="32918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1" i="0" dirty="0">
                <a:solidFill>
                  <a:srgbClr val="1A7A4A"/>
                </a:solidFill>
                <a:latin typeface="Calibri"/>
              </a:rPr>
              <a:t>Cryptographic</a:t>
            </a:r>
          </a:p>
          <a:p>
            <a:pPr lvl="0">
              <a:buNone/>
            </a:pPr>
            <a:r>
              <a:rPr lang="en-IN" sz="1050" b="1" i="0" dirty="0">
                <a:solidFill>
                  <a:srgbClr val="1A7A4A"/>
                </a:solidFill>
                <a:latin typeface="Calibri"/>
              </a:rPr>
              <a:t>Guarantee</a:t>
            </a:r>
          </a:p>
          <a:p>
            <a:pPr lvl="0">
              <a:buNone/>
            </a:pPr>
            <a:r>
              <a:rPr lang="en-IN" sz="950" b="0" i="0" dirty="0">
                <a:solidFill>
                  <a:srgbClr val="404040"/>
                </a:solidFill>
                <a:latin typeface="Calibri"/>
              </a:rPr>
              <a:t>Mathematical proof of privacy. Not just structural — provably secure.</a:t>
            </a:r>
          </a:p>
        </p:txBody>
      </p:sp>
      <p:sp>
        <p:nvSpPr>
          <p:cNvPr id="4" name="card"/>
          <p:cNvSpPr>
            <a:spLocks noGrp="1"/>
          </p:cNvSpPr>
          <p:nvPr/>
        </p:nvSpPr>
        <p:spPr>
          <a:xfrm>
            <a:off x="7891272" y="3246120"/>
            <a:ext cx="1920240" cy="960120"/>
          </a:xfrm>
          <a:prstGeom prst="rect">
            <a:avLst/>
          </a:prstGeom>
          <a:solidFill>
            <a:srgbClr val="EAF3FB"/>
          </a:solidFill>
          <a:ln w="1905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ctxt"/>
          <p:cNvSpPr>
            <a:spLocks noGrp="1"/>
          </p:cNvSpPr>
          <p:nvPr/>
        </p:nvSpPr>
        <p:spPr>
          <a:xfrm>
            <a:off x="7982712" y="32918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1" i="0" dirty="0">
                <a:solidFill>
                  <a:srgbClr val="1A5276"/>
                </a:solidFill>
                <a:latin typeface="Calibri"/>
              </a:rPr>
              <a:t>Zero Accuracy</a:t>
            </a:r>
          </a:p>
          <a:p>
            <a:pPr lvl="0">
              <a:buNone/>
            </a:pPr>
            <a:r>
              <a:rPr lang="en-IN" sz="1050" b="1" i="0" dirty="0">
                <a:solidFill>
                  <a:srgbClr val="1A5276"/>
                </a:solidFill>
                <a:latin typeface="Calibri"/>
              </a:rPr>
              <a:t>Loss</a:t>
            </a:r>
          </a:p>
          <a:p>
            <a:pPr lvl="0">
              <a:buNone/>
            </a:pPr>
            <a:r>
              <a:rPr lang="en-IN" sz="950" b="0" i="0" dirty="0">
                <a:solidFill>
                  <a:srgbClr val="404040"/>
                </a:solidFill>
                <a:latin typeface="Calibri"/>
              </a:rPr>
              <a:t>Aggregation is exact addition of ciphertexts. No noise added to weights.</a:t>
            </a:r>
          </a:p>
        </p:txBody>
      </p:sp>
      <p:sp>
        <p:nvSpPr>
          <p:cNvPr id="5" name="card"/>
          <p:cNvSpPr>
            <a:spLocks noGrp="1"/>
          </p:cNvSpPr>
          <p:nvPr/>
        </p:nvSpPr>
        <p:spPr>
          <a:xfrm>
            <a:off x="9930384" y="3246120"/>
            <a:ext cx="1920240" cy="960120"/>
          </a:xfrm>
          <a:prstGeom prst="rect">
            <a:avLst/>
          </a:prstGeom>
          <a:solidFill>
            <a:srgbClr val="FDF0F1"/>
          </a:solidFill>
          <a:ln w="1905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ctxt"/>
          <p:cNvSpPr>
            <a:spLocks noGrp="1"/>
          </p:cNvSpPr>
          <p:nvPr/>
        </p:nvSpPr>
        <p:spPr>
          <a:xfrm>
            <a:off x="10021824" y="32918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Server Learns</a:t>
            </a:r>
          </a:p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Nothing</a:t>
            </a:r>
          </a:p>
          <a:p>
            <a:pPr lvl="0">
              <a:buNone/>
            </a:pPr>
            <a:r>
              <a:rPr lang="en-IN" sz="950" b="0" i="0" dirty="0">
                <a:solidFill>
                  <a:srgbClr val="404040"/>
                </a:solidFill>
                <a:latin typeface="Calibri"/>
              </a:rPr>
              <a:t>The aggregation server operates only on ciphertexts — blind to content.</a:t>
            </a:r>
          </a:p>
        </p:txBody>
      </p:sp>
      <p:sp>
        <p:nvSpPr>
          <p:cNvPr id="80" name="stmt"/>
          <p:cNvSpPr>
            <a:spLocks noGrp="1"/>
          </p:cNvSpPr>
          <p:nvPr/>
        </p:nvSpPr>
        <p:spPr>
          <a:xfrm>
            <a:off x="242316" y="4315968"/>
            <a:ext cx="117043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stmttxt"/>
          <p:cNvSpPr>
            <a:spLocks noGrp="1"/>
          </p:cNvSpPr>
          <p:nvPr/>
        </p:nvSpPr>
        <p:spPr>
          <a:xfrm>
            <a:off x="274320" y="4334256"/>
            <a:ext cx="116128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In our project: Vehicle model weights are encrypted before leaving the device. The server aggregates ciphertexts. Vehicles decrypt the result. The server never sees weights.</a:t>
            </a:r>
          </a:p>
        </p:txBody>
      </p:sp>
      <p:sp>
        <p:nvSpPr>
          <p:cNvPr id="90" name="src"/>
          <p:cNvSpPr>
            <a:spLocks noGrp="1"/>
          </p:cNvSpPr>
          <p:nvPr/>
        </p:nvSpPr>
        <p:spPr>
          <a:xfrm>
            <a:off x="228600" y="4754880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00" b="0" i="1" dirty="0">
                <a:solidFill>
                  <a:srgbClr val="666666"/>
                </a:solidFill>
                <a:latin typeface="Calibri"/>
              </a:rPr>
              <a:t>Reference: Zhu et al. (NeurIPS 2019) — 'Deep Leakage from Gradients' | CKKS scheme by Cheon, Kim, Kim &amp; Song (2017)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"/>
          <p:cNvSpPr>
            <a:spLocks noGrp="1"/>
          </p:cNvSpPr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2200" b="1" i="0" dirty="0">
                <a:solidFill>
                  <a:srgbClr val="FFFFFF"/>
                </a:solidFill>
                <a:latin typeface="Calibri"/>
              </a:rPr>
              <a:t>Base Papers — Do They Use Homomorphic Encryption?</a:t>
            </a:r>
          </a:p>
        </p:txBody>
      </p:sp>
      <p:sp>
        <p:nvSpPr>
          <p:cNvPr id="20" name="p1hdr"/>
          <p:cNvSpPr>
            <a:spLocks noGrp="1"/>
          </p:cNvSpPr>
          <p:nvPr/>
        </p:nvSpPr>
        <p:spPr>
          <a:xfrm>
            <a:off x="228600" y="777240"/>
            <a:ext cx="53949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p1h"/>
          <p:cNvSpPr>
            <a:spLocks noGrp="1"/>
          </p:cNvSpPr>
          <p:nvPr/>
        </p:nvSpPr>
        <p:spPr>
          <a:xfrm>
            <a:off x="256032" y="795528"/>
            <a:ext cx="534009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50" b="1" i="0" dirty="0">
                <a:solidFill>
                  <a:srgbClr val="FFFFFF"/>
                </a:solidFill>
                <a:latin typeface="Calibri"/>
              </a:rPr>
              <a:t>Paper 1: DCANFL (IEEE Trans. Vehicular Technology, 2026)</a:t>
            </a:r>
          </a:p>
        </p:txBody>
      </p:sp>
      <p:sp>
        <p:nvSpPr>
          <p:cNvPr id="30" name="p1r"/>
          <p:cNvSpPr>
            <a:spLocks noGrp="1"/>
          </p:cNvSpPr>
          <p:nvPr/>
        </p:nvSpPr>
        <p:spPr>
          <a:xfrm>
            <a:off x="228600" y="1234440"/>
            <a:ext cx="539496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p1l"/>
          <p:cNvSpPr>
            <a:spLocks noGrp="1"/>
          </p:cNvSpPr>
          <p:nvPr/>
        </p:nvSpPr>
        <p:spPr>
          <a:xfrm>
            <a:off x="274320" y="127101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1A5276"/>
                </a:solidFill>
                <a:latin typeface="Calibri"/>
              </a:rPr>
              <a:t>Approach</a:t>
            </a:r>
          </a:p>
        </p:txBody>
      </p:sp>
      <p:sp>
        <p:nvSpPr>
          <p:cNvPr id="32" name="div"/>
          <p:cNvSpPr>
            <a:spLocks noGrp="1"/>
          </p:cNvSpPr>
          <p:nvPr/>
        </p:nvSpPr>
        <p:spPr>
          <a:xfrm>
            <a:off x="1627632" y="1289304"/>
            <a:ext cx="27432" cy="31089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p1v"/>
          <p:cNvSpPr>
            <a:spLocks noGrp="1"/>
          </p:cNvSpPr>
          <p:nvPr/>
        </p:nvSpPr>
        <p:spPr>
          <a:xfrm>
            <a:off x="1691640" y="127101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Decentralized Federated Learning via Gossip Protocol</a:t>
            </a:r>
          </a:p>
        </p:txBody>
      </p:sp>
      <p:sp>
        <p:nvSpPr>
          <p:cNvPr id="2" name="p1r"/>
          <p:cNvSpPr>
            <a:spLocks noGrp="1"/>
          </p:cNvSpPr>
          <p:nvPr/>
        </p:nvSpPr>
        <p:spPr>
          <a:xfrm>
            <a:off x="228600" y="1737360"/>
            <a:ext cx="5394960" cy="438912"/>
          </a:xfrm>
          <a:prstGeom prst="rect">
            <a:avLst/>
          </a:prstGeom>
          <a:solidFill>
            <a:srgbClr val="FFFAEC"/>
          </a:solidFill>
          <a:ln w="12700">
            <a:solidFill>
              <a:srgbClr val="8B691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p1l"/>
          <p:cNvSpPr>
            <a:spLocks noGrp="1"/>
          </p:cNvSpPr>
          <p:nvPr/>
        </p:nvSpPr>
        <p:spPr>
          <a:xfrm>
            <a:off x="274320" y="177393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8B6914"/>
                </a:solidFill>
                <a:latin typeface="Calibri"/>
              </a:rPr>
              <a:t>Privacy Method</a:t>
            </a:r>
          </a:p>
        </p:txBody>
      </p:sp>
      <p:sp>
        <p:nvSpPr>
          <p:cNvPr id="4" name="div"/>
          <p:cNvSpPr>
            <a:spLocks noGrp="1"/>
          </p:cNvSpPr>
          <p:nvPr/>
        </p:nvSpPr>
        <p:spPr>
          <a:xfrm>
            <a:off x="1627632" y="1792224"/>
            <a:ext cx="27432" cy="31089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p1v"/>
          <p:cNvSpPr>
            <a:spLocks noGrp="1"/>
          </p:cNvSpPr>
          <p:nvPr/>
        </p:nvSpPr>
        <p:spPr>
          <a:xfrm>
            <a:off x="1691640" y="177393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Structural only — no raw data shared, but model weights in plaintext</a:t>
            </a:r>
          </a:p>
        </p:txBody>
      </p:sp>
      <p:sp>
        <p:nvSpPr>
          <p:cNvPr id="5" name="p1r"/>
          <p:cNvSpPr>
            <a:spLocks noGrp="1"/>
          </p:cNvSpPr>
          <p:nvPr/>
        </p:nvSpPr>
        <p:spPr>
          <a:xfrm>
            <a:off x="228600" y="2240280"/>
            <a:ext cx="5394960" cy="438912"/>
          </a:xfrm>
          <a:prstGeom prst="rect">
            <a:avLst/>
          </a:prstGeom>
          <a:solidFill>
            <a:srgbClr val="FDF0F1"/>
          </a:solidFill>
          <a:ln w="127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p1l"/>
          <p:cNvSpPr>
            <a:spLocks noGrp="1"/>
          </p:cNvSpPr>
          <p:nvPr/>
        </p:nvSpPr>
        <p:spPr>
          <a:xfrm>
            <a:off x="274320" y="227685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HE Used?</a:t>
            </a:r>
          </a:p>
        </p:txBody>
      </p:sp>
      <p:sp>
        <p:nvSpPr>
          <p:cNvPr id="7" name="div"/>
          <p:cNvSpPr>
            <a:spLocks noGrp="1"/>
          </p:cNvSpPr>
          <p:nvPr/>
        </p:nvSpPr>
        <p:spPr>
          <a:xfrm>
            <a:off x="1627632" y="2295144"/>
            <a:ext cx="27432" cy="31089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p1v"/>
          <p:cNvSpPr>
            <a:spLocks noGrp="1"/>
          </p:cNvSpPr>
          <p:nvPr/>
        </p:nvSpPr>
        <p:spPr>
          <a:xfrm>
            <a:off x="1691640" y="22768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❌  No. Model parameters exchanged as plaintext between peer vehicles.</a:t>
            </a:r>
          </a:p>
        </p:txBody>
      </p:sp>
      <p:sp>
        <p:nvSpPr>
          <p:cNvPr id="8" name="p1r"/>
          <p:cNvSpPr>
            <a:spLocks noGrp="1"/>
          </p:cNvSpPr>
          <p:nvPr/>
        </p:nvSpPr>
        <p:spPr>
          <a:xfrm>
            <a:off x="228600" y="2743200"/>
            <a:ext cx="5394960" cy="438912"/>
          </a:xfrm>
          <a:prstGeom prst="rect">
            <a:avLst/>
          </a:prstGeom>
          <a:solidFill>
            <a:srgbClr val="EDF7F0"/>
          </a:solidFill>
          <a:ln w="12700">
            <a:solidFill>
              <a:srgbClr val="1A7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p1l"/>
          <p:cNvSpPr>
            <a:spLocks noGrp="1"/>
          </p:cNvSpPr>
          <p:nvPr/>
        </p:nvSpPr>
        <p:spPr>
          <a:xfrm>
            <a:off x="274320" y="277977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1A7A4A"/>
                </a:solidFill>
                <a:latin typeface="Calibri"/>
              </a:rPr>
              <a:t>IDS Model</a:t>
            </a:r>
          </a:p>
        </p:txBody>
      </p:sp>
      <p:sp>
        <p:nvSpPr>
          <p:cNvPr id="12" name="div"/>
          <p:cNvSpPr>
            <a:spLocks noGrp="1"/>
          </p:cNvSpPr>
          <p:nvPr/>
        </p:nvSpPr>
        <p:spPr>
          <a:xfrm>
            <a:off x="1627632" y="2798064"/>
            <a:ext cx="27432" cy="31089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p1v"/>
          <p:cNvSpPr>
            <a:spLocks noGrp="1"/>
          </p:cNvSpPr>
          <p:nvPr/>
        </p:nvSpPr>
        <p:spPr>
          <a:xfrm>
            <a:off x="1691640" y="277977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Autoencoder — unsupervised, trained on normal CAN signals only</a:t>
            </a:r>
          </a:p>
        </p:txBody>
      </p:sp>
      <p:sp>
        <p:nvSpPr>
          <p:cNvPr id="13" name="p1r"/>
          <p:cNvSpPr>
            <a:spLocks noGrp="1"/>
          </p:cNvSpPr>
          <p:nvPr/>
        </p:nvSpPr>
        <p:spPr>
          <a:xfrm>
            <a:off x="228600" y="3246120"/>
            <a:ext cx="539496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p1l"/>
          <p:cNvSpPr>
            <a:spLocks noGrp="1"/>
          </p:cNvSpPr>
          <p:nvPr/>
        </p:nvSpPr>
        <p:spPr>
          <a:xfrm>
            <a:off x="274320" y="328269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Gap</a:t>
            </a:r>
          </a:p>
        </p:txBody>
      </p:sp>
      <p:sp>
        <p:nvSpPr>
          <p:cNvPr id="15" name="div"/>
          <p:cNvSpPr>
            <a:spLocks noGrp="1"/>
          </p:cNvSpPr>
          <p:nvPr/>
        </p:nvSpPr>
        <p:spPr>
          <a:xfrm>
            <a:off x="1627632" y="3300984"/>
            <a:ext cx="27432" cy="31089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p1v"/>
          <p:cNvSpPr>
            <a:spLocks noGrp="1"/>
          </p:cNvSpPr>
          <p:nvPr/>
        </p:nvSpPr>
        <p:spPr>
          <a:xfrm>
            <a:off x="1691640" y="32826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A malicious peer vehicle receiving plaintext weights can perform gradient inversion.</a:t>
            </a:r>
          </a:p>
        </p:txBody>
      </p:sp>
      <p:sp>
        <p:nvSpPr>
          <p:cNvPr id="60" name="p2hdr"/>
          <p:cNvSpPr>
            <a:spLocks noGrp="1"/>
          </p:cNvSpPr>
          <p:nvPr/>
        </p:nvSpPr>
        <p:spPr>
          <a:xfrm>
            <a:off x="5852160" y="777240"/>
            <a:ext cx="60807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p2h"/>
          <p:cNvSpPr>
            <a:spLocks noGrp="1"/>
          </p:cNvSpPr>
          <p:nvPr/>
        </p:nvSpPr>
        <p:spPr>
          <a:xfrm>
            <a:off x="5870448" y="795528"/>
            <a:ext cx="60441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50" b="1" i="0" dirty="0">
                <a:solidFill>
                  <a:srgbClr val="FFFFFF"/>
                </a:solidFill>
                <a:latin typeface="Calibri"/>
              </a:rPr>
              <a:t>Paper 2: FedIoV (Future Gen. Computer Systems, 2026)</a:t>
            </a:r>
          </a:p>
        </p:txBody>
      </p:sp>
      <p:sp>
        <p:nvSpPr>
          <p:cNvPr id="70" name="p2r"/>
          <p:cNvSpPr>
            <a:spLocks noGrp="1"/>
          </p:cNvSpPr>
          <p:nvPr/>
        </p:nvSpPr>
        <p:spPr>
          <a:xfrm>
            <a:off x="5852160" y="1234440"/>
            <a:ext cx="6080760" cy="438912"/>
          </a:xfrm>
          <a:prstGeom prst="rect">
            <a:avLst/>
          </a:prstGeom>
          <a:solidFill>
            <a:srgbClr val="EAF3FB"/>
          </a:solidFill>
          <a:ln w="1270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p2l"/>
          <p:cNvSpPr>
            <a:spLocks noGrp="1"/>
          </p:cNvSpPr>
          <p:nvPr/>
        </p:nvSpPr>
        <p:spPr>
          <a:xfrm>
            <a:off x="5888736" y="127101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1A5276"/>
                </a:solidFill>
                <a:latin typeface="Calibri"/>
              </a:rPr>
              <a:t>Approach</a:t>
            </a:r>
          </a:p>
        </p:txBody>
      </p:sp>
      <p:sp>
        <p:nvSpPr>
          <p:cNvPr id="72" name="div2"/>
          <p:cNvSpPr>
            <a:spLocks noGrp="1"/>
          </p:cNvSpPr>
          <p:nvPr/>
        </p:nvSpPr>
        <p:spPr>
          <a:xfrm>
            <a:off x="7333488" y="1289304"/>
            <a:ext cx="27432" cy="31089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p2v"/>
          <p:cNvSpPr>
            <a:spLocks noGrp="1"/>
          </p:cNvSpPr>
          <p:nvPr/>
        </p:nvSpPr>
        <p:spPr>
          <a:xfrm>
            <a:off x="7388352" y="1271016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Centralized FL with robust TOPSIS + Multi-Krum aggregation</a:t>
            </a:r>
          </a:p>
        </p:txBody>
      </p:sp>
      <p:sp>
        <p:nvSpPr>
          <p:cNvPr id="16" name="p2r"/>
          <p:cNvSpPr>
            <a:spLocks noGrp="1"/>
          </p:cNvSpPr>
          <p:nvPr/>
        </p:nvSpPr>
        <p:spPr>
          <a:xfrm>
            <a:off x="5852160" y="1737360"/>
            <a:ext cx="6080760" cy="438912"/>
          </a:xfrm>
          <a:prstGeom prst="rect">
            <a:avLst/>
          </a:prstGeom>
          <a:solidFill>
            <a:srgbClr val="FFFAEC"/>
          </a:solidFill>
          <a:ln w="12700">
            <a:solidFill>
              <a:srgbClr val="8B691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p2l"/>
          <p:cNvSpPr>
            <a:spLocks noGrp="1"/>
          </p:cNvSpPr>
          <p:nvPr/>
        </p:nvSpPr>
        <p:spPr>
          <a:xfrm>
            <a:off x="5888736" y="177393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8B6914"/>
                </a:solidFill>
                <a:latin typeface="Calibri"/>
              </a:rPr>
              <a:t>Privacy Method</a:t>
            </a:r>
          </a:p>
        </p:txBody>
      </p:sp>
      <p:sp>
        <p:nvSpPr>
          <p:cNvPr id="18" name="div2"/>
          <p:cNvSpPr>
            <a:spLocks noGrp="1"/>
          </p:cNvSpPr>
          <p:nvPr/>
        </p:nvSpPr>
        <p:spPr>
          <a:xfrm>
            <a:off x="7333488" y="1792224"/>
            <a:ext cx="27432" cy="31089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p2v"/>
          <p:cNvSpPr>
            <a:spLocks noGrp="1"/>
          </p:cNvSpPr>
          <p:nvPr/>
        </p:nvSpPr>
        <p:spPr>
          <a:xfrm>
            <a:off x="7388352" y="1773936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Encrypted communication channel (TLS) + Differential Privacy</a:t>
            </a:r>
          </a:p>
        </p:txBody>
      </p:sp>
      <p:sp>
        <p:nvSpPr>
          <p:cNvPr id="19" name="p2r"/>
          <p:cNvSpPr>
            <a:spLocks noGrp="1"/>
          </p:cNvSpPr>
          <p:nvPr/>
        </p:nvSpPr>
        <p:spPr>
          <a:xfrm>
            <a:off x="5852160" y="2240280"/>
            <a:ext cx="6080760" cy="438912"/>
          </a:xfrm>
          <a:prstGeom prst="rect">
            <a:avLst/>
          </a:prstGeom>
          <a:solidFill>
            <a:srgbClr val="FDF0F1"/>
          </a:solidFill>
          <a:ln w="127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p2l"/>
          <p:cNvSpPr>
            <a:spLocks noGrp="1"/>
          </p:cNvSpPr>
          <p:nvPr/>
        </p:nvSpPr>
        <p:spPr>
          <a:xfrm>
            <a:off x="5888736" y="227685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HE Used?</a:t>
            </a:r>
          </a:p>
        </p:txBody>
      </p:sp>
      <p:sp>
        <p:nvSpPr>
          <p:cNvPr id="23" name="div2"/>
          <p:cNvSpPr>
            <a:spLocks noGrp="1"/>
          </p:cNvSpPr>
          <p:nvPr/>
        </p:nvSpPr>
        <p:spPr>
          <a:xfrm>
            <a:off x="7333488" y="2295144"/>
            <a:ext cx="27432" cy="31089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p2v"/>
          <p:cNvSpPr>
            <a:spLocks noGrp="1"/>
          </p:cNvSpPr>
          <p:nvPr/>
        </p:nvSpPr>
        <p:spPr>
          <a:xfrm>
            <a:off x="7388352" y="2276856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❌  No. Server aggregates plaintext gradients after decryption.</a:t>
            </a:r>
          </a:p>
        </p:txBody>
      </p:sp>
      <p:sp>
        <p:nvSpPr>
          <p:cNvPr id="24" name="p2r"/>
          <p:cNvSpPr>
            <a:spLocks noGrp="1"/>
          </p:cNvSpPr>
          <p:nvPr/>
        </p:nvSpPr>
        <p:spPr>
          <a:xfrm>
            <a:off x="5852160" y="2743200"/>
            <a:ext cx="6080760" cy="438912"/>
          </a:xfrm>
          <a:prstGeom prst="rect">
            <a:avLst/>
          </a:prstGeom>
          <a:solidFill>
            <a:srgbClr val="EDF7F0"/>
          </a:solidFill>
          <a:ln w="12700">
            <a:solidFill>
              <a:srgbClr val="1A7A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p2l"/>
          <p:cNvSpPr>
            <a:spLocks noGrp="1"/>
          </p:cNvSpPr>
          <p:nvPr/>
        </p:nvSpPr>
        <p:spPr>
          <a:xfrm>
            <a:off x="5888736" y="277977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1A7A4A"/>
                </a:solidFill>
                <a:latin typeface="Calibri"/>
              </a:rPr>
              <a:t>IDS Model</a:t>
            </a:r>
          </a:p>
        </p:txBody>
      </p:sp>
      <p:sp>
        <p:nvSpPr>
          <p:cNvPr id="26" name="div2"/>
          <p:cNvSpPr>
            <a:spLocks noGrp="1"/>
          </p:cNvSpPr>
          <p:nvPr/>
        </p:nvSpPr>
        <p:spPr>
          <a:xfrm>
            <a:off x="7333488" y="2798064"/>
            <a:ext cx="27432" cy="31089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p2v"/>
          <p:cNvSpPr>
            <a:spLocks noGrp="1"/>
          </p:cNvSpPr>
          <p:nvPr/>
        </p:nvSpPr>
        <p:spPr>
          <a:xfrm>
            <a:off x="7388352" y="2779776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KANConvNet — Kolmogorov-Arnold theorem based lightweight classifier</a:t>
            </a:r>
          </a:p>
        </p:txBody>
      </p:sp>
      <p:sp>
        <p:nvSpPr>
          <p:cNvPr id="27" name="p2r"/>
          <p:cNvSpPr>
            <a:spLocks noGrp="1"/>
          </p:cNvSpPr>
          <p:nvPr/>
        </p:nvSpPr>
        <p:spPr>
          <a:xfrm>
            <a:off x="5852160" y="3246120"/>
            <a:ext cx="608076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p2l"/>
          <p:cNvSpPr>
            <a:spLocks noGrp="1"/>
          </p:cNvSpPr>
          <p:nvPr/>
        </p:nvSpPr>
        <p:spPr>
          <a:xfrm>
            <a:off x="5888736" y="328269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BE1E2D"/>
                </a:solidFill>
                <a:latin typeface="Calibri"/>
              </a:rPr>
              <a:t>Gap</a:t>
            </a:r>
          </a:p>
        </p:txBody>
      </p:sp>
      <p:sp>
        <p:nvSpPr>
          <p:cNvPr id="29" name="div2"/>
          <p:cNvSpPr>
            <a:spLocks noGrp="1"/>
          </p:cNvSpPr>
          <p:nvPr/>
        </p:nvSpPr>
        <p:spPr>
          <a:xfrm>
            <a:off x="7333488" y="3300984"/>
            <a:ext cx="27432" cy="31089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p2v"/>
          <p:cNvSpPr>
            <a:spLocks noGrp="1"/>
          </p:cNvSpPr>
          <p:nvPr/>
        </p:nvSpPr>
        <p:spPr>
          <a:xfrm>
            <a:off x="7388352" y="3282696"/>
            <a:ext cx="44622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0" i="0" dirty="0">
                <a:solidFill>
                  <a:srgbClr val="1A1A1A"/>
                </a:solidFill>
                <a:latin typeface="Calibri"/>
              </a:rPr>
              <a:t>Honest-but-curious server sees all plaintext model weights during aggregation.</a:t>
            </a:r>
          </a:p>
        </p:txBody>
      </p:sp>
      <p:sp>
        <p:nvSpPr>
          <p:cNvPr id="100" name="contrib"/>
          <p:cNvSpPr>
            <a:spLocks noGrp="1"/>
          </p:cNvSpPr>
          <p:nvPr/>
        </p:nvSpPr>
        <p:spPr>
          <a:xfrm>
            <a:off x="228600" y="4315968"/>
            <a:ext cx="11704320" cy="47548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txt"/>
          <p:cNvSpPr>
            <a:spLocks noGrp="1"/>
          </p:cNvSpPr>
          <p:nvPr/>
        </p:nvSpPr>
        <p:spPr>
          <a:xfrm>
            <a:off x="274320" y="4334256"/>
            <a:ext cx="116128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50" b="1" i="0" dirty="0">
                <a:solidFill>
                  <a:srgbClr val="FFFFFF"/>
                </a:solidFill>
                <a:latin typeface="Calibri"/>
              </a:rPr>
              <a:t>Our Contribution: Neither base paper uses HE. We are the FIRST to add FHE as a cryptographic privacy layer on top of FL-based CAN intrusion detection — closing the gradient leakage gap both papers leave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7548-0687-F4B4-0BC2-98D18647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F33"/>
                </a:solidFill>
              </a:rPr>
              <a:t>Core Challenges in Implementing HE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The main problems we must solve before full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121" y="1096788"/>
            <a:ext cx="7223760" cy="5074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ctr"/>
          <a:lstStyle/>
          <a:p>
            <a:pPr algn="ctr"/>
            <a:r>
              <a:rPr sz="1700" b="1" dirty="0">
                <a:solidFill>
                  <a:srgbClr val="EF4444"/>
                </a:solidFill>
              </a:rPr>
              <a:t>Strongest implementation challenges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rPr dirty="0"/>
              <a:t>1. Scheme selection: CKKS is suitable for real-valued model weights; BFV/BGV need integer quantization; TFHE is not efficient for weight aggregation.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rPr dirty="0"/>
              <a:t>2. Precision vs security: FHE parameters must preserve model accuracy while still meeting security targets.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rPr dirty="0"/>
              <a:t>3. Ciphertext overhead: encrypted updates are larger and slower than plaintext vectors.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rPr dirty="0"/>
              <a:t>4. Parameter alignment: the encrypted vector size must match the IDS model's trainable parameter count.</a:t>
            </a:r>
          </a:p>
          <a:p>
            <a:pPr>
              <a:spcAft>
                <a:spcPts val="200"/>
              </a:spcAft>
              <a:defRPr sz="1210">
                <a:solidFill>
                  <a:srgbClr val="1E293B"/>
                </a:solidFill>
              </a:defRPr>
            </a:pPr>
            <a:r>
              <a:rPr dirty="0"/>
              <a:t>5. Key lifecycle: generation, distribution, rotation, and revocation must fit a dynamic </a:t>
            </a:r>
            <a:r>
              <a:rPr dirty="0" err="1"/>
              <a:t>IoV</a:t>
            </a:r>
            <a:r>
              <a:rPr dirty="0"/>
              <a:t>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0999" y="1096788"/>
            <a:ext cx="3611880" cy="507492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ctr"/>
          <a:lstStyle/>
          <a:p>
            <a:pPr algn="ctr"/>
            <a:r>
              <a:rPr sz="1700" b="1">
                <a:solidFill>
                  <a:srgbClr val="F59E0B"/>
                </a:solidFill>
              </a:rPr>
              <a:t>Why these matter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If the FHE layer is too heavy, FL becomes impractical.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If parameters are mismatched, encryption and aggregation break.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t>If the scheme is chosen poorly, the final IDS accuracy drops.</a:t>
            </a:r>
          </a:p>
        </p:txBody>
      </p:sp>
    </p:spTree>
    <p:extLst>
      <p:ext uri="{BB962C8B-B14F-4D97-AF65-F5344CB8AC3E}">
        <p14:creationId xmlns:p14="http://schemas.microsoft.com/office/powerpoint/2010/main" val="48178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"/>
          <p:cNvSpPr>
            <a:spLocks noGrp="1"/>
          </p:cNvSpPr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2000" b="1" i="0" dirty="0">
                <a:solidFill>
                  <a:srgbClr val="FFFFFF"/>
                </a:solidFill>
                <a:latin typeface="Calibri"/>
              </a:rPr>
              <a:t>Our Approach — Two Parallel Tracks, One Integrated System</a:t>
            </a:r>
          </a:p>
        </p:txBody>
      </p:sp>
      <p:sp>
        <p:nvSpPr>
          <p:cNvPr id="20" name="idsbox"/>
          <p:cNvSpPr>
            <a:spLocks noGrp="1"/>
          </p:cNvSpPr>
          <p:nvPr/>
        </p:nvSpPr>
        <p:spPr>
          <a:xfrm>
            <a:off x="228600" y="777240"/>
            <a:ext cx="5029200" cy="2834640"/>
          </a:xfrm>
          <a:prstGeom prst="rect">
            <a:avLst/>
          </a:prstGeom>
          <a:solidFill>
            <a:srgbClr val="F4FAFF"/>
          </a:solidFill>
          <a:ln w="2800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idshdr"/>
          <p:cNvSpPr>
            <a:spLocks noGrp="1"/>
          </p:cNvSpPr>
          <p:nvPr/>
        </p:nvSpPr>
        <p:spPr>
          <a:xfrm>
            <a:off x="228600" y="777240"/>
            <a:ext cx="5029200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idshdrtxt"/>
          <p:cNvSpPr>
            <a:spLocks noGrp="1"/>
          </p:cNvSpPr>
          <p:nvPr/>
        </p:nvSpPr>
        <p:spPr>
          <a:xfrm>
            <a:off x="256032" y="795528"/>
            <a:ext cx="4974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250" b="1" i="0" dirty="0">
                <a:solidFill>
                  <a:srgbClr val="FFFFFF"/>
                </a:solidFill>
                <a:latin typeface="Calibri"/>
              </a:rPr>
              <a:t>IDS TRACK </a:t>
            </a:r>
          </a:p>
        </p:txBody>
      </p:sp>
      <p:sp>
        <p:nvSpPr>
          <p:cNvPr id="30" name="iitem"/>
          <p:cNvSpPr>
            <a:spLocks noGrp="1"/>
          </p:cNvSpPr>
          <p:nvPr/>
        </p:nvSpPr>
        <p:spPr>
          <a:xfrm>
            <a:off x="347472" y="1225296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Dataset acquisition and exploration (SynCAN, X-CANIDS)</a:t>
            </a:r>
          </a:p>
        </p:txBody>
      </p:sp>
      <p:sp>
        <p:nvSpPr>
          <p:cNvPr id="31" name="iitem"/>
          <p:cNvSpPr>
            <a:spLocks noGrp="1"/>
          </p:cNvSpPr>
          <p:nvPr/>
        </p:nvSpPr>
        <p:spPr>
          <a:xfrm>
            <a:off x="347472" y="1472184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Threat model document — define attack types and adversary</a:t>
            </a:r>
          </a:p>
        </p:txBody>
      </p:sp>
      <p:sp>
        <p:nvSpPr>
          <p:cNvPr id="32" name="iitem"/>
          <p:cNvSpPr>
            <a:spLocks noGrp="1"/>
          </p:cNvSpPr>
          <p:nvPr/>
        </p:nvSpPr>
        <p:spPr>
          <a:xfrm>
            <a:off x="347472" y="1719072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Select model: Autoencoder (unsupervised on normal CAN data)</a:t>
            </a:r>
          </a:p>
        </p:txBody>
      </p:sp>
      <p:sp>
        <p:nvSpPr>
          <p:cNvPr id="33" name="iitem"/>
          <p:cNvSpPr>
            <a:spLocks noGrp="1"/>
          </p:cNvSpPr>
          <p:nvPr/>
        </p:nvSpPr>
        <p:spPr>
          <a:xfrm>
            <a:off x="347472" y="1965960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Build centralized baseline IDS — train, measure AUC &amp; F1</a:t>
            </a:r>
          </a:p>
        </p:txBody>
      </p:sp>
      <p:sp>
        <p:nvSpPr>
          <p:cNvPr id="34" name="iitem"/>
          <p:cNvSpPr>
            <a:spLocks noGrp="1"/>
          </p:cNvSpPr>
          <p:nvPr/>
        </p:nvSpPr>
        <p:spPr>
          <a:xfrm>
            <a:off x="347472" y="2212848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Quantize model for edge device deployment</a:t>
            </a:r>
          </a:p>
        </p:txBody>
      </p:sp>
      <p:sp>
        <p:nvSpPr>
          <p:cNvPr id="35" name="iitem"/>
          <p:cNvSpPr>
            <a:spLocks noGrp="1"/>
          </p:cNvSpPr>
          <p:nvPr/>
        </p:nvSpPr>
        <p:spPr>
          <a:xfrm>
            <a:off x="347472" y="2459736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Build Federated Learning client logic (local training loop)</a:t>
            </a:r>
          </a:p>
        </p:txBody>
      </p:sp>
      <p:sp>
        <p:nvSpPr>
          <p:cNvPr id="36" name="iitem"/>
          <p:cNvSpPr>
            <a:spLocks noGrp="1"/>
          </p:cNvSpPr>
          <p:nvPr/>
        </p:nvSpPr>
        <p:spPr>
          <a:xfrm>
            <a:off x="347472" y="2706624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1A5276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Attack simulation and red-teaming against the IDS</a:t>
            </a:r>
          </a:p>
        </p:txBody>
      </p:sp>
      <p:sp>
        <p:nvSpPr>
          <p:cNvPr id="40" name="fhebox"/>
          <p:cNvSpPr>
            <a:spLocks noGrp="1"/>
          </p:cNvSpPr>
          <p:nvPr/>
        </p:nvSpPr>
        <p:spPr>
          <a:xfrm>
            <a:off x="6903720" y="777240"/>
            <a:ext cx="5029200" cy="2834640"/>
          </a:xfrm>
          <a:prstGeom prst="rect">
            <a:avLst/>
          </a:prstGeom>
          <a:solidFill>
            <a:srgbClr val="FFF8F8"/>
          </a:solidFill>
          <a:ln w="280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fhehdr"/>
          <p:cNvSpPr>
            <a:spLocks noGrp="1"/>
          </p:cNvSpPr>
          <p:nvPr/>
        </p:nvSpPr>
        <p:spPr>
          <a:xfrm>
            <a:off x="6903720" y="777240"/>
            <a:ext cx="5029200" cy="38404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fhehdrtxt"/>
          <p:cNvSpPr>
            <a:spLocks noGrp="1"/>
          </p:cNvSpPr>
          <p:nvPr/>
        </p:nvSpPr>
        <p:spPr>
          <a:xfrm>
            <a:off x="6922008" y="795528"/>
            <a:ext cx="4974336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250" b="1" i="0" dirty="0">
                <a:solidFill>
                  <a:srgbClr val="FFFFFF"/>
                </a:solidFill>
                <a:latin typeface="Calibri"/>
              </a:rPr>
              <a:t>FHE TRACK </a:t>
            </a:r>
          </a:p>
        </p:txBody>
      </p:sp>
      <p:sp>
        <p:nvSpPr>
          <p:cNvPr id="50" name="fitem"/>
          <p:cNvSpPr>
            <a:spLocks noGrp="1"/>
          </p:cNvSpPr>
          <p:nvPr/>
        </p:nvSpPr>
        <p:spPr>
          <a:xfrm>
            <a:off x="7013448" y="1225296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FHE scheme selection: CKKS (for floating-point weights)</a:t>
            </a:r>
          </a:p>
        </p:txBody>
      </p:sp>
      <p:sp>
        <p:nvSpPr>
          <p:cNvPr id="51" name="fitem"/>
          <p:cNvSpPr>
            <a:spLocks noGrp="1"/>
          </p:cNvSpPr>
          <p:nvPr/>
        </p:nvSpPr>
        <p:spPr>
          <a:xfrm>
            <a:off x="7013448" y="1472184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Library evaluation: Microsoft SEAL vs OpenFHE</a:t>
            </a:r>
          </a:p>
        </p:txBody>
      </p:sp>
      <p:sp>
        <p:nvSpPr>
          <p:cNvPr id="52" name="fitem"/>
          <p:cNvSpPr>
            <a:spLocks noGrp="1"/>
          </p:cNvSpPr>
          <p:nvPr/>
        </p:nvSpPr>
        <p:spPr>
          <a:xfrm>
            <a:off x="7013448" y="1719072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Security parameter configuration (128-bit security standard)</a:t>
            </a:r>
          </a:p>
        </p:txBody>
      </p:sp>
      <p:sp>
        <p:nvSpPr>
          <p:cNvPr id="53" name="fitem"/>
          <p:cNvSpPr>
            <a:spLocks noGrp="1"/>
          </p:cNvSpPr>
          <p:nvPr/>
        </p:nvSpPr>
        <p:spPr>
          <a:xfrm>
            <a:off x="7013448" y="1965960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SIMD batching and encoding module for weight vectors</a:t>
            </a:r>
          </a:p>
        </p:txBody>
      </p:sp>
      <p:sp>
        <p:nvSpPr>
          <p:cNvPr id="54" name="fitem"/>
          <p:cNvSpPr>
            <a:spLocks noGrp="1"/>
          </p:cNvSpPr>
          <p:nvPr/>
        </p:nvSpPr>
        <p:spPr>
          <a:xfrm>
            <a:off x="7013448" y="2212848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Build Homomorphic Aggregator (FedAvg under encryption)</a:t>
            </a:r>
          </a:p>
        </p:txBody>
      </p:sp>
      <p:sp>
        <p:nvSpPr>
          <p:cNvPr id="55" name="fitem"/>
          <p:cNvSpPr>
            <a:spLocks noGrp="1"/>
          </p:cNvSpPr>
          <p:nvPr/>
        </p:nvSpPr>
        <p:spPr>
          <a:xfrm>
            <a:off x="7013448" y="2459736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Noise budget management tool per FL round</a:t>
            </a:r>
          </a:p>
        </p:txBody>
      </p:sp>
      <p:sp>
        <p:nvSpPr>
          <p:cNvPr id="56" name="fitem"/>
          <p:cNvSpPr>
            <a:spLocks noGrp="1"/>
          </p:cNvSpPr>
          <p:nvPr/>
        </p:nvSpPr>
        <p:spPr>
          <a:xfrm>
            <a:off x="7013448" y="2706624"/>
            <a:ext cx="47914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IN" sz="1050" b="1" dirty="0">
                <a:solidFill>
                  <a:srgbClr val="BE1E2D"/>
                </a:solidFill>
                <a:latin typeface="Calibri"/>
              </a:rPr>
              <a:t>▪  </a:t>
            </a:r>
            <a:r>
              <a:rPr lang="en-IN" sz="1050" b="0" dirty="0">
                <a:solidFill>
                  <a:srgbClr val="404040"/>
                </a:solidFill>
                <a:latin typeface="Calibri"/>
              </a:rPr>
              <a:t>Ciphertext serialization for V2X communication</a:t>
            </a:r>
          </a:p>
        </p:txBody>
      </p:sp>
      <p:sp>
        <p:nvSpPr>
          <p:cNvPr id="60" name="mergebg"/>
          <p:cNvSpPr>
            <a:spLocks noGrp="1"/>
          </p:cNvSpPr>
          <p:nvPr/>
        </p:nvSpPr>
        <p:spPr>
          <a:xfrm>
            <a:off x="5285232" y="1417320"/>
            <a:ext cx="1618488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mergetxt"/>
          <p:cNvSpPr>
            <a:spLocks noGrp="1"/>
          </p:cNvSpPr>
          <p:nvPr/>
        </p:nvSpPr>
        <p:spPr>
          <a:xfrm>
            <a:off x="5303520" y="1435608"/>
            <a:ext cx="158191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MONTH 9–10</a:t>
            </a:r>
          </a:p>
        </p:txBody>
      </p:sp>
      <p:sp>
        <p:nvSpPr>
          <p:cNvPr id="62" name="mergesub"/>
          <p:cNvSpPr>
            <a:spLocks noGrp="1"/>
          </p:cNvSpPr>
          <p:nvPr/>
        </p:nvSpPr>
        <p:spPr>
          <a:xfrm>
            <a:off x="5303520" y="1920240"/>
            <a:ext cx="1581912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BD47"/>
                </a:solidFill>
                <a:latin typeface="Calibri"/>
              </a:rPr>
              <a:t>FULL SYSTEM
INTEGRATION</a:t>
            </a:r>
          </a:p>
        </p:txBody>
      </p:sp>
      <p:sp>
        <p:nvSpPr>
          <p:cNvPr id="70" name="parambg"/>
          <p:cNvSpPr>
            <a:spLocks noGrp="1"/>
          </p:cNvSpPr>
          <p:nvPr/>
        </p:nvSpPr>
        <p:spPr>
          <a:xfrm>
            <a:off x="228600" y="3703320"/>
            <a:ext cx="11704320" cy="1444752"/>
          </a:xfrm>
          <a:prstGeom prst="rect">
            <a:avLst/>
          </a:prstGeom>
          <a:solidFill>
            <a:srgbClr val="FFFAEC"/>
          </a:solidFill>
          <a:ln w="19050">
            <a:solidFill>
              <a:srgbClr val="B886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paramhdr"/>
          <p:cNvSpPr>
            <a:spLocks noGrp="1"/>
          </p:cNvSpPr>
          <p:nvPr/>
        </p:nvSpPr>
        <p:spPr>
          <a:xfrm>
            <a:off x="347472" y="3749039"/>
            <a:ext cx="11430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250" b="1" i="0" dirty="0">
                <a:solidFill>
                  <a:srgbClr val="8B5E00"/>
                </a:solidFill>
                <a:latin typeface="Calibri"/>
              </a:rPr>
              <a:t>What is a 'Parameter’?</a:t>
            </a:r>
          </a:p>
        </p:txBody>
      </p:sp>
      <p:sp>
        <p:nvSpPr>
          <p:cNvPr id="72" name="paramdef"/>
          <p:cNvSpPr>
            <a:spLocks noGrp="1"/>
          </p:cNvSpPr>
          <p:nvPr/>
        </p:nvSpPr>
        <p:spPr>
          <a:xfrm>
            <a:off x="347472" y="41148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A parameter is a single trainable number inside the neural network — a weight or bias. An autoencoder with 3 convolutional layers may have ~50,000 parameters, each a float32 value.</a:t>
            </a:r>
          </a:p>
        </p:txBody>
      </p:sp>
      <p:sp>
        <p:nvSpPr>
          <p:cNvPr id="73" name="paramwhy"/>
          <p:cNvSpPr>
            <a:spLocks noGrp="1"/>
          </p:cNvSpPr>
          <p:nvPr/>
        </p:nvSpPr>
        <p:spPr>
          <a:xfrm>
            <a:off x="5943600" y="4114800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FHE must encrypt ALL parameters together. The number of parameters determines the CKKS polynomial degree and slot count. Wrong sizing = broken encryption or wasted capacity.</a:t>
            </a:r>
          </a:p>
        </p:txBody>
      </p:sp>
      <p:sp>
        <p:nvSpPr>
          <p:cNvPr id="80" name="action"/>
          <p:cNvSpPr>
            <a:spLocks noGrp="1"/>
          </p:cNvSpPr>
          <p:nvPr/>
        </p:nvSpPr>
        <p:spPr>
          <a:xfrm>
            <a:off x="228600" y="5193792"/>
            <a:ext cx="11704320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actiontxt"/>
          <p:cNvSpPr>
            <a:spLocks noGrp="1"/>
          </p:cNvSpPr>
          <p:nvPr/>
        </p:nvSpPr>
        <p:spPr>
          <a:xfrm>
            <a:off x="274320" y="5212080"/>
            <a:ext cx="11612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050" b="1" i="0" dirty="0">
                <a:solidFill>
                  <a:srgbClr val="FFFFFF"/>
                </a:solidFill>
                <a:latin typeface="Calibri"/>
              </a:rPr>
              <a:t>Action: IDS team defines architecture → runs model.count_parameters() → sends count to FHE track. Then both tracks work independently for 6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g"/>
          <p:cNvSpPr>
            <a:spLocks noGrp="1"/>
          </p:cNvSpPr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"/>
          <p:cNvSpPr>
            <a:spLocks noGrp="1"/>
          </p:cNvSpPr>
          <p:nvPr/>
        </p:nvSpPr>
        <p:spPr>
          <a:xfrm>
            <a:off x="228600" y="73152"/>
            <a:ext cx="117043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2200" b="1" i="0" dirty="0">
                <a:solidFill>
                  <a:srgbClr val="FFFFFF"/>
                </a:solidFill>
                <a:latin typeface="Calibri"/>
              </a:rPr>
              <a:t>FHE Track — Month 1–2 Goals and Deliverables</a:t>
            </a:r>
          </a:p>
        </p:txBody>
      </p:sp>
      <p:sp>
        <p:nvSpPr>
          <p:cNvPr id="20" name="lhdr"/>
          <p:cNvSpPr>
            <a:spLocks noGrp="1"/>
          </p:cNvSpPr>
          <p:nvPr/>
        </p:nvSpPr>
        <p:spPr>
          <a:xfrm>
            <a:off x="228600" y="777240"/>
            <a:ext cx="56235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lhdrtxt"/>
          <p:cNvSpPr>
            <a:spLocks noGrp="1"/>
          </p:cNvSpPr>
          <p:nvPr/>
        </p:nvSpPr>
        <p:spPr>
          <a:xfrm>
            <a:off x="246888" y="795528"/>
            <a:ext cx="55869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</a:rPr>
              <a:t>Deliverable 1: Security Specification Report</a:t>
            </a:r>
          </a:p>
        </p:txBody>
      </p:sp>
      <p:sp>
        <p:nvSpPr>
          <p:cNvPr id="22" name="ldesc"/>
          <p:cNvSpPr>
            <a:spLocks noGrp="1"/>
          </p:cNvSpPr>
          <p:nvPr/>
        </p:nvSpPr>
        <p:spPr>
          <a:xfrm>
            <a:off x="228600" y="1216152"/>
            <a:ext cx="5623560" cy="347472"/>
          </a:xfrm>
          <a:prstGeom prst="rect">
            <a:avLst/>
          </a:prstGeom>
          <a:solidFill>
            <a:srgbClr val="F4FAFF"/>
          </a:solidFill>
          <a:ln w="12700">
            <a:solidFill>
              <a:srgbClr val="1A527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desct"/>
          <p:cNvSpPr>
            <a:spLocks noGrp="1"/>
          </p:cNvSpPr>
          <p:nvPr/>
        </p:nvSpPr>
        <p:spPr>
          <a:xfrm>
            <a:off x="274320" y="1234440"/>
            <a:ext cx="55321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0" i="1" dirty="0">
                <a:solidFill>
                  <a:srgbClr val="1A5276"/>
                </a:solidFill>
                <a:latin typeface="Calibri"/>
              </a:rPr>
              <a:t>A written technical document justifying every cryptographic decision in the project.</a:t>
            </a:r>
          </a:p>
        </p:txBody>
      </p:sp>
      <p:sp>
        <p:nvSpPr>
          <p:cNvPr id="30" name="rs"/>
          <p:cNvSpPr>
            <a:spLocks noGrp="1"/>
          </p:cNvSpPr>
          <p:nvPr/>
        </p:nvSpPr>
        <p:spPr>
          <a:xfrm>
            <a:off x="269748" y="1673352"/>
            <a:ext cx="562356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sb"/>
          <p:cNvSpPr>
            <a:spLocks noGrp="1"/>
          </p:cNvSpPr>
          <p:nvPr/>
        </p:nvSpPr>
        <p:spPr>
          <a:xfrm>
            <a:off x="228600" y="1627632"/>
            <a:ext cx="109728" cy="56692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sh"/>
          <p:cNvSpPr>
            <a:spLocks noGrp="1"/>
          </p:cNvSpPr>
          <p:nvPr/>
        </p:nvSpPr>
        <p:spPr>
          <a:xfrm>
            <a:off x="384048" y="1673352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BE1E2D"/>
                </a:solidFill>
                <a:latin typeface="Calibri"/>
              </a:rPr>
              <a:t>FHE Scheme Justification</a:t>
            </a:r>
          </a:p>
        </p:txBody>
      </p:sp>
      <p:sp>
        <p:nvSpPr>
          <p:cNvPr id="33" name="rsb2"/>
          <p:cNvSpPr>
            <a:spLocks noGrp="1"/>
          </p:cNvSpPr>
          <p:nvPr/>
        </p:nvSpPr>
        <p:spPr>
          <a:xfrm>
            <a:off x="384048" y="1911095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Why CKKS over BFV, BGV, and TFHE. CKKS supports approximate arithmetic on real-valued floats — directly matching neural network weight format. Other schemes require integer inputs, forcing lossy quantization.</a:t>
            </a:r>
          </a:p>
        </p:txBody>
      </p:sp>
      <p:sp>
        <p:nvSpPr>
          <p:cNvPr id="2" name="rs"/>
          <p:cNvSpPr>
            <a:spLocks noGrp="1"/>
          </p:cNvSpPr>
          <p:nvPr/>
        </p:nvSpPr>
        <p:spPr>
          <a:xfrm>
            <a:off x="228600" y="2240280"/>
            <a:ext cx="562356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sb"/>
          <p:cNvSpPr>
            <a:spLocks noGrp="1"/>
          </p:cNvSpPr>
          <p:nvPr/>
        </p:nvSpPr>
        <p:spPr>
          <a:xfrm>
            <a:off x="228600" y="2240280"/>
            <a:ext cx="109728" cy="56692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sh"/>
          <p:cNvSpPr>
            <a:spLocks noGrp="1"/>
          </p:cNvSpPr>
          <p:nvPr/>
        </p:nvSpPr>
        <p:spPr>
          <a:xfrm>
            <a:off x="384048" y="228600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BE1E2D"/>
                </a:solidFill>
                <a:latin typeface="Calibri"/>
              </a:rPr>
              <a:t>Library Selection Rationale</a:t>
            </a:r>
          </a:p>
        </p:txBody>
      </p:sp>
      <p:sp>
        <p:nvSpPr>
          <p:cNvPr id="34" name="rsb2"/>
          <p:cNvSpPr>
            <a:spLocks noGrp="1"/>
          </p:cNvSpPr>
          <p:nvPr/>
        </p:nvSpPr>
        <p:spPr>
          <a:xfrm>
            <a:off x="384048" y="2523744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Evaluation of Microsoft SEAL vs OpenFHE: API quality, Python bindings, performance benchmarks, documentation depth, and community support. Justify final library choice with data.</a:t>
            </a:r>
          </a:p>
        </p:txBody>
      </p:sp>
      <p:sp>
        <p:nvSpPr>
          <p:cNvPr id="5" name="rs"/>
          <p:cNvSpPr>
            <a:spLocks noGrp="1"/>
          </p:cNvSpPr>
          <p:nvPr/>
        </p:nvSpPr>
        <p:spPr>
          <a:xfrm>
            <a:off x="228600" y="2852928"/>
            <a:ext cx="562356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sb"/>
          <p:cNvSpPr>
            <a:spLocks noGrp="1"/>
          </p:cNvSpPr>
          <p:nvPr/>
        </p:nvSpPr>
        <p:spPr>
          <a:xfrm>
            <a:off x="228600" y="2852928"/>
            <a:ext cx="109728" cy="56692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sh"/>
          <p:cNvSpPr>
            <a:spLocks noGrp="1"/>
          </p:cNvSpPr>
          <p:nvPr/>
        </p:nvSpPr>
        <p:spPr>
          <a:xfrm>
            <a:off x="384048" y="2898648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BE1E2D"/>
                </a:solidFill>
                <a:latin typeface="Calibri"/>
              </a:rPr>
              <a:t>Security Parameter Table</a:t>
            </a:r>
          </a:p>
        </p:txBody>
      </p:sp>
      <p:sp>
        <p:nvSpPr>
          <p:cNvPr id="35" name="rsb2"/>
          <p:cNvSpPr>
            <a:spLocks noGrp="1"/>
          </p:cNvSpPr>
          <p:nvPr/>
        </p:nvSpPr>
        <p:spPr>
          <a:xfrm>
            <a:off x="384048" y="3136392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Polynomial degree N (8192 or 16384), coefficient modulus bit-widths, scale parameter, and resulting security level in bits. Each choice linked to model parameter count shared by IDS team.</a:t>
            </a:r>
          </a:p>
        </p:txBody>
      </p:sp>
      <p:sp>
        <p:nvSpPr>
          <p:cNvPr id="8" name="rs"/>
          <p:cNvSpPr>
            <a:spLocks noGrp="1"/>
          </p:cNvSpPr>
          <p:nvPr/>
        </p:nvSpPr>
        <p:spPr>
          <a:xfrm>
            <a:off x="228600" y="3465576"/>
            <a:ext cx="562356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sb"/>
          <p:cNvSpPr>
            <a:spLocks noGrp="1"/>
          </p:cNvSpPr>
          <p:nvPr/>
        </p:nvSpPr>
        <p:spPr>
          <a:xfrm>
            <a:off x="228600" y="3465576"/>
            <a:ext cx="109728" cy="56692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sh"/>
          <p:cNvSpPr>
            <a:spLocks noGrp="1"/>
          </p:cNvSpPr>
          <p:nvPr/>
        </p:nvSpPr>
        <p:spPr>
          <a:xfrm>
            <a:off x="384048" y="3511296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BE1E2D"/>
                </a:solidFill>
                <a:latin typeface="Calibri"/>
              </a:rPr>
              <a:t>Threat Model Alignment</a:t>
            </a:r>
          </a:p>
        </p:txBody>
      </p:sp>
      <p:sp>
        <p:nvSpPr>
          <p:cNvPr id="36" name="rsb2"/>
          <p:cNvSpPr>
            <a:spLocks noGrp="1"/>
          </p:cNvSpPr>
          <p:nvPr/>
        </p:nvSpPr>
        <p:spPr>
          <a:xfrm>
            <a:off x="384048" y="3749039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Statement of the cryptographic adversary model: honest-but-curious server, semi-honest vehicles, no collusion assumed. Links to overall project threat model from IDS team.</a:t>
            </a:r>
          </a:p>
        </p:txBody>
      </p:sp>
      <p:sp>
        <p:nvSpPr>
          <p:cNvPr id="13" name="rs"/>
          <p:cNvSpPr>
            <a:spLocks noGrp="1"/>
          </p:cNvSpPr>
          <p:nvPr/>
        </p:nvSpPr>
        <p:spPr>
          <a:xfrm>
            <a:off x="228600" y="4078224"/>
            <a:ext cx="562356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sb"/>
          <p:cNvSpPr>
            <a:spLocks noGrp="1"/>
          </p:cNvSpPr>
          <p:nvPr/>
        </p:nvSpPr>
        <p:spPr>
          <a:xfrm>
            <a:off x="228600" y="4078224"/>
            <a:ext cx="109728" cy="56692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sh"/>
          <p:cNvSpPr>
            <a:spLocks noGrp="1"/>
          </p:cNvSpPr>
          <p:nvPr/>
        </p:nvSpPr>
        <p:spPr>
          <a:xfrm>
            <a:off x="384048" y="4123944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dirty="0">
                <a:solidFill>
                  <a:srgbClr val="BE1E2D"/>
                </a:solidFill>
                <a:latin typeface="Calibri"/>
              </a:rPr>
              <a:t>Document</a:t>
            </a:r>
            <a:endParaRPr lang="en-IN" sz="1100" b="1" i="0" dirty="0">
              <a:solidFill>
                <a:srgbClr val="BE1E2D"/>
              </a:solidFill>
              <a:latin typeface="Calibri"/>
            </a:endParaRPr>
          </a:p>
        </p:txBody>
      </p:sp>
      <p:sp>
        <p:nvSpPr>
          <p:cNvPr id="37" name="rsb2"/>
          <p:cNvSpPr>
            <a:spLocks noGrp="1"/>
          </p:cNvSpPr>
          <p:nvPr/>
        </p:nvSpPr>
        <p:spPr>
          <a:xfrm>
            <a:off x="384048" y="436168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</a:defRPr>
            </a:pPr>
            <a:r>
              <a:rPr lang="en-US" sz="1000" dirty="0"/>
              <a:t>Document assumptions, limits, and what the encrypted aggregation API must support.</a:t>
            </a:r>
          </a:p>
        </p:txBody>
      </p:sp>
      <p:sp>
        <p:nvSpPr>
          <p:cNvPr id="60" name="rhdr"/>
          <p:cNvSpPr>
            <a:spLocks noGrp="1"/>
          </p:cNvSpPr>
          <p:nvPr/>
        </p:nvSpPr>
        <p:spPr>
          <a:xfrm>
            <a:off x="6035040" y="777240"/>
            <a:ext cx="58978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rhdrtxt"/>
          <p:cNvSpPr>
            <a:spLocks noGrp="1"/>
          </p:cNvSpPr>
          <p:nvPr/>
        </p:nvSpPr>
        <p:spPr>
          <a:xfrm>
            <a:off x="6053328" y="795528"/>
            <a:ext cx="58613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300" b="1" i="0" dirty="0">
                <a:solidFill>
                  <a:srgbClr val="FFFFFF"/>
                </a:solidFill>
                <a:latin typeface="Calibri"/>
              </a:rPr>
              <a:t>Deliverable 2: Baseline Performance Benchmarking</a:t>
            </a:r>
          </a:p>
        </p:txBody>
      </p:sp>
      <p:sp>
        <p:nvSpPr>
          <p:cNvPr id="62" name="rdesc"/>
          <p:cNvSpPr>
            <a:spLocks noGrp="1"/>
          </p:cNvSpPr>
          <p:nvPr/>
        </p:nvSpPr>
        <p:spPr>
          <a:xfrm>
            <a:off x="6035040" y="1216152"/>
            <a:ext cx="5897880" cy="347472"/>
          </a:xfrm>
          <a:prstGeom prst="rect">
            <a:avLst/>
          </a:prstGeom>
          <a:solidFill>
            <a:srgbClr val="FFF8F8"/>
          </a:solidFill>
          <a:ln w="12700">
            <a:solidFill>
              <a:srgbClr val="BE1E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rdesct"/>
          <p:cNvSpPr>
            <a:spLocks noGrp="1"/>
          </p:cNvSpPr>
          <p:nvPr/>
        </p:nvSpPr>
        <p:spPr>
          <a:xfrm>
            <a:off x="6080760" y="1234440"/>
            <a:ext cx="58064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0" i="1" dirty="0">
                <a:solidFill>
                  <a:srgbClr val="BE1E2D"/>
                </a:solidFill>
                <a:latin typeface="Calibri"/>
              </a:rPr>
              <a:t>Empirical measurement of FHE operation costs on actual hardware — not theory.</a:t>
            </a:r>
          </a:p>
        </p:txBody>
      </p:sp>
      <p:sp>
        <p:nvSpPr>
          <p:cNvPr id="64" name="wh"/>
          <p:cNvSpPr>
            <a:spLocks noGrp="1"/>
          </p:cNvSpPr>
          <p:nvPr/>
        </p:nvSpPr>
        <p:spPr>
          <a:xfrm>
            <a:off x="6053328" y="1627632"/>
            <a:ext cx="58613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1A1A1A"/>
                </a:solidFill>
                <a:latin typeface="Calibri"/>
              </a:rPr>
              <a:t>What it is:</a:t>
            </a:r>
          </a:p>
        </p:txBody>
      </p:sp>
      <p:sp>
        <p:nvSpPr>
          <p:cNvPr id="65" name="whb"/>
          <p:cNvSpPr>
            <a:spLocks noGrp="1"/>
          </p:cNvSpPr>
          <p:nvPr/>
        </p:nvSpPr>
        <p:spPr>
          <a:xfrm>
            <a:off x="6053328" y="1901952"/>
            <a:ext cx="5861304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050" b="0" i="0" dirty="0">
                <a:solidFill>
                  <a:srgbClr val="404040"/>
                </a:solidFill>
                <a:latin typeface="Calibri"/>
              </a:rPr>
              <a:t>A set of timed experiments that answer: given our model size and CKKS parameters, how long does encryption take? How large are the ciphertexts? Is this feasible for real-time V2X use?</a:t>
            </a:r>
          </a:p>
        </p:txBody>
      </p:sp>
      <p:sp>
        <p:nvSpPr>
          <p:cNvPr id="66" name="how"/>
          <p:cNvSpPr>
            <a:spLocks noGrp="1"/>
          </p:cNvSpPr>
          <p:nvPr/>
        </p:nvSpPr>
        <p:spPr>
          <a:xfrm>
            <a:off x="6053328" y="2395728"/>
            <a:ext cx="58613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1100" b="1" i="0" dirty="0">
                <a:solidFill>
                  <a:srgbClr val="1A1A1A"/>
                </a:solidFill>
                <a:latin typeface="Calibri"/>
              </a:rPr>
              <a:t>How it will be done — step by step:</a:t>
            </a:r>
          </a:p>
        </p:txBody>
      </p:sp>
      <p:sp>
        <p:nvSpPr>
          <p:cNvPr id="70" name="st"/>
          <p:cNvSpPr>
            <a:spLocks noGrp="1"/>
          </p:cNvSpPr>
          <p:nvPr/>
        </p:nvSpPr>
        <p:spPr>
          <a:xfrm>
            <a:off x="6035040" y="2697480"/>
            <a:ext cx="5897880" cy="438912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stb"/>
          <p:cNvSpPr>
            <a:spLocks noGrp="1"/>
          </p:cNvSpPr>
          <p:nvPr/>
        </p:nvSpPr>
        <p:spPr>
          <a:xfrm>
            <a:off x="6035040" y="2697480"/>
            <a:ext cx="411480" cy="43891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sth"/>
          <p:cNvSpPr>
            <a:spLocks noGrp="1"/>
          </p:cNvSpPr>
          <p:nvPr/>
        </p:nvSpPr>
        <p:spPr>
          <a:xfrm>
            <a:off x="6053328" y="2734056"/>
            <a:ext cx="374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3" name="stv"/>
          <p:cNvSpPr>
            <a:spLocks noGrp="1"/>
          </p:cNvSpPr>
          <p:nvPr/>
        </p:nvSpPr>
        <p:spPr>
          <a:xfrm>
            <a:off x="6492240" y="273405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Install Microsoft SEAL + OpenFHE. Run provided example programs to verify installation.</a:t>
            </a:r>
          </a:p>
        </p:txBody>
      </p:sp>
      <p:sp>
        <p:nvSpPr>
          <p:cNvPr id="16" name="st"/>
          <p:cNvSpPr>
            <a:spLocks noGrp="1"/>
          </p:cNvSpPr>
          <p:nvPr/>
        </p:nvSpPr>
        <p:spPr>
          <a:xfrm>
            <a:off x="6035040" y="3182112"/>
            <a:ext cx="5897880" cy="438912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tb"/>
          <p:cNvSpPr>
            <a:spLocks noGrp="1"/>
          </p:cNvSpPr>
          <p:nvPr/>
        </p:nvSpPr>
        <p:spPr>
          <a:xfrm>
            <a:off x="6035040" y="3182112"/>
            <a:ext cx="411480" cy="43891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sth"/>
          <p:cNvSpPr>
            <a:spLocks noGrp="1"/>
          </p:cNvSpPr>
          <p:nvPr/>
        </p:nvSpPr>
        <p:spPr>
          <a:xfrm>
            <a:off x="6053328" y="3218688"/>
            <a:ext cx="374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74" name="stv"/>
          <p:cNvSpPr>
            <a:spLocks noGrp="1"/>
          </p:cNvSpPr>
          <p:nvPr/>
        </p:nvSpPr>
        <p:spPr>
          <a:xfrm>
            <a:off x="6492240" y="321868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Write a benchmark script: create random float32 vectors of sizes 1K, 10K, 50K (matching IDS model scale).</a:t>
            </a:r>
          </a:p>
        </p:txBody>
      </p:sp>
      <p:sp>
        <p:nvSpPr>
          <p:cNvPr id="19" name="st"/>
          <p:cNvSpPr>
            <a:spLocks noGrp="1"/>
          </p:cNvSpPr>
          <p:nvPr/>
        </p:nvSpPr>
        <p:spPr>
          <a:xfrm>
            <a:off x="6035040" y="3666744"/>
            <a:ext cx="5897880" cy="438912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tb"/>
          <p:cNvSpPr>
            <a:spLocks noGrp="1"/>
          </p:cNvSpPr>
          <p:nvPr/>
        </p:nvSpPr>
        <p:spPr>
          <a:xfrm>
            <a:off x="6035040" y="3666744"/>
            <a:ext cx="411480" cy="43891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sth"/>
          <p:cNvSpPr>
            <a:spLocks noGrp="1"/>
          </p:cNvSpPr>
          <p:nvPr/>
        </p:nvSpPr>
        <p:spPr>
          <a:xfrm>
            <a:off x="6053328" y="3703320"/>
            <a:ext cx="374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75" name="stv"/>
          <p:cNvSpPr>
            <a:spLocks noGrp="1"/>
          </p:cNvSpPr>
          <p:nvPr/>
        </p:nvSpPr>
        <p:spPr>
          <a:xfrm>
            <a:off x="6492240" y="37033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For each vector size — measure: (a) Encryption time, (b) Ciphertext size in KB, (c) Homomorphic addition time (2 ciphertexts), (d) Decryption time.</a:t>
            </a:r>
          </a:p>
        </p:txBody>
      </p:sp>
      <p:sp>
        <p:nvSpPr>
          <p:cNvPr id="26" name="st"/>
          <p:cNvSpPr>
            <a:spLocks noGrp="1"/>
          </p:cNvSpPr>
          <p:nvPr/>
        </p:nvSpPr>
        <p:spPr>
          <a:xfrm>
            <a:off x="6035040" y="4151376"/>
            <a:ext cx="5897880" cy="438912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tb"/>
          <p:cNvSpPr>
            <a:spLocks noGrp="1"/>
          </p:cNvSpPr>
          <p:nvPr/>
        </p:nvSpPr>
        <p:spPr>
          <a:xfrm>
            <a:off x="6035040" y="4151376"/>
            <a:ext cx="411480" cy="43891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sth"/>
          <p:cNvSpPr>
            <a:spLocks noGrp="1"/>
          </p:cNvSpPr>
          <p:nvPr/>
        </p:nvSpPr>
        <p:spPr>
          <a:xfrm>
            <a:off x="6053328" y="4187952"/>
            <a:ext cx="374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76" name="stv"/>
          <p:cNvSpPr>
            <a:spLocks noGrp="1"/>
          </p:cNvSpPr>
          <p:nvPr/>
        </p:nvSpPr>
        <p:spPr>
          <a:xfrm>
            <a:off x="6492240" y="418795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Verify correctness: decrypted result must match plaintext sum within CKKS tolerance. Record error magnitude.</a:t>
            </a:r>
          </a:p>
        </p:txBody>
      </p:sp>
      <p:sp>
        <p:nvSpPr>
          <p:cNvPr id="29" name="st"/>
          <p:cNvSpPr>
            <a:spLocks noGrp="1"/>
          </p:cNvSpPr>
          <p:nvPr/>
        </p:nvSpPr>
        <p:spPr>
          <a:xfrm>
            <a:off x="6035040" y="4636008"/>
            <a:ext cx="5897880" cy="438912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stb"/>
          <p:cNvSpPr>
            <a:spLocks noGrp="1"/>
          </p:cNvSpPr>
          <p:nvPr/>
        </p:nvSpPr>
        <p:spPr>
          <a:xfrm>
            <a:off x="6035040" y="4636008"/>
            <a:ext cx="411480" cy="43891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sth"/>
          <p:cNvSpPr>
            <a:spLocks noGrp="1"/>
          </p:cNvSpPr>
          <p:nvPr/>
        </p:nvSpPr>
        <p:spPr>
          <a:xfrm>
            <a:off x="6053328" y="4672584"/>
            <a:ext cx="3749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950" b="1" i="0" dirty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77" name="stv"/>
          <p:cNvSpPr>
            <a:spLocks noGrp="1"/>
          </p:cNvSpPr>
          <p:nvPr/>
        </p:nvSpPr>
        <p:spPr>
          <a:xfrm>
            <a:off x="6492240" y="467258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lvl="0">
              <a:buNone/>
            </a:pPr>
            <a:r>
              <a:rPr lang="en-IN" sz="980" b="0" i="0" dirty="0">
                <a:solidFill>
                  <a:srgbClr val="404040"/>
                </a:solidFill>
                <a:latin typeface="Calibri"/>
              </a:rPr>
              <a:t>Plot results as bar charts. Identify if any operation exceeds the V2X round-trip budget (target: under 500ms total per FL round).</a:t>
            </a:r>
          </a:p>
        </p:txBody>
      </p:sp>
      <p:sp>
        <p:nvSpPr>
          <p:cNvPr id="90" name="deliv"/>
          <p:cNvSpPr>
            <a:spLocks noGrp="1"/>
          </p:cNvSpPr>
          <p:nvPr/>
        </p:nvSpPr>
        <p:spPr>
          <a:xfrm>
            <a:off x="228600" y="5074920"/>
            <a:ext cx="11704320" cy="41148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delivtxt"/>
          <p:cNvSpPr>
            <a:spLocks noGrp="1"/>
          </p:cNvSpPr>
          <p:nvPr/>
        </p:nvSpPr>
        <p:spPr>
          <a:xfrm>
            <a:off x="274320" y="5093208"/>
            <a:ext cx="11612880" cy="37490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lvl="0">
              <a:buNone/>
            </a:pPr>
            <a:r>
              <a:rPr lang="en-IN" sz="1100" b="1" i="0" dirty="0">
                <a:solidFill>
                  <a:srgbClr val="FFFFFF"/>
                </a:solidFill>
                <a:latin typeface="Calibri"/>
              </a:rPr>
              <a:t>Both documents are submitted at the end of Month 2. Together they form the FHE team's formal evidence that the chosen approach is secure, correct, and computationally feasible.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1260</Words>
  <Application>Microsoft Office PowerPoint</Application>
  <PresentationFormat>Widescreen</PresentationFormat>
  <Paragraphs>119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Uma Maheswari S - [Cyber Security]</dc:creator>
  <cp:lastModifiedBy>Saurango J Khound</cp:lastModifiedBy>
  <cp:revision>5</cp:revision>
  <dcterms:created xsi:type="dcterms:W3CDTF">2026-05-08T09:13:32Z</dcterms:created>
  <dcterms:modified xsi:type="dcterms:W3CDTF">2026-05-11T18:44:10Z</dcterms:modified>
</cp:coreProperties>
</file>