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5" r:id="rId4"/>
    <p:sldId id="266" r:id="rId5"/>
    <p:sldId id="257" r:id="rId6"/>
    <p:sldId id="261" r:id="rId7"/>
    <p:sldId id="267" r:id="rId8"/>
    <p:sldId id="268" r:id="rId9"/>
    <p:sldId id="269" r:id="rId10"/>
    <p:sldId id="270" r:id="rId11"/>
    <p:sldId id="275" r:id="rId12"/>
    <p:sldId id="260" r:id="rId13"/>
    <p:sldId id="271" r:id="rId14"/>
    <p:sldId id="274" r:id="rId15"/>
    <p:sldId id="272" r:id="rId16"/>
    <p:sldId id="273" r:id="rId17"/>
    <p:sldId id="263" r:id="rId18"/>
    <p:sldId id="262" r:id="rId19"/>
    <p:sldId id="264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10-07-2026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10-07-2026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10-07-2026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088" y="379928"/>
            <a:ext cx="9608712" cy="1334572"/>
          </a:xfrm>
        </p:spPr>
        <p:txBody>
          <a:bodyPr>
            <a:noAutofit/>
          </a:bodyPr>
          <a:lstStyle/>
          <a:p>
            <a:r>
              <a:rPr lang="en-IN" sz="4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15F4-9DBA-420D-A113-39DAD4DABE0C}"/>
              </a:ext>
            </a:extLst>
          </p:cNvPr>
          <p:cNvSpPr txBox="1"/>
          <p:nvPr/>
        </p:nvSpPr>
        <p:spPr>
          <a:xfrm>
            <a:off x="1984075" y="2475781"/>
            <a:ext cx="8997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Privacy Preserving Collaborative IDS for Internet of vehicle networks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18ACC-BB5E-44C5-A5B0-CDB43B565186}"/>
              </a:ext>
            </a:extLst>
          </p:cNvPr>
          <p:cNvSpPr txBox="1"/>
          <p:nvPr/>
        </p:nvSpPr>
        <p:spPr>
          <a:xfrm>
            <a:off x="1130060" y="3873260"/>
            <a:ext cx="226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Thanking,</a:t>
            </a:r>
          </a:p>
          <a:p>
            <a:r>
              <a:rPr lang="en-US" dirty="0"/>
              <a:t>Dr. Durga</a:t>
            </a:r>
          </a:p>
          <a:p>
            <a:r>
              <a:rPr lang="en-US" dirty="0"/>
              <a:t>Dr. Uma</a:t>
            </a:r>
          </a:p>
          <a:p>
            <a:r>
              <a:rPr lang="en-US" dirty="0"/>
              <a:t>Dr. </a:t>
            </a:r>
            <a:r>
              <a:rPr lang="en-US" dirty="0" err="1"/>
              <a:t>Anusuya</a:t>
            </a:r>
            <a:endParaRPr lang="en-US" dirty="0"/>
          </a:p>
          <a:p>
            <a:r>
              <a:rPr lang="en-US" dirty="0"/>
              <a:t>Dr. Praveen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Recap</a:t>
            </a:r>
            <a:r>
              <a:rPr dirty="0"/>
              <a:t> from Last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067718"/>
            <a:ext cx="10276332" cy="3590132"/>
          </a:xfrm>
        </p:spPr>
        <p:txBody>
          <a:bodyPr>
            <a:normAutofit/>
          </a:bodyPr>
          <a:lstStyle/>
          <a:p>
            <a:r>
              <a:rPr lang="en-IN" sz="2400" dirty="0"/>
              <a:t>Proposed the </a:t>
            </a:r>
            <a:r>
              <a:rPr lang="en-IN" sz="2400" b="1" dirty="0" err="1"/>
              <a:t>KANConvNet</a:t>
            </a:r>
            <a:r>
              <a:rPr lang="en-IN" sz="2400" dirty="0"/>
              <a:t> architecture as the baseline intrusion detection model. </a:t>
            </a:r>
          </a:p>
          <a:p>
            <a:r>
              <a:rPr lang="en-IN" sz="2400" dirty="0"/>
              <a:t>Adopted </a:t>
            </a:r>
            <a:r>
              <a:rPr lang="en-IN" sz="2400" b="1" dirty="0"/>
              <a:t>Selective (Layer-wise) Fully Homomorphic Encryption (FHE)</a:t>
            </a:r>
            <a:r>
              <a:rPr lang="en-IN" sz="2400" dirty="0"/>
              <a:t> to encrypt only sensitive model layers during federated aggregation. </a:t>
            </a:r>
          </a:p>
          <a:p>
            <a:r>
              <a:rPr lang="en-IN" sz="2400" dirty="0"/>
              <a:t>Secured client-server communication using </a:t>
            </a:r>
            <a:r>
              <a:rPr lang="en-IN" sz="2400" b="1" dirty="0"/>
              <a:t>ECDH</a:t>
            </a:r>
            <a:r>
              <a:rPr lang="en-IN" sz="2400" dirty="0"/>
              <a:t> for key exchange and </a:t>
            </a:r>
            <a:r>
              <a:rPr lang="en-IN" sz="2400" b="1" dirty="0"/>
              <a:t>AES-256-GCM</a:t>
            </a:r>
            <a:r>
              <a:rPr lang="en-IN" sz="2400" dirty="0"/>
              <a:t> for encrypted data transmission. </a:t>
            </a:r>
          </a:p>
          <a:p>
            <a:r>
              <a:rPr lang="en-IN" sz="2400" dirty="0"/>
              <a:t>Reviewed the </a:t>
            </a:r>
            <a:r>
              <a:rPr lang="en-IN" sz="2400" b="1" dirty="0"/>
              <a:t>Federated Learning</a:t>
            </a:r>
            <a:r>
              <a:rPr lang="en-IN" sz="2400" dirty="0"/>
              <a:t> workflow, including dataset integration, client-server architecture, and secure model aggregation.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63D-162B-E43D-5E13-810027DE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3760-F4B4-6A15-F5F2-2AC2DEF4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Content: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C718-BADA-6FDE-E6E0-12C87E05FD8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915865" y="2209508"/>
            <a:ext cx="8705850" cy="781049"/>
          </a:xfrm>
        </p:spPr>
        <p:txBody>
          <a:bodyPr>
            <a:noAutofit/>
          </a:bodyPr>
          <a:lstStyle/>
          <a:p>
            <a:r>
              <a:rPr sz="2000" dirty="0"/>
              <a:t>1. High-Level Architecture (The Pipeline)</a:t>
            </a:r>
          </a:p>
          <a:p>
            <a:r>
              <a:rPr sz="2000" dirty="0"/>
              <a:t>2. Pure Chebyshev Polynomial KAN (</a:t>
            </a:r>
            <a:r>
              <a:rPr sz="2000" dirty="0" err="1"/>
              <a:t>ChebyKAN</a:t>
            </a:r>
            <a:r>
              <a:rPr sz="2000" dirty="0"/>
              <a:t>) Trunk</a:t>
            </a:r>
          </a:p>
          <a:p>
            <a:r>
              <a:rPr sz="2000" dirty="0"/>
              <a:t>3. Full Layer-wise Homomorphic Federated Learning (FHE)</a:t>
            </a:r>
          </a:p>
          <a:p>
            <a:r>
              <a:rPr sz="2000" dirty="0"/>
              <a:t>4. Robust Outlier Aggregation (Multi-Krum on Ciphertexts)</a:t>
            </a:r>
          </a:p>
          <a:p>
            <a:r>
              <a:rPr sz="2000" dirty="0"/>
              <a:t>5. Proof of Work &amp; Federated Simulation Report</a:t>
            </a:r>
          </a:p>
        </p:txBody>
      </p:sp>
    </p:spTree>
    <p:extLst>
      <p:ext uri="{BB962C8B-B14F-4D97-AF65-F5344CB8AC3E}">
        <p14:creationId xmlns:p14="http://schemas.microsoft.com/office/powerpoint/2010/main" val="290556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3D2-8528-C299-6C78-ED0A73F6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F57-0CCE-FC58-BEA8-564681307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Overall Architecture(phases):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C27B-54A5-47C5-2D69-F961037E5E3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2673" y="1761452"/>
            <a:ext cx="8705850" cy="4108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Phase 1: </a:t>
            </a:r>
            <a:r>
              <a:rPr sz="1800" dirty="0"/>
              <a:t>Pure Chebyshev Polynomial KAN Model</a:t>
            </a:r>
          </a:p>
          <a:p>
            <a:pPr marL="0" indent="0">
              <a:buNone/>
            </a:pPr>
            <a:r>
              <a:rPr sz="1800" dirty="0"/>
              <a:t>• Input Normalization Layer mapping features to [-1, 1]</a:t>
            </a:r>
          </a:p>
          <a:p>
            <a:pPr marL="0" indent="0">
              <a:buNone/>
            </a:pPr>
            <a:r>
              <a:rPr sz="1800" dirty="0"/>
              <a:t>• Input Chebyshev KAN Linear Layer (46 features -&gt; 64 hidden nodes)</a:t>
            </a:r>
          </a:p>
          <a:p>
            <a:pPr marL="0" indent="0">
              <a:buNone/>
            </a:pPr>
            <a:r>
              <a:rPr sz="1800" dirty="0"/>
              <a:t>• Hidden Chebyshev KAN Linear Layers with </a:t>
            </a:r>
            <a:r>
              <a:rPr sz="1800" dirty="0" err="1"/>
              <a:t>LayerNorm</a:t>
            </a:r>
            <a:r>
              <a:rPr sz="1800" dirty="0"/>
              <a:t> and Dropout</a:t>
            </a:r>
          </a:p>
          <a:p>
            <a:pPr marL="0" indent="0">
              <a:buNone/>
            </a:pPr>
            <a:r>
              <a:rPr sz="1800" dirty="0"/>
              <a:t>• Output Chebyshev KAN Linear Layer mapping to class outputs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Phase 2: </a:t>
            </a:r>
            <a:r>
              <a:rPr sz="1800" dirty="0"/>
              <a:t>Layer-wise Homomorphic Federated Learning</a:t>
            </a:r>
          </a:p>
          <a:p>
            <a:pPr marL="0" indent="0">
              <a:buNone/>
            </a:pPr>
            <a:r>
              <a:rPr sz="1800" dirty="0"/>
              <a:t>• Dirichlet Non-IID Client Partitions (alpha = 0.3)</a:t>
            </a:r>
          </a:p>
          <a:p>
            <a:pPr marL="0" indent="0">
              <a:buNone/>
            </a:pPr>
            <a:r>
              <a:rPr sz="1800" dirty="0"/>
              <a:t>• Full Layer-wise FHE Encryption (Each weight/bias tensor encrypted separately)</a:t>
            </a:r>
          </a:p>
          <a:p>
            <a:pPr marL="0" indent="0">
              <a:buNone/>
            </a:pPr>
            <a:r>
              <a:rPr sz="1800" dirty="0"/>
              <a:t>• Robust Aggregator: Homomorphic </a:t>
            </a:r>
            <a:r>
              <a:rPr sz="1800" dirty="0" err="1"/>
              <a:t>FedAvg</a:t>
            </a:r>
            <a:r>
              <a:rPr sz="1800" dirty="0"/>
              <a:t> + Multi-Krum on FHE updates</a:t>
            </a:r>
          </a:p>
        </p:txBody>
      </p:sp>
    </p:spTree>
    <p:extLst>
      <p:ext uri="{BB962C8B-B14F-4D97-AF65-F5344CB8AC3E}">
        <p14:creationId xmlns:p14="http://schemas.microsoft.com/office/powerpoint/2010/main" val="38687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High-Level Architecture (The Pipeline)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D675F-801B-40E8-9408-0C378AA6A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8908" y="2051510"/>
            <a:ext cx="9466127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Goal: </a:t>
            </a:r>
            <a:r>
              <a:rPr sz="2000" dirty="0"/>
              <a:t>Perform secure, privacy-preserving collaborative learning with every model layer/parameter fully encrypted under FHE, eliminating transport-layer ECDH/AES security overhead.</a:t>
            </a:r>
          </a:p>
          <a:p>
            <a:pPr marL="0" indent="0">
              <a:buNone/>
            </a:pPr>
            <a:r>
              <a:rPr sz="2000" dirty="0"/>
              <a:t>• Step 1: Preprocess and scale datasets (percentile clipping, z-score)</a:t>
            </a:r>
          </a:p>
          <a:p>
            <a:pPr marL="0" indent="0">
              <a:buNone/>
            </a:pPr>
            <a:r>
              <a:rPr sz="2000" dirty="0"/>
              <a:t>• Step 2: Dirichlet non-IID client sharding (alpha = 0.3)</a:t>
            </a:r>
          </a:p>
          <a:p>
            <a:pPr marL="0" indent="0">
              <a:buNone/>
            </a:pPr>
            <a:r>
              <a:rPr sz="2000" dirty="0"/>
              <a:t>• Step 3: Initialize Global Model (</a:t>
            </a:r>
            <a:r>
              <a:rPr sz="2000" dirty="0" err="1"/>
              <a:t>ChebyKAN</a:t>
            </a:r>
            <a:r>
              <a:rPr sz="2000" dirty="0"/>
              <a:t>) and register client vehicles</a:t>
            </a:r>
          </a:p>
          <a:p>
            <a:pPr marL="0" indent="0">
              <a:buNone/>
            </a:pPr>
            <a:r>
              <a:rPr sz="2000" dirty="0"/>
              <a:t>• Step 4: Encrypt Global Model layers separately under FHE (Simulated </a:t>
            </a:r>
            <a:r>
              <a:rPr sz="2000" dirty="0" err="1"/>
              <a:t>CKKSVector</a:t>
            </a:r>
            <a:r>
              <a:rPr sz="2000" dirty="0"/>
              <a:t>)</a:t>
            </a:r>
          </a:p>
          <a:p>
            <a:pPr marL="0" indent="0">
              <a:buNone/>
            </a:pPr>
            <a:r>
              <a:rPr sz="2000" dirty="0"/>
              <a:t>• Step 5: Broadcast global layer-wise FHE ciphertexts to active clients</a:t>
            </a:r>
          </a:p>
          <a:p>
            <a:pPr marL="0" indent="0">
              <a:buNone/>
            </a:pPr>
            <a:r>
              <a:rPr sz="2000" dirty="0"/>
              <a:t>• Step 6: Perform local client training and package layer-wise FHE client updates</a:t>
            </a:r>
          </a:p>
          <a:p>
            <a:pPr marL="0" indent="0">
              <a:buNone/>
            </a:pPr>
            <a:r>
              <a:rPr sz="2000" dirty="0"/>
              <a:t>• Step 7: Homomorphic </a:t>
            </a:r>
            <a:r>
              <a:rPr sz="2000" dirty="0" err="1"/>
              <a:t>FedAvg</a:t>
            </a:r>
            <a:r>
              <a:rPr sz="2000" dirty="0"/>
              <a:t> + Multi-Krum aggregation layer-by-layer directly on ciphertexts</a:t>
            </a: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Data Unification &amp; Real-World Simulation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2850-DFF4-4C2D-B5DB-E08B7B57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6434" y="2256883"/>
            <a:ext cx="9819132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dirty="0"/>
              <a:t>Datasets Unified: CAN-VTC, Car-Hacking, CICIDS 2017, and VeReMi.</a:t>
            </a:r>
          </a:p>
          <a:p>
            <a:pPr marL="0" indent="0">
              <a:buNone/>
            </a:pPr>
            <a:r>
              <a:rPr sz="2000" dirty="0"/>
              <a:t>• Stratified Splitting: 70% Train | 15% Validation | 15% Test.</a:t>
            </a:r>
          </a:p>
          <a:p>
            <a:pPr marL="0" indent="0">
              <a:buNone/>
            </a:pPr>
            <a:r>
              <a:rPr sz="2000" dirty="0"/>
              <a:t>• Preprocessing stats (z-score, clipping) fitted strictly on training split to prevent data leakage.</a:t>
            </a:r>
          </a:p>
          <a:p>
            <a:pPr marL="0" indent="0">
              <a:buNone/>
            </a:pPr>
            <a:r>
              <a:rPr sz="2000" dirty="0"/>
              <a:t>Simulating the Fleet (Non-IID Distribution):</a:t>
            </a:r>
            <a:endParaRPr lang="en-US" sz="2000" dirty="0"/>
          </a:p>
          <a:p>
            <a:r>
              <a:rPr sz="2000" dirty="0"/>
              <a:t>Dirichlet allocation (alpha = 0.3) shards training sets.</a:t>
            </a:r>
          </a:p>
          <a:p>
            <a:pPr marL="0" indent="0">
              <a:buNone/>
            </a:pPr>
            <a:r>
              <a:rPr sz="2000" dirty="0"/>
              <a:t>• Distributes data unevenly across simulated client nodes (N = 10 clients in current run).</a:t>
            </a:r>
          </a:p>
          <a:p>
            <a:pPr marL="0" indent="0">
              <a:buNone/>
            </a:pPr>
            <a:r>
              <a:rPr sz="2000" dirty="0"/>
              <a:t>• Emulates class skew representing real-world Internet of Vehicles (</a:t>
            </a:r>
            <a:r>
              <a:rPr sz="2000" dirty="0" err="1"/>
              <a:t>IoV</a:t>
            </a:r>
            <a:r>
              <a:rPr sz="2000" dirty="0"/>
              <a:t>)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58021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9D5-0F9F-3543-05B1-D12A020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41417" cy="13799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Unified Dataset Adapter Interface: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 descr="The provided text appears to be a snippet from a Python code, specifically a function definition for processing and preparing data from CAN-bus message attributes for machine learning tasks.&#10;&#10;AI-generated content may be incorrect.">
            <a:extLst>
              <a:ext uri="{FF2B5EF4-FFF2-40B4-BE49-F238E27FC236}">
                <a16:creationId xmlns:a16="http://schemas.microsoft.com/office/drawing/2014/main" id="{AC91120D-3D69-AE9F-BE71-FFA5BE8B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80" y="2029250"/>
            <a:ext cx="6279367" cy="399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6C8-B94C-3905-3B3F-E513483D3CE3}"/>
              </a:ext>
            </a:extLst>
          </p:cNvPr>
          <p:cNvSpPr txBox="1"/>
          <p:nvPr/>
        </p:nvSpPr>
        <p:spPr>
          <a:xfrm>
            <a:off x="8139448" y="2223632"/>
            <a:ext cx="36109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how raw data sources are read and converted into sliding windows of message streams.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6EC9-16D7-7FFC-DD71-6D11A13F90D0}"/>
              </a:ext>
            </a:extLst>
          </p:cNvPr>
          <p:cNvSpPr txBox="1"/>
          <p:nvPr/>
        </p:nvSpPr>
        <p:spPr>
          <a:xfrm>
            <a:off x="8139448" y="3618706"/>
            <a:ext cx="3895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in </a:t>
            </a:r>
          </a:p>
          <a:p>
            <a:r>
              <a:rPr lang="en-US" dirty="0"/>
              <a:t>can_vtc_dataset.py</a:t>
            </a:r>
          </a:p>
          <a:p>
            <a:r>
              <a:rPr lang="en-US" dirty="0"/>
              <a:t> (and similarly for other logs), raw logs are parsed into </a:t>
            </a:r>
            <a:r>
              <a:rPr lang="en-US" dirty="0" err="1"/>
              <a:t>numpy</a:t>
            </a:r>
            <a:r>
              <a:rPr lang="en-US" dirty="0"/>
              <a:t> arrays, windowed, and labeled dynamically.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7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B1B3-7243-28AB-7EB9-B05A4F1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934-8085-7842-AB8F-EE47353D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830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Unifying Heterogeneous Data to a Timeless 46-D Feature Vector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 descr="The image depicts a segment of code with a function named `extract_window_features`, which calculates a 46-dimensional feature vector from input parameters: `can_ids`, `dlc`, and `payload`.&#10;&#10;AI-generated content may be incorrect.">
            <a:extLst>
              <a:ext uri="{FF2B5EF4-FFF2-40B4-BE49-F238E27FC236}">
                <a16:creationId xmlns:a16="http://schemas.microsoft.com/office/drawing/2014/main" id="{D4638FC7-41AA-4F57-17FE-634030F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8" y="1774401"/>
            <a:ext cx="4779033" cy="4836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9868E-E1F4-71A6-AF92-287FF22FE493}"/>
              </a:ext>
            </a:extLst>
          </p:cNvPr>
          <p:cNvSpPr txBox="1"/>
          <p:nvPr/>
        </p:nvSpPr>
        <p:spPr>
          <a:xfrm>
            <a:off x="6703453" y="2493986"/>
            <a:ext cx="524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the mathematical/structural representation of the timeless CAN descriptors (from can_features.py) that enables dataset-agnostic training.</a:t>
            </a:r>
            <a:endParaRPr lang="en-IN" dirty="0"/>
          </a:p>
        </p:txBody>
      </p:sp>
      <p:pic>
        <p:nvPicPr>
          <p:cNvPr id="11" name="Content Placeholder 4" descr="The image displays a data table with various statistics related to CAN (Controller Area Network) message IDs, including payload bytes, normalized values, standard deviation, ratio, frequency, histogram, entropy, and non-zero payload byte ratio, totaling 46 entries.&#10;&#10;AI-generated content may be incorrect.">
            <a:extLst>
              <a:ext uri="{FF2B5EF4-FFF2-40B4-BE49-F238E27FC236}">
                <a16:creationId xmlns:a16="http://schemas.microsoft.com/office/drawing/2014/main" id="{8182FD73-CD0C-B739-B5C7-C24732DD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0873" y="4223187"/>
            <a:ext cx="6043244" cy="23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0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749A-0591-B234-B78F-DB1DA69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95A5-CF7E-3EAD-55B5-D6B3FF12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Normalization &amp; Preprocessing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 descr="The image depicts a code snippet from a Python script that performs data preprocessing for machine learning, including stratified splitting, percentile clipping, z-score standardization, and creation of PyTorch datasets.&#10;&#10;AI-generated content may be incorrect.">
            <a:extLst>
              <a:ext uri="{FF2B5EF4-FFF2-40B4-BE49-F238E27FC236}">
                <a16:creationId xmlns:a16="http://schemas.microsoft.com/office/drawing/2014/main" id="{3AFEFB20-E8ED-8AC6-67AC-1394405A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801744"/>
            <a:ext cx="6296218" cy="4386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2BDD6-9723-948D-5AC2-A6D91AC5B5C6}"/>
              </a:ext>
            </a:extLst>
          </p:cNvPr>
          <p:cNvSpPr txBox="1"/>
          <p:nvPr/>
        </p:nvSpPr>
        <p:spPr>
          <a:xfrm>
            <a:off x="7632342" y="2571259"/>
            <a:ext cx="449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how the splits are scaled identically to avoid data leakage (from build_dataset.py).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86BA-7080-B19B-3034-AC03652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7F7B-4793-17CB-1A8B-6A935C7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Dirichlet:</a:t>
            </a:r>
          </a:p>
        </p:txBody>
      </p:sp>
      <p:pic>
        <p:nvPicPr>
          <p:cNvPr id="7" name="Picture 6" descr="The code snippet is a Python script for distributing a dataset across multiple clients, where each client receives a shard of data for each class, proportionally determined by a Dirichlet distribution.&#10;&#10;AI-generated content may be incorrect.">
            <a:extLst>
              <a:ext uri="{FF2B5EF4-FFF2-40B4-BE49-F238E27FC236}">
                <a16:creationId xmlns:a16="http://schemas.microsoft.com/office/drawing/2014/main" id="{37AC98F9-9823-2DF3-D1D4-E4145FB8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89" y="1839531"/>
            <a:ext cx="6192432" cy="4084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E7ACAF-6E17-7E88-CBCE-9543005CAB91}"/>
              </a:ext>
            </a:extLst>
          </p:cNvPr>
          <p:cNvSpPr txBox="1"/>
          <p:nvPr/>
        </p:nvSpPr>
        <p:spPr>
          <a:xfrm>
            <a:off x="7479942" y="2352215"/>
            <a:ext cx="48408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partitions a centralized dataset across N client vehicles such that each client receives a highly skewed, non-IID (non-independently and identically distributed) subset of data. This simulates realistic Internet of Vehicles (</a:t>
            </a:r>
            <a:r>
              <a:rPr lang="en-US" sz="2000" dirty="0" err="1"/>
              <a:t>IoV</a:t>
            </a:r>
            <a:r>
              <a:rPr lang="en-US" sz="2000" dirty="0"/>
              <a:t>) environments where different vehicles encounter different ratios of normal traffic and specific cyber-attacks.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091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A291-A72B-41C2-A119-713AB871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DFC0DF-29AC-42BA-AF77-EF7D8E968D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538239"/>
              </p:ext>
            </p:extLst>
          </p:nvPr>
        </p:nvGraphicFramePr>
        <p:xfrm>
          <a:off x="1716657" y="1932499"/>
          <a:ext cx="7660257" cy="4019729"/>
        </p:xfrm>
        <a:graphic>
          <a:graphicData uri="http://schemas.openxmlformats.org/drawingml/2006/table">
            <a:tbl>
              <a:tblPr/>
              <a:tblGrid>
                <a:gridCol w="1477089">
                  <a:extLst>
                    <a:ext uri="{9D8B030D-6E8A-4147-A177-3AD203B41FA5}">
                      <a16:colId xmlns:a16="http://schemas.microsoft.com/office/drawing/2014/main" val="1782779700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3411222423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303651057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1307152994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4255422054"/>
                    </a:ext>
                  </a:extLst>
                </a:gridCol>
              </a:tblGrid>
              <a:tr h="310827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#</a:t>
                      </a: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Chebyshev's Basis 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Standard 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MamKANFormer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831406"/>
                  </a:ext>
                </a:extLst>
              </a:tr>
              <a:tr h="944902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1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CKKS Encryption Compatibility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Excellent — Chebyshev polynomials evaluate natively on ciphertexts using specialized algorithms (BSGS)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Poor — Splines require conditional logic; incompatible with HE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Poor — Too deep; multi-model overhead makes encrypted computation infeasible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605668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2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Computational Cost (on Ciphertexts)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Low — Minimal multiplicative depth; optimized for HE evaluation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High — Requires heavy polynomial approximations for non-linear operations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Very High — Mamba + KAN + Transformer; multiplicative depth explodes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27251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3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Precision Preservation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High — Scale-invariant evaluation maintains accuracy on encrypted data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Degrades — Approximations introduce errors on ciphertexts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Low — Noise accumulates rapidly across deep layers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78078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4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Security Level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Strong — Operations remain fully encrypted; server never sees plaintext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Weak — Requires decryption or unsafe approximations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Weak — Practically impossible to encrypt all layers within time constraints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843623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5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Suitability for FedIoV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Best — Native HE support + lightweight + high accuracy on CAN/V2X data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Not Suitable — Cannot execute splines on encrypted values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quote-cjk-patch"/>
                        </a:rPr>
                        <a:t>Too Heavy — 609K parameters × HE operations = unrealistic latency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1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398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Core Model &amp; Cryptographic Security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8F432-628B-4723-AECE-958496A7D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6208" y="1562935"/>
            <a:ext cx="10422936" cy="4544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The Model: Pure Chebyshev KAN (</a:t>
            </a:r>
            <a:r>
              <a:rPr sz="2000" b="1" dirty="0" err="1"/>
              <a:t>ChebyKAN</a:t>
            </a:r>
            <a:r>
              <a:rPr sz="2000" b="1" dirty="0"/>
              <a:t>)</a:t>
            </a:r>
          </a:p>
          <a:p>
            <a:r>
              <a:rPr sz="2000" dirty="0"/>
              <a:t>Chebyshev Polynomial KAN: Replaces splines with Chebyshev polynomials of the first kind. Global model has only 44,164 parameters.</a:t>
            </a:r>
          </a:p>
          <a:p>
            <a:r>
              <a:rPr sz="2000" dirty="0"/>
              <a:t>Slices features directly into sequential Chebyshev basis projection layers (</a:t>
            </a:r>
            <a:r>
              <a:rPr sz="2000" dirty="0" err="1"/>
              <a:t>T_n</a:t>
            </a:r>
            <a:r>
              <a:rPr sz="2000" dirty="0"/>
              <a:t>(x) polynomials calculated recursively).</a:t>
            </a:r>
          </a:p>
          <a:p>
            <a:endParaRPr sz="2000" dirty="0"/>
          </a:p>
          <a:p>
            <a:r>
              <a:rPr sz="2000" b="1" dirty="0"/>
              <a:t>Cryptographic Security (Layer-wise FHE):</a:t>
            </a:r>
          </a:p>
          <a:p>
            <a:r>
              <a:rPr sz="2000" dirty="0"/>
              <a:t>No Transport-Layer AES/ECDH: Handshakes, key exchanges, and symmetric transport encryption are completely removed.</a:t>
            </a:r>
          </a:p>
          <a:p>
            <a:r>
              <a:rPr sz="2000" dirty="0"/>
              <a:t>Full Layer-wise FHE Encryption: Clients encrypt each weight and bias tensor separately using Simulated CKKS FHE vectors.</a:t>
            </a:r>
          </a:p>
          <a:p>
            <a:r>
              <a:rPr sz="2000" dirty="0"/>
              <a:t>Homomorphic Aggregation: Aggregator server aggregates weights and biases layer-by-layer directly on ciphertexts, preserving privacy.</a:t>
            </a:r>
          </a:p>
        </p:txBody>
      </p:sp>
    </p:spTree>
    <p:extLst>
      <p:ext uri="{BB962C8B-B14F-4D97-AF65-F5344CB8AC3E}">
        <p14:creationId xmlns:p14="http://schemas.microsoft.com/office/powerpoint/2010/main" val="137980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C357-0506-2FC2-0BA5-08FDE854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&amp; Adapting Weights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FB935-3F99-6095-758F-A2410F97F833}"/>
              </a:ext>
            </a:extLst>
          </p:cNvPr>
          <p:cNvSpPr txBox="1"/>
          <p:nvPr/>
        </p:nvSpPr>
        <p:spPr>
          <a:xfrm>
            <a:off x="4754880" y="1740391"/>
            <a:ext cx="31566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Global Model Layout:</a:t>
            </a:r>
          </a:p>
          <a:p>
            <a:r>
              <a:rPr dirty="0"/>
              <a:t>Features input scaling, recursive Chebyshev polynomial basis projection layers (T_0 to </a:t>
            </a:r>
            <a:r>
              <a:rPr dirty="0" err="1"/>
              <a:t>T_degree</a:t>
            </a:r>
            <a:r>
              <a:rPr dirty="0"/>
              <a:t>), stacked Chebyshev KAN Linear Layers with </a:t>
            </a:r>
            <a:r>
              <a:rPr dirty="0" err="1"/>
              <a:t>LayerNorm</a:t>
            </a:r>
            <a:r>
              <a:rPr dirty="0"/>
              <a:t> and Dropout, followed by a final output </a:t>
            </a:r>
            <a:r>
              <a:rPr dirty="0" err="1"/>
              <a:t>ChebyKAN</a:t>
            </a:r>
            <a:r>
              <a:rPr dirty="0"/>
              <a:t> layer mapping to classes.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805F3-A2FB-65E2-4FF0-EB1BAAFC45C8}"/>
              </a:ext>
            </a:extLst>
          </p:cNvPr>
          <p:cNvSpPr txBox="1"/>
          <p:nvPr/>
        </p:nvSpPr>
        <p:spPr>
          <a:xfrm>
            <a:off x="4754880" y="4556624"/>
            <a:ext cx="44897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Loading Weights with strict=False:</a:t>
            </a:r>
            <a:endParaRPr dirty="0"/>
          </a:p>
          <a:p>
            <a:r>
              <a:rPr dirty="0"/>
              <a:t>The server handles bootstrap weight adaptation to match the exact class structure of the target dataset, allowing the Chebyshev KAN model to support different output class dimensions.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777E3-FF8A-A15B-4519-9783DD4C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57" y="1690688"/>
            <a:ext cx="4036823" cy="51465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78C2FD-05A2-63BD-DF69-5DED139D0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535" y="1740391"/>
            <a:ext cx="4199072" cy="28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32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E0A3-E930-F9D6-92C0-F76CD04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D8EE-2ECC-7CA0-0ED1-DD776A8F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Parameter Breakdown: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629C9-F579-C211-FC5E-227944FA0133}"/>
              </a:ext>
            </a:extLst>
          </p:cNvPr>
          <p:cNvSpPr txBox="1"/>
          <p:nvPr/>
        </p:nvSpPr>
        <p:spPr>
          <a:xfrm>
            <a:off x="1784754" y="1774065"/>
            <a:ext cx="71489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Total Parameters: 44,164 (CAN-VTC Configuration)</a:t>
            </a:r>
          </a:p>
          <a:p>
            <a:endParaRPr dirty="0"/>
          </a:p>
          <a:p>
            <a:r>
              <a:rPr dirty="0"/>
              <a:t>• Input Chebyshev KAN Layer (46 -&gt; 64 hidden nodes):</a:t>
            </a:r>
          </a:p>
          <a:p>
            <a:r>
              <a:rPr dirty="0"/>
              <a:t>  - Chebyshev weights: 64 * 46 * 5 = 14,720 parameters</a:t>
            </a:r>
          </a:p>
          <a:p>
            <a:r>
              <a:rPr dirty="0"/>
              <a:t>  - Base weights: 64 * 46 = 2,944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Hidden Chebyshev KAN Layer (64 -&gt; 64 hidden nodes):</a:t>
            </a:r>
          </a:p>
          <a:p>
            <a:r>
              <a:rPr dirty="0"/>
              <a:t>  - Chebyshev weights: 64 * 64 * 5 = 20,480 parameters</a:t>
            </a:r>
          </a:p>
          <a:p>
            <a:r>
              <a:rPr dirty="0"/>
              <a:t>  - Base weights: 64 * 64 = 4,096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Output Chebyshev KAN Layer (64 -&gt; 4 class outputs):</a:t>
            </a:r>
          </a:p>
          <a:p>
            <a:r>
              <a:rPr dirty="0"/>
              <a:t>  - Chebyshev weights: 4 * 64 * 5 = 1,280 parameters</a:t>
            </a:r>
          </a:p>
          <a:p>
            <a:r>
              <a:rPr dirty="0"/>
              <a:t>  - Base weights: 4 * 64 = 256 parameters</a:t>
            </a:r>
          </a:p>
          <a:p>
            <a:r>
              <a:rPr dirty="0"/>
              <a:t>  - Bias weights: 4 parameters</a:t>
            </a:r>
          </a:p>
        </p:txBody>
      </p:sp>
    </p:spTree>
    <p:extLst>
      <p:ext uri="{BB962C8B-B14F-4D97-AF65-F5344CB8AC3E}">
        <p14:creationId xmlns:p14="http://schemas.microsoft.com/office/powerpoint/2010/main" val="3835270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5F06-F1D5-BFC7-9432-B689BF2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Layer-wise FHE Cryptography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D52E8-29AF-B830-1800-481862E5210D}"/>
              </a:ext>
            </a:extLst>
          </p:cNvPr>
          <p:cNvSpPr txBox="1"/>
          <p:nvPr/>
        </p:nvSpPr>
        <p:spPr>
          <a:xfrm>
            <a:off x="5111118" y="1781449"/>
            <a:ext cx="49198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CKKS Homomorphic Encryption Scheme:</a:t>
            </a:r>
          </a:p>
          <a:p>
            <a:r>
              <a:rPr dirty="0"/>
              <a:t>Supports additions and scalar multiplications directly on real-numbered ciphertext vectors. The private key remains secure on the client (vehicle) and is never transmitted to the server.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6F3F-9715-37BF-3487-2F9D4580F553}"/>
              </a:ext>
            </a:extLst>
          </p:cNvPr>
          <p:cNvSpPr txBox="1"/>
          <p:nvPr/>
        </p:nvSpPr>
        <p:spPr>
          <a:xfrm>
            <a:off x="5109994" y="3535680"/>
            <a:ext cx="63718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Full Layer-wise FHE Processing:</a:t>
            </a:r>
          </a:p>
          <a:p>
            <a:r>
              <a:rPr dirty="0"/>
              <a:t>Every weight and bias tensor is flattened, encrypted as a </a:t>
            </a:r>
            <a:r>
              <a:rPr dirty="0" err="1"/>
              <a:t>SimulatedCKKSVector</a:t>
            </a:r>
            <a:r>
              <a:rPr dirty="0"/>
              <a:t>, and processed. The server performs aggregation on each layer's ciphertext separately, maintaining zero plaintext exposure.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BD3C0-E127-D1C0-391B-10125AFE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4" y="1690688"/>
            <a:ext cx="4090416" cy="50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02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1BB6-5675-2C6E-03AE-A5AD40E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Homomorphic Aggregation &amp; Outlier Filtering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8091-DFF9-08B3-1F0D-F07114CA10BB}"/>
              </a:ext>
            </a:extLst>
          </p:cNvPr>
          <p:cNvSpPr txBox="1"/>
          <p:nvPr/>
        </p:nvSpPr>
        <p:spPr>
          <a:xfrm>
            <a:off x="1137661" y="1853901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</a:t>
            </a:r>
            <a:r>
              <a:rPr b="1" dirty="0" err="1"/>
              <a:t>FedAvg</a:t>
            </a:r>
            <a:r>
              <a:rPr b="1" dirty="0"/>
              <a:t> Aggregation:</a:t>
            </a:r>
          </a:p>
          <a:p>
            <a:r>
              <a:rPr dirty="0"/>
              <a:t>Aggregates updates by evaluating additions and scalar weights homomorphically layer-by-layer:</a:t>
            </a:r>
          </a:p>
          <a:p>
            <a:r>
              <a:rPr dirty="0"/>
              <a:t>Enc(</a:t>
            </a:r>
            <a:r>
              <a:rPr dirty="0" err="1"/>
              <a:t>W_layer_global</a:t>
            </a:r>
            <a:r>
              <a:rPr dirty="0"/>
              <a:t>) = sum( </a:t>
            </a:r>
            <a:r>
              <a:rPr dirty="0" err="1"/>
              <a:t>w_i</a:t>
            </a:r>
            <a:r>
              <a:rPr dirty="0"/>
              <a:t> * Enc(</a:t>
            </a:r>
            <a:r>
              <a:rPr dirty="0" err="1"/>
              <a:t>W_layer_i</a:t>
            </a:r>
            <a:r>
              <a:rPr dirty="0"/>
              <a:t>) )</a:t>
            </a:r>
          </a:p>
          <a:p>
            <a:r>
              <a:rPr dirty="0"/>
              <a:t>Decryption is done locally on vehicles using the FHE private key.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9EB72-42F7-A765-4908-F928CCA4B180}"/>
              </a:ext>
            </a:extLst>
          </p:cNvPr>
          <p:cNvSpPr txBox="1"/>
          <p:nvPr/>
        </p:nvSpPr>
        <p:spPr>
          <a:xfrm>
            <a:off x="1211717" y="3628512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Multi-Krum Outlier Rejection:</a:t>
            </a:r>
          </a:p>
          <a:p>
            <a:r>
              <a:rPr dirty="0"/>
              <a:t>Aggregator server computes Euclidean distances between the encrypted weight updates (concatenating all layer ciphertexts) to run scoring and filter out Byzantine clients before aggregation, protecting against model poisoning attacks.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583B4-AD1E-A742-CE13-DD96FD979D5D}"/>
              </a:ext>
            </a:extLst>
          </p:cNvPr>
          <p:cNvSpPr txBox="1"/>
          <p:nvPr/>
        </p:nvSpPr>
        <p:spPr>
          <a:xfrm>
            <a:off x="1211717" y="5342268"/>
            <a:ext cx="5236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End-to-End Privacy: </a:t>
            </a:r>
            <a:r>
              <a:rPr dirty="0"/>
              <a:t>No transport keys or AES; security is guaranteed by FHE mathematical bounds.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F65A3-D8CF-AE1E-3B70-35F4FBE1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71" y="1690688"/>
            <a:ext cx="5099454" cy="31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2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Optimization Setup (Genetic Algorithm)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0ACEC-DA7A-4FE6-B499-AF73BF41E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3124" y="1845629"/>
            <a:ext cx="9864852" cy="249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Purpose: </a:t>
            </a:r>
            <a:r>
              <a:rPr sz="2000" dirty="0"/>
              <a:t>Prepares the system for robust, privacy-preserving federated training across a vehicle fleet.</a:t>
            </a:r>
            <a:endParaRPr lang="en-US" sz="2000" dirty="0"/>
          </a:p>
          <a:p>
            <a:r>
              <a:rPr sz="2000" b="1" dirty="0"/>
              <a:t>Simulation Grid Setup: </a:t>
            </a:r>
            <a:r>
              <a:rPr sz="2000" dirty="0"/>
              <a:t>Dirichlet concentration (alpha = 0.3), sharding the dataset non-IID.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Client Settings: </a:t>
            </a:r>
            <a:r>
              <a:rPr sz="2000" dirty="0"/>
              <a:t>N = 10 simulated vehicle nodes, local epochs E = 1 per round, client sampling rate q = 70%.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Optimizer Config: </a:t>
            </a:r>
            <a:r>
              <a:rPr sz="2000" dirty="0" err="1"/>
              <a:t>AdamW</a:t>
            </a:r>
            <a:r>
              <a:rPr sz="2000" dirty="0"/>
              <a:t> optimizer, batch size = 96, learning rate = 5e-4.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Security Context: </a:t>
            </a:r>
            <a:r>
              <a:rPr sz="2000" dirty="0"/>
              <a:t>Simulated CKKS vector context representing FHE encryption.</a:t>
            </a:r>
          </a:p>
        </p:txBody>
      </p:sp>
    </p:spTree>
    <p:extLst>
      <p:ext uri="{BB962C8B-B14F-4D97-AF65-F5344CB8AC3E}">
        <p14:creationId xmlns:p14="http://schemas.microsoft.com/office/powerpoint/2010/main" val="2992409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Integrity Verification &amp; Phase Boundaries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625CC-1514-4CCD-AA1C-8F678B046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1941744"/>
            <a:ext cx="88773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Homomorphic Aggregation &amp; Validation:</a:t>
            </a:r>
          </a:p>
          <a:p>
            <a:pPr marL="0" indent="0">
              <a:buNone/>
            </a:pPr>
            <a:r>
              <a:rPr sz="2000" dirty="0"/>
              <a:t>• Server aggregates layer-wise FHE ciphertexts homomorphically.</a:t>
            </a:r>
          </a:p>
          <a:p>
            <a:pPr marL="0" indent="0">
              <a:buNone/>
            </a:pPr>
            <a:r>
              <a:rPr sz="2000" dirty="0"/>
              <a:t>• Clients receive global ciphertexts and decrypt them using their private keys.</a:t>
            </a:r>
          </a:p>
          <a:p>
            <a:pPr marL="0" indent="0">
              <a:buNone/>
            </a:pPr>
            <a:r>
              <a:rPr sz="2000" dirty="0"/>
              <a:t>• Integrity Check: Reconstructed weights match mathematical expectations, verifying zero-loss encryption.</a:t>
            </a:r>
          </a:p>
          <a:p>
            <a:endParaRPr sz="2000" dirty="0"/>
          </a:p>
          <a:p>
            <a:r>
              <a:rPr sz="2000" b="1" dirty="0"/>
              <a:t>Complete FHE Simulation (Phase 2):</a:t>
            </a:r>
          </a:p>
          <a:p>
            <a:pPr marL="0" indent="0">
              <a:buNone/>
            </a:pPr>
            <a:r>
              <a:rPr sz="2000" dirty="0"/>
              <a:t>• Centralized transport key handshakes (AES/ECDH) are fully deprecated.</a:t>
            </a:r>
          </a:p>
          <a:p>
            <a:pPr marL="0" indent="0">
              <a:buNone/>
            </a:pPr>
            <a:r>
              <a:rPr sz="2000" dirty="0"/>
              <a:t>• Simulated federated rounds are executed sequentially across all 4 target datasets.</a:t>
            </a:r>
          </a:p>
          <a:p>
            <a:pPr marL="0" indent="0">
              <a:buNone/>
            </a:pPr>
            <a:r>
              <a:rPr sz="2000" dirty="0"/>
              <a:t>• Results compiled into a simulation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42757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Proof of Work &amp; Smoke Test Results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5046B-7452-4EF2-9EE2-781431F9D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0828" y="2088050"/>
            <a:ext cx="99441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System Sanity Check:</a:t>
            </a:r>
          </a:p>
          <a:p>
            <a:r>
              <a:rPr sz="2000" b="1" dirty="0"/>
              <a:t>FHE Aggregation Time: </a:t>
            </a:r>
            <a:r>
              <a:rPr sz="2000" dirty="0"/>
              <a:t>Completed in ~3.5s to 18.8s depending on dataset size (much faster parameter footprint).</a:t>
            </a:r>
            <a:endParaRPr lang="en-US" sz="2000" dirty="0"/>
          </a:p>
          <a:p>
            <a:r>
              <a:rPr sz="2000" b="1" dirty="0"/>
              <a:t> Outlier Rejection: </a:t>
            </a:r>
            <a:r>
              <a:rPr sz="2000" dirty="0"/>
              <a:t>Multi-Krum successfully filtered out Byzantine nodes.</a:t>
            </a:r>
          </a:p>
          <a:p>
            <a:endParaRPr sz="2000" dirty="0"/>
          </a:p>
          <a:p>
            <a:r>
              <a:rPr sz="2000" b="1" dirty="0"/>
              <a:t>Multi-Round Federated FHE Performance (3 Rounds):</a:t>
            </a:r>
          </a:p>
          <a:p>
            <a:r>
              <a:rPr sz="2000" dirty="0"/>
              <a:t> CAN-VTC: 98.57% Accuracy | 0.9998 ROC-AUC</a:t>
            </a:r>
          </a:p>
          <a:p>
            <a:r>
              <a:rPr sz="2000" dirty="0"/>
              <a:t> Car-Hacking: 60.43% Accuracy | 0.9360 ROC-AUC</a:t>
            </a:r>
          </a:p>
          <a:p>
            <a:r>
              <a:rPr sz="2000" dirty="0"/>
              <a:t> CICIDS-2017: 99.58% Accuracy | 0.8236 ROC-AUC</a:t>
            </a:r>
          </a:p>
          <a:p>
            <a:r>
              <a:rPr sz="2000" dirty="0"/>
              <a:t> VeReMi: 73.81% Accuracy | 0.5305 ROC-AUC (Reflects early round non-IID training)</a:t>
            </a:r>
          </a:p>
        </p:txBody>
      </p:sp>
    </p:spTree>
    <p:extLst>
      <p:ext uri="{BB962C8B-B14F-4D97-AF65-F5344CB8AC3E}">
        <p14:creationId xmlns:p14="http://schemas.microsoft.com/office/powerpoint/2010/main" val="2365625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067718"/>
            <a:ext cx="9782556" cy="3590132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Hardware Benchmarking: Deploying and testing the </a:t>
            </a:r>
            <a:r>
              <a:rPr dirty="0" err="1"/>
              <a:t>ChebyKAN</a:t>
            </a:r>
            <a:r>
              <a:rPr dirty="0"/>
              <a:t> FHE pipeline on real-world Edge and On-Board Unit (OBU) vehicular hardware.</a:t>
            </a:r>
          </a:p>
          <a:p>
            <a:r>
              <a:rPr dirty="0"/>
              <a:t>Genetic Algorithm Optimization: Completing the GA hyperparameter evolution loop to automatically tune the model across diverse non-IID conditions.</a:t>
            </a:r>
          </a:p>
          <a:p>
            <a:r>
              <a:rPr dirty="0"/>
              <a:t>Latency Reduction: Further optimizing Homomorphic Encryption configurations to push aggregation latency down for massive fleet sizes.</a:t>
            </a:r>
          </a:p>
          <a:p>
            <a:r>
              <a:rPr dirty="0"/>
              <a:t>Dynamic Vehicle Churn Management: Improving resilience mechanisms for vehicles dropping in and out of the network range during the FHE aggregation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1715</Words>
  <Application>Microsoft Office PowerPoint</Application>
  <PresentationFormat>Widescreen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quote-cjk-patch</vt:lpstr>
      <vt:lpstr>Office Theme</vt:lpstr>
      <vt:lpstr> </vt:lpstr>
      <vt:lpstr>Recap from Last Meeting</vt:lpstr>
      <vt:lpstr>Content:</vt:lpstr>
      <vt:lpstr>Overall Architecture(phases):</vt:lpstr>
      <vt:lpstr>    High-Level Architecture (The Pipeline)</vt:lpstr>
      <vt:lpstr>Data Unification &amp; Real-World Simulation</vt:lpstr>
      <vt:lpstr> Unified Dataset Adapter Interface: </vt:lpstr>
      <vt:lpstr>  Unifying Heterogeneous Data to a Timeless 46-D Feature Vector </vt:lpstr>
      <vt:lpstr> Normalization &amp; Preprocessing </vt:lpstr>
      <vt:lpstr>Dirichlet:</vt:lpstr>
      <vt:lpstr>Model Comparison</vt:lpstr>
      <vt:lpstr>Core Model &amp; Cryptographic Security</vt:lpstr>
      <vt:lpstr>Chebyshev KAN &amp; Adapting Weights</vt:lpstr>
      <vt:lpstr>Chebyshev KAN Parameter Breakdown:</vt:lpstr>
      <vt:lpstr>Layer-wise FHE Cryptography</vt:lpstr>
      <vt:lpstr>Homomorphic Aggregation &amp; Outlier Filtering</vt:lpstr>
      <vt:lpstr>Optimization Setup (Genetic Algorithm)</vt:lpstr>
      <vt:lpstr>Integrity Verification &amp; Phase Boundaries</vt:lpstr>
      <vt:lpstr>Proof of Work &amp; Smoke Test Results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Thrish</dc:creator>
  <cp:lastModifiedBy>Thrish_Sudha</cp:lastModifiedBy>
  <cp:revision>11</cp:revision>
  <dcterms:created xsi:type="dcterms:W3CDTF">2026-05-08T09:13:32Z</dcterms:created>
  <dcterms:modified xsi:type="dcterms:W3CDTF">2026-07-10T05:47:19Z</dcterms:modified>
</cp:coreProperties>
</file>