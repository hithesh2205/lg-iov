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64" r:id="rId4"/>
    <p:sldId id="265" r:id="rId5"/>
    <p:sldId id="266" r:id="rId6"/>
    <p:sldId id="257" r:id="rId7"/>
    <p:sldId id="276" r:id="rId8"/>
    <p:sldId id="277" r:id="rId9"/>
    <p:sldId id="278" r:id="rId10"/>
    <p:sldId id="289" r:id="rId11"/>
    <p:sldId id="268" r:id="rId12"/>
    <p:sldId id="269" r:id="rId13"/>
    <p:sldId id="270" r:id="rId14"/>
    <p:sldId id="271" r:id="rId15"/>
    <p:sldId id="274" r:id="rId16"/>
    <p:sldId id="272" r:id="rId17"/>
    <p:sldId id="273" r:id="rId18"/>
    <p:sldId id="275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93" r:id="rId28"/>
    <p:sldId id="290" r:id="rId29"/>
    <p:sldId id="291" r:id="rId30"/>
    <p:sldId id="29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CF31BA-1072-4C72-BDFA-CDFAE2502E9D}" v="3" dt="2026-06-16T16:55:04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8" autoAdjust="0"/>
    <p:restoredTop sz="94660"/>
  </p:normalViewPr>
  <p:slideViewPr>
    <p:cSldViewPr snapToGrid="0">
      <p:cViewPr>
        <p:scale>
          <a:sx n="82" d="100"/>
          <a:sy n="82" d="100"/>
        </p:scale>
        <p:origin x="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D51-94A3-B744-8607-E0343387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266" y="575536"/>
            <a:ext cx="9584533" cy="1138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8C7F2-C041-D1D4-510F-15E3CC39D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2582996"/>
            <a:ext cx="8705850" cy="7810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B052D47-A6D4-4F05-77D8-7F7F134D1703}"/>
              </a:ext>
            </a:extLst>
          </p:cNvPr>
          <p:cNvSpPr txBox="1">
            <a:spLocks/>
          </p:cNvSpPr>
          <p:nvPr userDrawn="1"/>
        </p:nvSpPr>
        <p:spPr>
          <a:xfrm>
            <a:off x="2209800" y="4114073"/>
            <a:ext cx="8705850" cy="78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5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CFB-8C8B-7659-A1F0-E83C7DBE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F8AE-EF37-6BAF-F666-9DD8303D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B2D-F17D-8287-2291-88C9CE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FB24-F26C-590F-5C96-9791B421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93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8AF2-DD5F-9828-72E3-95AC99E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F579-C2AC-8CF0-C57C-245B3CFB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E8F99-0644-F05B-0BD5-5AEF97BA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BB02-34D8-AB2D-8112-5C62A5D0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6F6F-8468-6DE9-BEA8-8A235DA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30F9-8D4C-3087-E82F-D2101BF8E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8F93-4A9D-17E6-E4DF-0CAA084A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87A7-41F1-901B-49BB-812E8CD8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AB484CA-13F1-6871-D75C-73515D3AB834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19-06-2026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899B8C-98ED-F2CD-35A5-1331727E36C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48E995B0-B848-D470-BBDC-B968BA8B03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18410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F85B-F02C-0BF5-EDB4-4C51B4EA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9FC7C2B-53DB-ADF9-0941-33B52385D563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19-06-2026</a:t>
            </a:fld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2554ECD-B0CF-A0F4-7D9B-FC3E726B203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6BB-31A1-034E-E5A0-902F4579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FC4B-2AF9-E75E-0E11-4D2A2D22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7494-F457-03D9-7D58-8B578A36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08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4033-47ED-3940-3A52-27A657E1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A38FA-37A2-DB64-1EB8-731522C0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54824-2AA7-2EC8-B8FA-2A9332F73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27C1-72F9-ABDC-07D5-150066FC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02-52A9-1BCE-7C55-6DDCB828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04C4C6-979A-1864-B615-657C6C49CABB}"/>
              </a:ext>
            </a:extLst>
          </p:cNvPr>
          <p:cNvSpPr txBox="1">
            <a:spLocks/>
          </p:cNvSpPr>
          <p:nvPr userDrawn="1"/>
        </p:nvSpPr>
        <p:spPr>
          <a:xfrm>
            <a:off x="10217031" y="5811838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9945A-E885-CFDF-C523-BF186509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A33A-D724-3BD3-7CEB-85D0F44E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5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4E79B-CF5F-7B98-CD8E-5DC36E8E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C8B2-588F-3115-2BBB-A38E8F0B0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61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0" name="그룹 10">
            <a:extLst>
              <a:ext uri="{FF2B5EF4-FFF2-40B4-BE49-F238E27FC236}">
                <a16:creationId xmlns:a16="http://schemas.microsoft.com/office/drawing/2014/main" id="{D21F6BA0-110F-4ED2-B5B7-CEF5EF4D1114}"/>
              </a:ext>
            </a:extLst>
          </p:cNvPr>
          <p:cNvGrpSpPr/>
          <p:nvPr userDrawn="1"/>
        </p:nvGrpSpPr>
        <p:grpSpPr>
          <a:xfrm>
            <a:off x="246185" y="188914"/>
            <a:ext cx="11699631" cy="6480175"/>
            <a:chOff x="200025" y="188913"/>
            <a:chExt cx="9505950" cy="6480175"/>
          </a:xfrm>
        </p:grpSpPr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BED4AED5-4206-CF2E-F7A1-0055A5FBFCC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3" name="직사각형 13">
                <a:extLst>
                  <a:ext uri="{FF2B5EF4-FFF2-40B4-BE49-F238E27FC236}">
                    <a16:creationId xmlns:a16="http://schemas.microsoft.com/office/drawing/2014/main" id="{85D5CB92-416B-BDEE-0946-666D70E7D254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>
                  <a:solidFill>
                    <a:prstClr val="white"/>
                  </a:solidFill>
                </a:endParaRPr>
              </a:p>
            </p:txBody>
          </p:sp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1EFF0273-6709-ED23-D5F4-71C85C2DB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82D93D90-30C5-7567-99F7-F216FD2FB1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FB5F343A-C8BF-4DF5-10C6-D9140041F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EF245D9-626D-1B5E-1BCE-5395532642BE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19-06-2026</a:t>
            </a:fld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4BE00-E799-97A0-ACFB-975B763973C6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8" name="object 27">
            <a:extLst>
              <a:ext uri="{FF2B5EF4-FFF2-40B4-BE49-F238E27FC236}">
                <a16:creationId xmlns:a16="http://schemas.microsoft.com/office/drawing/2014/main" id="{0CA43A76-C83A-B840-3258-FC1750FD6420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945461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00B-B9CF-BAB6-D90D-E47BD07552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Privacy Preserving Collaborative IDS for Internet of vehicle networks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E5450-03F0-B1EA-0318-D1B927D1F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2582996"/>
            <a:ext cx="8705850" cy="248994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IN" dirty="0">
                <a:ea typeface="Calibri"/>
                <a:cs typeface="Calibri"/>
              </a:rPr>
              <a:t>Faculty Members:             Student Members:</a:t>
            </a:r>
          </a:p>
          <a:p>
            <a:pPr algn="l"/>
            <a:r>
              <a:rPr lang="en-IN" dirty="0">
                <a:ea typeface="Calibri"/>
                <a:cs typeface="Calibri"/>
              </a:rPr>
              <a:t>      </a:t>
            </a:r>
          </a:p>
          <a:p>
            <a:pPr algn="l"/>
            <a:r>
              <a:rPr lang="en-IN" dirty="0">
                <a:ea typeface="Calibri"/>
                <a:cs typeface="Calibri"/>
              </a:rPr>
              <a:t>Mrs. Durga                Hithesh Y</a:t>
            </a:r>
          </a:p>
          <a:p>
            <a:pPr algn="l"/>
            <a:r>
              <a:rPr lang="en-IN" dirty="0">
                <a:ea typeface="Calibri"/>
                <a:cs typeface="Calibri"/>
              </a:rPr>
              <a:t>Mrs. Uma                  Saurabh Krishnan</a:t>
            </a:r>
            <a:endParaRPr lang="en-IN" dirty="0"/>
          </a:p>
          <a:p>
            <a:pPr algn="l"/>
            <a:r>
              <a:rPr lang="en-IN" dirty="0">
                <a:ea typeface="Calibri"/>
                <a:cs typeface="Calibri"/>
              </a:rPr>
              <a:t>Mrs. Anusuya</a:t>
            </a:r>
            <a:endParaRPr lang="en-IN" dirty="0"/>
          </a:p>
          <a:p>
            <a:pPr algn="l"/>
            <a:r>
              <a:rPr lang="en-IN" dirty="0">
                <a:ea typeface="Calibri"/>
                <a:cs typeface="Calibri"/>
              </a:rPr>
              <a:t>Mr. Praveen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F1156D-6D0E-85F8-8723-5E8D77CE91A6}"/>
              </a:ext>
            </a:extLst>
          </p:cNvPr>
          <p:cNvSpPr/>
          <p:nvPr/>
        </p:nvSpPr>
        <p:spPr>
          <a:xfrm>
            <a:off x="4024423" y="4200084"/>
            <a:ext cx="4544063" cy="3279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3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DB96-FC4C-95EF-B49C-FF9FC3CD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ea typeface="Calibri Light"/>
                <a:cs typeface="Calibri Light"/>
              </a:rPr>
              <a:t>Content: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79BB2-CBF6-8FCD-8298-80A8FC5AC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IN">
                <a:ea typeface="Calibri" panose="020F0502020204030204"/>
                <a:cs typeface="Calibri" panose="020F0502020204030204"/>
              </a:rPr>
              <a:t>Threat Model</a:t>
            </a:r>
            <a:endParaRPr lang="en-IN" dirty="0">
              <a:ea typeface="Calibri" panose="020F0502020204030204"/>
              <a:cs typeface="Calibri" panose="020F0502020204030204"/>
            </a:endParaRPr>
          </a:p>
          <a:p>
            <a:pPr marL="514350" indent="-514350">
              <a:buAutoNum type="arabicPeriod"/>
            </a:pPr>
            <a:r>
              <a:rPr lang="en-IN">
                <a:ea typeface="Calibri" panose="020F0502020204030204"/>
                <a:cs typeface="Calibri" panose="020F0502020204030204"/>
              </a:rPr>
              <a:t>Threat Matrix and Risk Matrix</a:t>
            </a:r>
          </a:p>
          <a:p>
            <a:pPr marL="514350" indent="-514350">
              <a:buAutoNum type="arabicPeriod"/>
            </a:pPr>
            <a:r>
              <a:rPr lang="en-IN" dirty="0">
                <a:ea typeface="Calibri" panose="020F0502020204030204"/>
                <a:cs typeface="Calibri" panose="020F0502020204030204"/>
              </a:rPr>
              <a:t>Baseline Architec</a:t>
            </a:r>
            <a:r>
              <a:rPr lang="en-IN">
                <a:ea typeface="Calibri" panose="020F0502020204030204"/>
                <a:cs typeface="Calibri" panose="020F0502020204030204"/>
              </a:rPr>
              <a:t>ture</a:t>
            </a:r>
          </a:p>
          <a:p>
            <a:pPr marL="514350" indent="-514350">
              <a:buAutoNum type="arabicPeriod"/>
            </a:pPr>
            <a:r>
              <a:rPr lang="en-IN">
                <a:ea typeface="Calibri" panose="020F0502020204030204"/>
                <a:cs typeface="Calibri" panose="020F0502020204030204"/>
              </a:rPr>
              <a:t>Model Architecture</a:t>
            </a:r>
          </a:p>
          <a:p>
            <a:pPr marL="514350" indent="-514350">
              <a:buAutoNum type="arabicPeriod"/>
            </a:pPr>
            <a:r>
              <a:rPr lang="en-IN">
                <a:ea typeface="Calibri" panose="020F0502020204030204"/>
                <a:cs typeface="Calibri" panose="020F0502020204030204"/>
              </a:rPr>
              <a:t>Why FHE in FL</a:t>
            </a:r>
          </a:p>
          <a:p>
            <a:pPr marL="514350" indent="-514350">
              <a:buAutoNum type="arabicPeriod"/>
            </a:pPr>
            <a:r>
              <a:rPr lang="en-IN" dirty="0">
                <a:ea typeface="Calibri" panose="020F0502020204030204"/>
                <a:cs typeface="Calibri" panose="020F0502020204030204"/>
              </a:rPr>
              <a:t>Security and </a:t>
            </a:r>
            <a:r>
              <a:rPr lang="en-IN">
                <a:ea typeface="Calibri" panose="020F0502020204030204"/>
                <a:cs typeface="Calibri" panose="020F0502020204030204"/>
              </a:rPr>
              <a:t>Performance Report</a:t>
            </a:r>
            <a:endParaRPr lang="en-IN" dirty="0">
              <a:ea typeface="Calibri" panose="020F0502020204030204"/>
              <a:cs typeface="Calibri" panose="020F0502020204030204"/>
            </a:endParaRPr>
          </a:p>
          <a:p>
            <a:pPr marL="514350" indent="-514350">
              <a:buAutoNum type="arabicPeriod"/>
            </a:pPr>
            <a:r>
              <a:rPr lang="en-IN" dirty="0">
                <a:ea typeface="Calibri" panose="020F0502020204030204"/>
                <a:cs typeface="Calibri" panose="020F0502020204030204"/>
              </a:rPr>
              <a:t>HE </a:t>
            </a:r>
            <a:r>
              <a:rPr lang="en-IN">
                <a:ea typeface="Calibri" panose="020F0502020204030204"/>
                <a:cs typeface="Calibri" panose="020F0502020204030204"/>
              </a:rPr>
              <a:t>Schemes</a:t>
            </a:r>
            <a:endParaRPr lang="en-IN" dirty="0">
              <a:ea typeface="Calibri" panose="020F0502020204030204"/>
              <a:cs typeface="Calibri" panose="020F0502020204030204"/>
            </a:endParaRPr>
          </a:p>
          <a:p>
            <a:pPr marL="514350" indent="-514350">
              <a:buAutoNum type="arabicPeriod"/>
            </a:pPr>
            <a:endParaRPr lang="en-IN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09896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6619B-40BF-48AB-ABAF-F53BD273A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223" y="537368"/>
            <a:ext cx="9867788" cy="911505"/>
          </a:xfrm>
        </p:spPr>
        <p:txBody>
          <a:bodyPr/>
          <a:lstStyle/>
          <a:p>
            <a:r>
              <a:rPr lang="en-US" i="0" dirty="0">
                <a:solidFill>
                  <a:srgbClr val="CCCCCC"/>
                </a:solidFill>
                <a:effectLst/>
                <a:latin typeface="ui-sans-serif"/>
              </a:rPr>
              <a:t>Problem Statement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635FC-9947-4387-A25C-50E36CC61331}"/>
              </a:ext>
            </a:extLst>
          </p:cNvPr>
          <p:cNvSpPr txBox="1"/>
          <p:nvPr/>
        </p:nvSpPr>
        <p:spPr>
          <a:xfrm>
            <a:off x="1280314" y="1633354"/>
            <a:ext cx="100609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i="0" u="sng" dirty="0">
                <a:effectLst/>
                <a:latin typeface="ui-sans-serif"/>
              </a:rPr>
              <a:t>Challenges in Internet of Vehicles (</a:t>
            </a:r>
            <a:r>
              <a:rPr lang="en-US" sz="2000" b="1" i="0" u="sng" dirty="0" err="1">
                <a:effectLst/>
                <a:latin typeface="ui-sans-serif"/>
              </a:rPr>
              <a:t>IoV</a:t>
            </a:r>
            <a:r>
              <a:rPr lang="en-US" sz="2000" b="1" i="0" u="sng" dirty="0">
                <a:effectLst/>
                <a:latin typeface="ui-sans-serif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Increasing Cyber-Attacks on Connected Vehicles:</a:t>
            </a:r>
            <a:r>
              <a:rPr lang="en-US" sz="2000" b="0" i="0" dirty="0">
                <a:effectLst/>
                <a:latin typeface="ui-sans-serif"/>
              </a:rPr>
              <a:t> Modern vehicles are vulnerable to in-vehicle network (IVN) exploits (e.g., DoS, Fuzzy, RPM, and Gear spoofing attacks) and V2X wireless threats.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Privacy Concerns in Sharing Vehicle Data:</a:t>
            </a:r>
            <a:r>
              <a:rPr lang="en-US" sz="2000" b="0" i="0" dirty="0">
                <a:effectLst/>
                <a:latin typeface="ui-sans-serif"/>
              </a:rPr>
              <a:t> Strict data privacy regulations (e.g., GDPR, CCPA) prevent vehicles from uploading raw telemetry, location history, or sensor logs to centralized servers.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Limitations of Centralized IDS:</a:t>
            </a:r>
            <a:endParaRPr lang="en-US" sz="2000" b="0" i="0" dirty="0"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ui-sans-serif"/>
              </a:rPr>
              <a:t>Bandwidth bottlenecks from transmitting massive, continuous streams of high-frequency vehicular data.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ui-sans-serif"/>
              </a:rPr>
              <a:t>Single point of failure: vulnerability to connection drops in high-mobility environments.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2663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4C6D0-1F12-424D-8A04-A70D76D78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27471-F782-4186-AF0D-27B7787D0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10252312" cy="359013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i="0" u="sng" dirty="0">
                <a:effectLst/>
              </a:rPr>
              <a:t>Proposed Solution: </a:t>
            </a:r>
            <a:r>
              <a:rPr lang="en-US" b="1" i="0" u="sng" dirty="0" err="1">
                <a:effectLst/>
              </a:rPr>
              <a:t>FedIoV</a:t>
            </a:r>
            <a:endParaRPr lang="en-US" b="1" i="0" u="sng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Federated Learning (FL) Framework:</a:t>
            </a:r>
            <a:r>
              <a:rPr lang="en-US" sz="2000" b="0" i="0" dirty="0">
                <a:effectLst/>
              </a:rPr>
              <a:t> Enables collaborative training where vehicles train intrusion detection models locally and only share encrypted model updates (gradients) with the server.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Kolmogorov-Arnold Network (</a:t>
            </a:r>
            <a:r>
              <a:rPr lang="en-US" sz="2000" b="1" i="0" dirty="0" err="1">
                <a:effectLst/>
              </a:rPr>
              <a:t>KANConvNet</a:t>
            </a:r>
            <a:r>
              <a:rPr lang="en-US" sz="2000" b="1" i="0" dirty="0">
                <a:effectLst/>
              </a:rPr>
              <a:t>):</a:t>
            </a:r>
            <a:r>
              <a:rPr lang="en-US" sz="2000" b="0" i="0" dirty="0">
                <a:effectLst/>
              </a:rPr>
              <a:t> A lightweight, edge-optimized classifier with learnable activation functions on edges rather than nodes, reducing computational overhead.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Layer-Wise Fully Homomorphic Encryption (FHE):</a:t>
            </a:r>
            <a:r>
              <a:rPr lang="en-US" sz="2000" b="0" i="0" dirty="0">
                <a:effectLst/>
              </a:rPr>
              <a:t> Selectively encrypts only the most sensitive layers of the KAN model during aggregation, resolving the speed limitations of traditional FHE while preserving privacy.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379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1939A-DB6D-4901-BFEE-ED1FE4525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9838386" cy="95496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1BFF5-5316-483A-89B2-E910499F3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9838386" cy="3590132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</a:rPr>
              <a:t>Design a Collaborative IDS for </a:t>
            </a:r>
            <a:r>
              <a:rPr lang="en-US" sz="2200" b="1" i="0" dirty="0" err="1">
                <a:effectLst/>
              </a:rPr>
              <a:t>IoV</a:t>
            </a:r>
            <a:r>
              <a:rPr lang="en-US" sz="2200" b="1" i="0" dirty="0">
                <a:effectLst/>
              </a:rPr>
              <a:t>:</a:t>
            </a:r>
            <a:r>
              <a:rPr lang="en-US" sz="2200" b="0" i="0" dirty="0">
                <a:effectLst/>
              </a:rPr>
              <a:t> Develop a distributed, cooperative system to detect cyber threats across the fleet without requiring a central database of raw logs.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</a:rPr>
              <a:t>Preserve Privacy of Vehicle Data:</a:t>
            </a:r>
            <a:r>
              <a:rPr lang="en-US" sz="2200" b="0" i="0" dirty="0">
                <a:effectLst/>
              </a:rPr>
              <a:t> Leverage secure cryptographic channels and Layer-Wise FHE to ensure vehicle telemetry remains private.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</a:rPr>
              <a:t>Support Distributed Learning Across Vehicles:</a:t>
            </a:r>
            <a:r>
              <a:rPr lang="en-US" sz="2200" b="0" i="0" dirty="0">
                <a:effectLst/>
              </a:rPr>
              <a:t> Build a robust Federated Learning client-server architecture capable of handling vehicle churn, communication drops, and non-IID settings.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</a:rPr>
              <a:t>Detect Vehicular Cyber Attacks Efficiently:</a:t>
            </a:r>
            <a:r>
              <a:rPr lang="en-US" sz="2200" b="0" i="0" dirty="0">
                <a:effectLst/>
              </a:rPr>
              <a:t> Implement and optimize </a:t>
            </a:r>
            <a:r>
              <a:rPr lang="en-US" sz="2200" b="0" i="0" dirty="0" err="1">
                <a:effectLst/>
              </a:rPr>
              <a:t>KANConvNet</a:t>
            </a:r>
            <a:r>
              <a:rPr lang="en-US" sz="2200" b="0" i="0" dirty="0">
                <a:effectLst/>
              </a:rPr>
              <a:t> to detect low-latency attacks (target latency &lt;60&lt;60 </a:t>
            </a:r>
            <a:r>
              <a:rPr lang="en-US" sz="2200" b="0" i="0" dirty="0" err="1">
                <a:effectLst/>
              </a:rPr>
              <a:t>ms</a:t>
            </a:r>
            <a:r>
              <a:rPr lang="en-US" sz="2200" b="0" i="0" dirty="0">
                <a:effectLst/>
              </a:rPr>
              <a:t>) on resource-constrained Electronic Control Units (ECUs).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387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DB96-FC4C-95EF-B49C-FF9FC3CD3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609"/>
            <a:ext cx="9973614" cy="96832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  <a:t>Threat Model</a:t>
            </a:r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79BB2-CBF6-8FCD-8298-80A8FC5AC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192" y="1281813"/>
            <a:ext cx="10914485" cy="4395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l">
              <a:buNone/>
            </a:pPr>
            <a:r>
              <a:rPr lang="en-US" sz="2000" b="1" i="0" dirty="0">
                <a:effectLst/>
                <a:latin typeface="ui-sans-serif"/>
              </a:rPr>
              <a:t>Step 1 – Set Objectives</a:t>
            </a:r>
          </a:p>
          <a:p>
            <a:pPr marL="0" indent="0" algn="l">
              <a:buNone/>
            </a:pPr>
            <a:br>
              <a:rPr lang="en-US" sz="2000" dirty="0"/>
            </a:br>
            <a:r>
              <a:rPr lang="en-US" sz="2000" b="1" i="0" dirty="0">
                <a:effectLst/>
                <a:latin typeface="ui-sans-serif"/>
              </a:rPr>
              <a:t>Primary Objective:</a:t>
            </a:r>
            <a:r>
              <a:rPr lang="en-US" sz="2000" b="0" i="0" dirty="0">
                <a:effectLst/>
                <a:latin typeface="ui-sans-serif"/>
              </a:rPr>
              <a:t> Build a real-time, privacy-preserving Intrusion Detection System (IDS) to secure the Internet of Vehicles (</a:t>
            </a:r>
            <a:r>
              <a:rPr lang="en-US" sz="2000" b="0" i="0" dirty="0" err="1">
                <a:effectLst/>
                <a:latin typeface="ui-sans-serif"/>
              </a:rPr>
              <a:t>IoV</a:t>
            </a:r>
            <a:r>
              <a:rPr lang="en-US" sz="2000" b="0" i="0" dirty="0">
                <a:effectLst/>
                <a:latin typeface="ui-sans-serif"/>
              </a:rPr>
              <a:t>) against cyber-threats.</a:t>
            </a:r>
          </a:p>
          <a:p>
            <a:pPr marL="0" indent="0" algn="l">
              <a:buNone/>
            </a:pPr>
            <a:r>
              <a:rPr lang="en-US" sz="2000" b="1" i="0" dirty="0">
                <a:effectLst/>
                <a:latin typeface="ui-sans-serif"/>
              </a:rPr>
              <a:t>Security Goals (CIA-P Triad):</a:t>
            </a:r>
            <a:endParaRPr lang="en-US" sz="2000" b="0" i="0" dirty="0"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Confidentiality:</a:t>
            </a:r>
            <a:r>
              <a:rPr lang="en-US" sz="2000" b="0" i="0" dirty="0">
                <a:effectLst/>
                <a:latin typeface="ui-sans-serif"/>
              </a:rPr>
              <a:t> Protect vehicle network traffic and machine learning model weights from eavesdroppers.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Integrity:</a:t>
            </a:r>
            <a:r>
              <a:rPr lang="en-US" sz="2000" b="0" i="0" dirty="0">
                <a:effectLst/>
                <a:latin typeface="ui-sans-serif"/>
              </a:rPr>
              <a:t> Ensure model updates are not tampered with, and prevent compromised vehicles from injecting malicious updates.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Availability:</a:t>
            </a:r>
            <a:r>
              <a:rPr lang="en-US" sz="2000" b="0" i="0" dirty="0">
                <a:effectLst/>
                <a:latin typeface="ui-sans-serif"/>
              </a:rPr>
              <a:t> Ensure the system can detect and respond to attacks in real-time (under 60ms).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Privacy:</a:t>
            </a:r>
            <a:r>
              <a:rPr lang="en-US" sz="2000" b="0" i="0" dirty="0">
                <a:effectLst/>
                <a:latin typeface="ui-sans-serif"/>
              </a:rPr>
              <a:t> Guarantee raw vehicle telemetry (GPS location, speed, routes) never leaves the on-board unit.</a:t>
            </a:r>
          </a:p>
          <a:p>
            <a:pPr marL="0" indent="0">
              <a:buNone/>
            </a:pPr>
            <a:endParaRPr lang="en-IN" sz="20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51068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B00D1-56A7-4D95-8831-645973D2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273D-45FC-40C6-9E5D-CAFCEA634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4511" y="2224666"/>
            <a:ext cx="10429734" cy="439449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i="0" dirty="0">
                <a:effectLst/>
                <a:latin typeface="ui-sans-serif"/>
              </a:rPr>
              <a:t>Step 2 – Visualize</a:t>
            </a:r>
          </a:p>
          <a:p>
            <a:pPr marL="0" indent="0" algn="l">
              <a:buNone/>
            </a:pPr>
            <a:r>
              <a:rPr lang="en-US" b="1" i="0" dirty="0">
                <a:effectLst/>
                <a:latin typeface="ui-sans-serif"/>
              </a:rPr>
              <a:t>The Architecture (</a:t>
            </a:r>
            <a:r>
              <a:rPr lang="en-US" b="1" i="0" dirty="0" err="1">
                <a:effectLst/>
                <a:latin typeface="ui-sans-serif"/>
              </a:rPr>
              <a:t>FedIoV</a:t>
            </a:r>
            <a:r>
              <a:rPr lang="en-US" b="1" i="0" dirty="0">
                <a:effectLst/>
                <a:latin typeface="ui-sans-serif"/>
              </a:rPr>
              <a:t> / DCANFL):</a:t>
            </a:r>
            <a:endParaRPr lang="en-US" b="0" i="0" dirty="0"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Edge Client (Vehicle):</a:t>
            </a:r>
            <a:r>
              <a:rPr lang="en-US" b="0" i="0" dirty="0">
                <a:effectLst/>
                <a:latin typeface="ui-sans-serif"/>
              </a:rPr>
              <a:t> Collects local CAN bus traffic </a:t>
            </a:r>
            <a:r>
              <a:rPr lang="en-US" b="0" i="0" dirty="0">
                <a:effectLst/>
                <a:latin typeface="KaTeX_Main"/>
              </a:rPr>
              <a:t>→→</a:t>
            </a:r>
            <a:r>
              <a:rPr lang="en-US" b="0" i="0" dirty="0">
                <a:effectLst/>
                <a:latin typeface="ui-sans-serif"/>
              </a:rPr>
              <a:t> extracts a 46-dimensional "timeless" feature vector </a:t>
            </a:r>
            <a:r>
              <a:rPr lang="en-US" b="0" i="0" dirty="0">
                <a:effectLst/>
                <a:latin typeface="KaTeX_Main"/>
              </a:rPr>
              <a:t>→→</a:t>
            </a:r>
            <a:r>
              <a:rPr lang="en-US" b="0" i="0" dirty="0">
                <a:effectLst/>
                <a:latin typeface="ui-sans-serif"/>
              </a:rPr>
              <a:t> trains a local </a:t>
            </a:r>
            <a:r>
              <a:rPr lang="en-US" b="1" i="0" dirty="0" err="1">
                <a:effectLst/>
                <a:latin typeface="ui-sans-serif"/>
              </a:rPr>
              <a:t>KANConvNet</a:t>
            </a:r>
            <a:r>
              <a:rPr lang="en-US" b="0" i="0" dirty="0">
                <a:effectLst/>
                <a:latin typeface="ui-sans-serif"/>
              </a:rPr>
              <a:t> model.</a:t>
            </a:r>
          </a:p>
          <a:p>
            <a:pPr marL="457200" lvl="1" indent="0" algn="l">
              <a:buNone/>
            </a:pPr>
            <a:endParaRPr lang="en-US" b="0" i="0" dirty="0"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Secure Communication Channel:</a:t>
            </a:r>
            <a:r>
              <a:rPr lang="en-US" b="0" i="0" dirty="0">
                <a:effectLst/>
                <a:latin typeface="ui-sans-serif"/>
              </a:rPr>
              <a:t> Vehicle handshakes with the Edge Server using </a:t>
            </a:r>
            <a:r>
              <a:rPr lang="en-US" b="1" i="0" dirty="0">
                <a:effectLst/>
                <a:latin typeface="ui-sans-serif"/>
              </a:rPr>
              <a:t>Ed25519</a:t>
            </a:r>
            <a:r>
              <a:rPr lang="en-US" b="0" i="0" dirty="0">
                <a:effectLst/>
                <a:latin typeface="ui-sans-serif"/>
              </a:rPr>
              <a:t> (authentication) and </a:t>
            </a:r>
            <a:r>
              <a:rPr lang="en-US" b="1" i="0" dirty="0">
                <a:effectLst/>
                <a:latin typeface="ui-sans-serif"/>
              </a:rPr>
              <a:t>ECDH-P256</a:t>
            </a:r>
            <a:r>
              <a:rPr lang="en-US" b="0" i="0" dirty="0">
                <a:effectLst/>
                <a:latin typeface="ui-sans-serif"/>
              </a:rPr>
              <a:t> (key exchange) to encrypt updates with </a:t>
            </a:r>
            <a:r>
              <a:rPr lang="en-US" b="1" i="0" dirty="0">
                <a:effectLst/>
                <a:latin typeface="ui-sans-serif"/>
              </a:rPr>
              <a:t>AES-256-GCM</a:t>
            </a:r>
            <a:r>
              <a:rPr lang="en-US" b="0" i="0" dirty="0">
                <a:effectLst/>
                <a:latin typeface="ui-sans-serif"/>
              </a:rPr>
              <a:t>.</a:t>
            </a:r>
          </a:p>
          <a:p>
            <a:pPr marL="457200" lvl="1" indent="0" algn="l">
              <a:buNone/>
            </a:pPr>
            <a:endParaRPr lang="en-US" b="0" i="0" dirty="0"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Edge Server (Aggregator):</a:t>
            </a:r>
            <a:r>
              <a:rPr lang="en-US" b="0" i="0" dirty="0">
                <a:effectLst/>
                <a:latin typeface="ui-sans-serif"/>
              </a:rPr>
              <a:t> Collects encrypted updates </a:t>
            </a:r>
            <a:r>
              <a:rPr lang="en-US" b="0" i="0" dirty="0">
                <a:effectLst/>
                <a:latin typeface="KaTeX_Main"/>
              </a:rPr>
              <a:t>→→</a:t>
            </a:r>
            <a:r>
              <a:rPr lang="en-US" b="0" i="0" dirty="0">
                <a:effectLst/>
                <a:latin typeface="ui-sans-serif"/>
              </a:rPr>
              <a:t> runs </a:t>
            </a:r>
            <a:r>
              <a:rPr lang="en-US" b="1" i="0" dirty="0">
                <a:effectLst/>
                <a:latin typeface="ui-sans-serif"/>
              </a:rPr>
              <a:t>Multi-Krum</a:t>
            </a:r>
            <a:r>
              <a:rPr lang="en-US" b="0" i="0" dirty="0">
                <a:effectLst/>
                <a:latin typeface="ui-sans-serif"/>
              </a:rPr>
              <a:t> to filter outliers </a:t>
            </a:r>
            <a:r>
              <a:rPr lang="en-US" b="0" i="0" dirty="0">
                <a:effectLst/>
                <a:latin typeface="KaTeX_Main"/>
              </a:rPr>
              <a:t>→→</a:t>
            </a:r>
            <a:r>
              <a:rPr lang="en-US" b="0" i="0" dirty="0">
                <a:effectLst/>
                <a:latin typeface="ui-sans-serif"/>
              </a:rPr>
              <a:t> averages updates </a:t>
            </a:r>
            <a:r>
              <a:rPr lang="en-US" b="0" i="0" dirty="0">
                <a:effectLst/>
                <a:latin typeface="KaTeX_Main"/>
              </a:rPr>
              <a:t>→→</a:t>
            </a:r>
            <a:r>
              <a:rPr lang="en-US" b="0" i="0" dirty="0">
                <a:effectLst/>
                <a:latin typeface="ui-sans-serif"/>
              </a:rPr>
              <a:t> broadcasts the new global model.</a:t>
            </a:r>
          </a:p>
          <a:p>
            <a:pPr marL="457200" lvl="1" indent="0" algn="l">
              <a:buNone/>
            </a:pPr>
            <a:endParaRPr lang="en-US" b="0" i="0" dirty="0"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Layer-Wise FHE (Fully Homomorphic Encryption):</a:t>
            </a:r>
            <a:r>
              <a:rPr lang="en-US" b="0" i="0" dirty="0">
                <a:effectLst/>
                <a:latin typeface="ui-sans-serif"/>
              </a:rPr>
              <a:t> Selectively encrypts the most sensitive layer weights of the KAN </a:t>
            </a:r>
            <a:r>
              <a:rPr lang="en-US" b="0" i="0" dirty="0" err="1">
                <a:effectLst/>
                <a:latin typeface="ui-sans-serif"/>
              </a:rPr>
              <a:t>ConvNet</a:t>
            </a:r>
            <a:r>
              <a:rPr lang="en-US" b="0" i="0" dirty="0">
                <a:effectLst/>
                <a:latin typeface="ui-sans-serif"/>
              </a:rPr>
              <a:t>, allowing the server to aggregate them without decrypting them.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3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28752-0D40-4DCD-B6BE-4CE69114E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A12B7-5DD3-4881-9250-CE769B68F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0297"/>
            <a:ext cx="10912878" cy="43535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i="0" dirty="0">
                <a:effectLst/>
                <a:latin typeface="ui-sans-serif"/>
              </a:rPr>
              <a:t>Step 3 – Identify Threats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Threat 1: In-Vehicle Network Attacks (CAN Bus Exploitation)</a:t>
            </a:r>
            <a:endParaRPr lang="en-US" sz="2000" b="0" i="0" dirty="0"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1" dirty="0">
                <a:effectLst/>
                <a:latin typeface="ui-sans-serif"/>
              </a:rPr>
              <a:t>Denial of Service (DoS):</a:t>
            </a:r>
            <a:r>
              <a:rPr lang="en-US" sz="2000" b="0" i="0" dirty="0">
                <a:effectLst/>
                <a:latin typeface="ui-sans-serif"/>
              </a:rPr>
              <a:t> Attackers flood the CAN bus with high-priority messages, freezing brakes or steering controls.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1" dirty="0">
                <a:effectLst/>
                <a:latin typeface="ui-sans-serif"/>
              </a:rPr>
              <a:t>Fuzzy / Impersonation Attacks:</a:t>
            </a:r>
            <a:r>
              <a:rPr lang="en-US" sz="2000" b="0" i="0" dirty="0">
                <a:effectLst/>
                <a:latin typeface="ui-sans-serif"/>
              </a:rPr>
              <a:t> Attackers inject random or spoofed packets to confuse onboard ECUs.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Threat 2: Byzantine / Poisoning Attacks (Machine Learning Level)</a:t>
            </a:r>
            <a:endParaRPr lang="en-US" sz="2000" b="0" i="0" dirty="0"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1" dirty="0">
                <a:effectLst/>
                <a:latin typeface="ui-sans-serif"/>
              </a:rPr>
              <a:t>Model Poisoning:</a:t>
            </a:r>
            <a:r>
              <a:rPr lang="en-US" sz="2000" b="0" i="0" dirty="0">
                <a:effectLst/>
                <a:latin typeface="ui-sans-serif"/>
              </a:rPr>
              <a:t> Hacked vehicles upload corrupt model weights during federated training to blind the global model to specific attacks.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Threat 3: Communication Eavesdropping &amp; Privacy Leakage</a:t>
            </a:r>
            <a:endParaRPr lang="en-US" sz="2000" b="0" i="0" dirty="0"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1" dirty="0">
                <a:effectLst/>
                <a:latin typeface="ui-sans-serif"/>
              </a:rPr>
              <a:t>Man-in-the-Middle (MitM):</a:t>
            </a:r>
            <a:r>
              <a:rPr lang="en-US" sz="2000" b="0" i="0" dirty="0">
                <a:effectLst/>
                <a:latin typeface="ui-sans-serif"/>
              </a:rPr>
              <a:t> Intercepting and modifying model updates in transit.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1" dirty="0">
                <a:effectLst/>
                <a:latin typeface="ui-sans-serif"/>
              </a:rPr>
              <a:t>Reconstruction Attacks:</a:t>
            </a:r>
            <a:r>
              <a:rPr lang="en-US" sz="2000" b="0" i="0" dirty="0">
                <a:effectLst/>
                <a:latin typeface="ui-sans-serif"/>
              </a:rPr>
              <a:t> Eavesdroppers reverse-engineering plaintext model weights to reconstruct raw driving telemetry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52932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8DBAC-B44C-4ED4-94CA-301C7B41E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C414D-2DB0-424C-B24B-D521CA00D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1978925"/>
            <a:ext cx="10597486" cy="42376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i="0" dirty="0">
                <a:effectLst/>
                <a:latin typeface="ui-sans-serif"/>
              </a:rPr>
              <a:t>Step 4 – Mitigate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Mitigating In-Vehicle Attacks:</a:t>
            </a:r>
            <a:endParaRPr lang="en-US" sz="2000" b="0" i="0" dirty="0"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 err="1">
                <a:effectLst/>
                <a:latin typeface="ui-sans-serif"/>
              </a:rPr>
              <a:t>KANConvNet</a:t>
            </a:r>
            <a:r>
              <a:rPr lang="en-US" sz="2000" b="1" i="0" dirty="0">
                <a:effectLst/>
                <a:latin typeface="ui-sans-serif"/>
              </a:rPr>
              <a:t> IDS:</a:t>
            </a:r>
            <a:r>
              <a:rPr lang="en-US" sz="2000" b="0" i="0" dirty="0">
                <a:effectLst/>
                <a:latin typeface="ui-sans-serif"/>
              </a:rPr>
              <a:t> Runs locally on the vehicle, analyzing overlapping sliding windows (</a:t>
            </a:r>
            <a:r>
              <a:rPr lang="en-US" sz="2000" b="0" i="0" dirty="0">
                <a:effectLst/>
                <a:latin typeface="KaTeX_Main"/>
              </a:rPr>
              <a:t>W=64</a:t>
            </a:r>
            <a:r>
              <a:rPr lang="en-US" sz="2000" b="0" i="1" dirty="0">
                <a:effectLst/>
                <a:latin typeface="KaTeX_Math"/>
              </a:rPr>
              <a:t>W</a:t>
            </a:r>
            <a:r>
              <a:rPr lang="en-US" sz="2000" b="0" i="0" dirty="0">
                <a:effectLst/>
                <a:latin typeface="KaTeX_Main"/>
              </a:rPr>
              <a:t>=64</a:t>
            </a:r>
            <a:r>
              <a:rPr lang="en-US" sz="2000" b="0" i="0" dirty="0">
                <a:effectLst/>
                <a:latin typeface="ui-sans-serif"/>
              </a:rPr>
              <a:t>, </a:t>
            </a:r>
            <a:r>
              <a:rPr lang="en-US" sz="2000" b="0" i="0" dirty="0">
                <a:effectLst/>
                <a:latin typeface="KaTeX_Main"/>
              </a:rPr>
              <a:t>S=16</a:t>
            </a:r>
            <a:r>
              <a:rPr lang="en-US" sz="2000" b="0" i="1" dirty="0">
                <a:effectLst/>
                <a:latin typeface="KaTeX_Math"/>
              </a:rPr>
              <a:t>S</a:t>
            </a:r>
            <a:r>
              <a:rPr lang="en-US" sz="2000" b="0" i="0" dirty="0">
                <a:effectLst/>
                <a:latin typeface="KaTeX_Main"/>
              </a:rPr>
              <a:t>=16</a:t>
            </a:r>
            <a:r>
              <a:rPr lang="en-US" sz="2000" b="0" i="0" dirty="0">
                <a:effectLst/>
                <a:latin typeface="ui-sans-serif"/>
              </a:rPr>
              <a:t>) to flag anomalous entropy, payload patterns, or ID frequencies.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Mitigating Federated Poisoning (Byzantine Attacks):</a:t>
            </a:r>
            <a:endParaRPr lang="en-US" sz="2000" b="0" i="0" dirty="0"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Multi-Krum &amp; TOPSIS:</a:t>
            </a:r>
            <a:r>
              <a:rPr lang="en-US" sz="2000" b="0" i="0" dirty="0">
                <a:effectLst/>
                <a:latin typeface="ui-sans-serif"/>
              </a:rPr>
              <a:t> The edge server calculates distance metrics between updates. Outliers (e.g., poisoned updates from hacked cars) are isolated and discarded.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Mitigating Network &amp; Privacy Threats:</a:t>
            </a:r>
            <a:endParaRPr lang="en-US" sz="2000" b="0" i="0" dirty="0"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ECDH + AES-256-GCM:</a:t>
            </a:r>
            <a:r>
              <a:rPr lang="en-US" sz="2000" b="0" i="0" dirty="0">
                <a:effectLst/>
                <a:latin typeface="ui-sans-serif"/>
              </a:rPr>
              <a:t> Establishes ephemeral key encryption for all transmissions (perfect forward secrecy).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ui-sans-serif"/>
              </a:rPr>
              <a:t>Layer-Wise FHE:</a:t>
            </a:r>
            <a:r>
              <a:rPr lang="en-US" sz="2000" b="0" i="0" dirty="0">
                <a:effectLst/>
                <a:latin typeface="ui-sans-serif"/>
              </a:rPr>
              <a:t> Fully Homomorphic Encryption is applied </a:t>
            </a:r>
            <a:r>
              <a:rPr lang="en-US" sz="2000" b="0" i="1" dirty="0">
                <a:effectLst/>
                <a:latin typeface="ui-sans-serif"/>
              </a:rPr>
              <a:t>only</a:t>
            </a:r>
            <a:r>
              <a:rPr lang="en-US" sz="2000" b="0" i="0" dirty="0">
                <a:effectLst/>
                <a:latin typeface="ui-sans-serif"/>
              </a:rPr>
              <a:t> to the most sensitive layers of the </a:t>
            </a:r>
            <a:r>
              <a:rPr lang="en-US" sz="2000" b="0" i="0" dirty="0" err="1">
                <a:effectLst/>
                <a:latin typeface="ui-sans-serif"/>
              </a:rPr>
              <a:t>KANConvNet</a:t>
            </a:r>
            <a:r>
              <a:rPr lang="en-US" sz="2000" b="0" i="0" dirty="0">
                <a:effectLst/>
                <a:latin typeface="ui-sans-serif"/>
              </a:rPr>
              <a:t>, keeping performance fast while guaranteeing cryptographic privacy.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29109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0FF54-7DD1-4CCA-8C7E-6D207FC6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968" y="347872"/>
            <a:ext cx="9920288" cy="1325563"/>
          </a:xfrm>
        </p:spPr>
        <p:txBody>
          <a:bodyPr/>
          <a:lstStyle/>
          <a:p>
            <a:r>
              <a:rPr lang="en-US"/>
              <a:t>Threat Matrix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A7AA2F-9319-4D74-880C-BF7FA6C75EE0}"/>
              </a:ext>
            </a:extLst>
          </p:cNvPr>
          <p:cNvGraphicFramePr>
            <a:graphicFrameLocks noGrp="1"/>
          </p:cNvGraphicFramePr>
          <p:nvPr/>
        </p:nvGraphicFramePr>
        <p:xfrm>
          <a:off x="1102416" y="1825625"/>
          <a:ext cx="9987168" cy="4062413"/>
        </p:xfrm>
        <a:graphic>
          <a:graphicData uri="http://schemas.openxmlformats.org/drawingml/2006/table">
            <a:tbl>
              <a:tblPr/>
              <a:tblGrid>
                <a:gridCol w="3329056">
                  <a:extLst>
                    <a:ext uri="{9D8B030D-6E8A-4147-A177-3AD203B41FA5}">
                      <a16:colId xmlns:a16="http://schemas.microsoft.com/office/drawing/2014/main" val="2985415545"/>
                    </a:ext>
                  </a:extLst>
                </a:gridCol>
                <a:gridCol w="3329056">
                  <a:extLst>
                    <a:ext uri="{9D8B030D-6E8A-4147-A177-3AD203B41FA5}">
                      <a16:colId xmlns:a16="http://schemas.microsoft.com/office/drawing/2014/main" val="3116836817"/>
                    </a:ext>
                  </a:extLst>
                </a:gridCol>
                <a:gridCol w="3329056">
                  <a:extLst>
                    <a:ext uri="{9D8B030D-6E8A-4147-A177-3AD203B41FA5}">
                      <a16:colId xmlns:a16="http://schemas.microsoft.com/office/drawing/2014/main" val="462808382"/>
                    </a:ext>
                  </a:extLst>
                </a:gridCol>
              </a:tblGrid>
              <a:tr h="357029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Google Sans Text"/>
                        </a:rPr>
                        <a:t>Threat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Google Sans Text"/>
                        </a:rPr>
                        <a:t>Description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Google Sans Text"/>
                        </a:rPr>
                        <a:t>Mitigation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1886282"/>
                  </a:ext>
                </a:extLst>
              </a:tr>
              <a:tr h="617564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Google Sans Text"/>
                        </a:rPr>
                        <a:t>Data &amp; Model Poisoning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Google Sans Text"/>
                        </a:rPr>
                        <a:t>Attacker injects bad data or manipulated gradients</a:t>
                      </a: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Google Sans Text"/>
                        </a:rPr>
                        <a:t>Multi-Krum + TOPSIS</a:t>
                      </a: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357616"/>
                  </a:ext>
                </a:extLst>
              </a:tr>
              <a:tr h="617564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Google Sans Text"/>
                        </a:rPr>
                        <a:t>Man-in-the-Middle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Google Sans Text"/>
                        </a:rPr>
                        <a:t>Attacker intercepts or modifies updates between client &amp; server</a:t>
                      </a: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Google Sans Text"/>
                        </a:rPr>
                        <a:t>Ed25519 + AES-256-GCM</a:t>
                      </a: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530884"/>
                  </a:ext>
                </a:extLst>
              </a:tr>
              <a:tr h="617564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Google Sans Text"/>
                        </a:rPr>
                        <a:t>Backdoor Attack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Google Sans Text"/>
                        </a:rPr>
                        <a:t>Attacker inserts hidden triggers that activate malicious behavior</a:t>
                      </a: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Google Sans Text"/>
                        </a:rPr>
                        <a:t>Multi-Krum distance-based filtering</a:t>
                      </a: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7686586"/>
                  </a:ext>
                </a:extLst>
              </a:tr>
              <a:tr h="617564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Google Sans Text"/>
                        </a:rPr>
                        <a:t>Byzantine Failure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Google Sans Text"/>
                        </a:rPr>
                        <a:t>Malicious clients send arbitrary or corrupted updates</a:t>
                      </a: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Google Sans Text"/>
                        </a:rPr>
                        <a:t>Multi-Krum selects top 5 consistent</a:t>
                      </a: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7450677"/>
                  </a:ext>
                </a:extLst>
              </a:tr>
              <a:tr h="617564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Google Sans Text"/>
                        </a:rPr>
                        <a:t>Privacy Attacks</a:t>
                      </a:r>
                      <a:r>
                        <a:rPr lang="en-US" sz="1700"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700" i="1">
                          <a:effectLst/>
                          <a:latin typeface="Google Sans Text"/>
                        </a:rPr>
                        <a:t>(Inversion/Leakage)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Google Sans Text"/>
                        </a:rPr>
                        <a:t>Attacker reconstructs training data from shared gradients</a:t>
                      </a: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Google Sans Text"/>
                        </a:rPr>
                        <a:t>Differential Privacy (</a:t>
                      </a:r>
                      <a:r>
                        <a:rPr lang="el-GR" sz="1700">
                          <a:effectLst/>
                          <a:latin typeface="Google Sans Text"/>
                        </a:rPr>
                        <a:t>σ=1.2, </a:t>
                      </a:r>
                      <a:r>
                        <a:rPr lang="en-US" sz="1700">
                          <a:effectLst/>
                          <a:latin typeface="Google Sans Text"/>
                        </a:rPr>
                        <a:t>C=1.0)</a:t>
                      </a: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1257583"/>
                  </a:ext>
                </a:extLst>
              </a:tr>
              <a:tr h="617564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Google Sans Text"/>
                        </a:rPr>
                        <a:t>Denial of Service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Google Sans Text"/>
                        </a:rPr>
                        <a:t>Attacker floods server with updates to overwhelm processing</a:t>
                      </a: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  <a:latin typeface="Google Sans Text"/>
                        </a:rPr>
                        <a:t>TOPSIS dimensionality reduction</a:t>
                      </a:r>
                    </a:p>
                  </a:txBody>
                  <a:tcPr marL="72371" marR="72371" marT="48247" marB="4824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556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780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B524F-3719-442B-BEE5-C3136D34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47856" cy="884126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  <a:t>Dataset Acquisition</a:t>
            </a:r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03743-789C-47CF-A559-9D0E340EC6BD}"/>
              </a:ext>
            </a:extLst>
          </p:cNvPr>
          <p:cNvSpPr txBox="1"/>
          <p:nvPr/>
        </p:nvSpPr>
        <p:spPr>
          <a:xfrm>
            <a:off x="1225338" y="1342253"/>
            <a:ext cx="420106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effectLst/>
              </a:rPr>
              <a:t>Car-Hacking Dataset(HCRL): (1 year ago)</a:t>
            </a:r>
            <a:endParaRPr lang="en-US" b="0" i="0" dirty="0"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effectLst/>
              </a:rPr>
              <a:t>Scope:</a:t>
            </a:r>
            <a:r>
              <a:rPr lang="en-US" b="0" i="0" dirty="0">
                <a:effectLst/>
              </a:rPr>
              <a:t> Labeled CAN bus traffic from a real Hyundai YF Sonata.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effectLst/>
              </a:rPr>
              <a:t>Size/Type:</a:t>
            </a:r>
            <a:r>
              <a:rPr lang="en-US" b="0" i="0" dirty="0">
                <a:effectLst/>
              </a:rPr>
              <a:t> CSV logs containing CAN-ID, DLC, payload bytes, and injection flags.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effectLst/>
              </a:rPr>
              <a:t>Threat Classes:</a:t>
            </a:r>
            <a:r>
              <a:rPr lang="en-US" b="0" i="0" dirty="0">
                <a:effectLst/>
              </a:rPr>
              <a:t> Normal run, DoS, Fuzzy, RPM, and Gear attacks.</a:t>
            </a:r>
          </a:p>
          <a:p>
            <a:pPr algn="l">
              <a:buFont typeface="+mj-lt"/>
              <a:buAutoNum type="arabicPeriod"/>
            </a:pPr>
            <a:r>
              <a:rPr lang="en-US" b="1" i="0" dirty="0" err="1">
                <a:effectLst/>
              </a:rPr>
              <a:t>VeReMi</a:t>
            </a:r>
            <a:r>
              <a:rPr lang="en-US" b="1" i="0" dirty="0">
                <a:effectLst/>
              </a:rPr>
              <a:t> Dataset: ( 3 years ago)</a:t>
            </a:r>
            <a:endParaRPr lang="en-US" b="0" i="0" dirty="0"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effectLst/>
              </a:rPr>
              <a:t>Scope:</a:t>
            </a:r>
            <a:r>
              <a:rPr lang="en-US" b="0" i="0" dirty="0">
                <a:effectLst/>
              </a:rPr>
              <a:t> Kinematic beacon data from V2V communication in VANET simulations.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effectLst/>
              </a:rPr>
              <a:t>Size/Type:</a:t>
            </a:r>
            <a:r>
              <a:rPr lang="en-US" b="0" i="0" dirty="0">
                <a:effectLst/>
              </a:rPr>
              <a:t> 18 kinematic features (positions, speeds, accelerations, headings, noise levels).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effectLst/>
              </a:rPr>
              <a:t>Threat Classes:</a:t>
            </a:r>
            <a:r>
              <a:rPr lang="en-US" b="0" i="0" dirty="0">
                <a:effectLst/>
              </a:rPr>
              <a:t> Benign (BENIGN) and Attack (ATTACK) (falsified kinematic attributes).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2B0057-A3E4-4F5E-A218-432AFFE2EF2A}"/>
              </a:ext>
            </a:extLst>
          </p:cNvPr>
          <p:cNvSpPr txBox="1"/>
          <p:nvPr/>
        </p:nvSpPr>
        <p:spPr>
          <a:xfrm>
            <a:off x="5495798" y="1249252"/>
            <a:ext cx="55725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effectLst/>
              </a:rPr>
              <a:t>3.CICIDS 2017 Dataset: (updated 3 years ago)</a:t>
            </a:r>
            <a:endParaRPr lang="en-US" b="0" i="0" dirty="0"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effectLst/>
              </a:rPr>
              <a:t>Scope:</a:t>
            </a:r>
            <a:r>
              <a:rPr lang="en-US" b="0" i="0" dirty="0">
                <a:effectLst/>
              </a:rPr>
              <a:t> Network flow-level traffic logs spanning multi-layer V2I and V2N network protocols.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effectLst/>
              </a:rPr>
              <a:t>Size/Type:</a:t>
            </a:r>
            <a:r>
              <a:rPr lang="en-US" b="0" i="0" dirty="0">
                <a:effectLst/>
              </a:rPr>
              <a:t> 78 numeric flow features down-selected to a stable 46-feature network baseline.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effectLst/>
              </a:rPr>
              <a:t>Threat Classes:</a:t>
            </a:r>
            <a:r>
              <a:rPr lang="en-US" b="0" i="0" dirty="0">
                <a:effectLst/>
              </a:rPr>
              <a:t> Benign vs. Attack (DDoS, </a:t>
            </a:r>
            <a:r>
              <a:rPr lang="en-US" b="0" i="0" dirty="0" err="1">
                <a:effectLst/>
              </a:rPr>
              <a:t>PortScan</a:t>
            </a:r>
            <a:r>
              <a:rPr lang="en-US" b="0" i="0" dirty="0">
                <a:effectLst/>
              </a:rPr>
              <a:t>, FTP-</a:t>
            </a:r>
            <a:r>
              <a:rPr lang="en-US" b="0" i="0" dirty="0" err="1">
                <a:effectLst/>
              </a:rPr>
              <a:t>Patator</a:t>
            </a:r>
            <a:r>
              <a:rPr lang="en-US" b="0" i="0" dirty="0">
                <a:effectLst/>
              </a:rPr>
              <a:t>, SSH-</a:t>
            </a:r>
            <a:r>
              <a:rPr lang="en-US" b="0" i="0" dirty="0" err="1">
                <a:effectLst/>
              </a:rPr>
              <a:t>Patator</a:t>
            </a:r>
            <a:r>
              <a:rPr lang="en-US" b="0" i="0" dirty="0">
                <a:effectLst/>
              </a:rPr>
              <a:t>, Web Attacks, etc.)</a:t>
            </a:r>
          </a:p>
          <a:p>
            <a:pPr algn="l"/>
            <a:r>
              <a:rPr lang="en-US" b="1" i="0" dirty="0">
                <a:effectLst/>
              </a:rPr>
              <a:t>4.IEEE VTC-CAN Dataset: (</a:t>
            </a:r>
            <a:r>
              <a:rPr lang="en-US" b="1" i="0">
                <a:effectLst/>
              </a:rPr>
              <a:t>last updated 2025)</a:t>
            </a:r>
            <a:endParaRPr lang="en-US" b="0" i="0" dirty="0"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effectLst/>
              </a:rPr>
              <a:t>Scope:</a:t>
            </a:r>
            <a:r>
              <a:rPr lang="en-US" b="0" i="0" dirty="0">
                <a:effectLst/>
              </a:rPr>
              <a:t> Labeled high-fidelity in-vehicle CAN bus log stream under attack injections.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effectLst/>
              </a:rPr>
              <a:t>Size/Type:</a:t>
            </a:r>
            <a:r>
              <a:rPr lang="en-US" b="0" i="0" dirty="0">
                <a:effectLst/>
              </a:rPr>
              <a:t> CAN frames windowed to 46-dimensional temporal descriptors.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effectLst/>
              </a:rPr>
              <a:t>Threat Classes:</a:t>
            </a:r>
            <a:r>
              <a:rPr lang="en-US" b="0" i="0" dirty="0">
                <a:effectLst/>
              </a:rPr>
              <a:t> Attack-free, DoS attack, Fuzzy attack, and Impersonation attack.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499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65DEC-AEA8-4CEE-AAF4-5D301E7A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9941417" cy="922762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4E79E-5F58-4636-8BF6-7A1305E8A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4637" y="1835706"/>
            <a:ext cx="10136306" cy="359013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000" b="1" i="0" u="sng" dirty="0">
                <a:effectLst/>
              </a:rPr>
              <a:t>Justification</a:t>
            </a:r>
          </a:p>
          <a:p>
            <a:pPr marL="0" indent="0" algn="l">
              <a:buNone/>
            </a:pPr>
            <a:r>
              <a:rPr lang="en-US" sz="2000" b="1" i="0" dirty="0">
                <a:effectLst/>
              </a:rPr>
              <a:t>Coverage:</a:t>
            </a:r>
            <a:endParaRPr lang="en-US" sz="2000" b="0" i="0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Low-Level IVN Protection:</a:t>
            </a:r>
            <a:r>
              <a:rPr lang="en-US" sz="2000" b="0" i="0" dirty="0">
                <a:effectLst/>
              </a:rPr>
              <a:t> </a:t>
            </a:r>
            <a:r>
              <a:rPr lang="en-US" sz="2000" b="0" i="1" dirty="0">
                <a:effectLst/>
              </a:rPr>
              <a:t>Car-Hacking</a:t>
            </a:r>
            <a:r>
              <a:rPr lang="en-US" sz="2000" b="0" i="0" dirty="0">
                <a:effectLst/>
              </a:rPr>
              <a:t> and </a:t>
            </a:r>
            <a:r>
              <a:rPr lang="en-US" sz="2000" b="0" i="1" dirty="0">
                <a:effectLst/>
              </a:rPr>
              <a:t>IEEE VTC-CAN</a:t>
            </a:r>
            <a:r>
              <a:rPr lang="en-US" sz="2000" b="0" i="0" dirty="0">
                <a:effectLst/>
              </a:rPr>
              <a:t> evaluate anomaly detection on the internal physical ECU bus (message intervals, ID distributions, payload integrity).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High-Level V2V Protection:</a:t>
            </a:r>
            <a:r>
              <a:rPr lang="en-US" sz="2000" b="0" i="0" dirty="0">
                <a:effectLst/>
              </a:rPr>
              <a:t> </a:t>
            </a:r>
            <a:r>
              <a:rPr lang="en-US" sz="2000" b="0" i="1" dirty="0" err="1">
                <a:effectLst/>
              </a:rPr>
              <a:t>VeReMi</a:t>
            </a:r>
            <a:r>
              <a:rPr lang="en-US" sz="2000" b="0" i="0" dirty="0">
                <a:effectLst/>
              </a:rPr>
              <a:t> evaluates system resilience to geographic and kinematic coordinate spoofing or communication misbehavior.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High-Level V2I/V2N Protection:</a:t>
            </a:r>
            <a:r>
              <a:rPr lang="en-US" sz="2000" b="0" i="0" dirty="0">
                <a:effectLst/>
              </a:rPr>
              <a:t> </a:t>
            </a:r>
            <a:r>
              <a:rPr lang="en-US" sz="2000" b="0" i="1" dirty="0">
                <a:effectLst/>
              </a:rPr>
              <a:t>CICIDS 2017</a:t>
            </a:r>
            <a:r>
              <a:rPr lang="en-US" sz="2000" b="0" i="0" dirty="0">
                <a:effectLst/>
              </a:rPr>
              <a:t> evaluates broad network-layer threats (DDoS, brute-force exploits, scans) targeting external connectivity.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Realism &amp; Data Heterogeneity:</a:t>
            </a:r>
            <a:r>
              <a:rPr lang="en-US" sz="2000" b="0" i="0" dirty="0">
                <a:effectLst/>
              </a:rPr>
              <a:t> Incorporating these four distinct datasets tests the dataset-agnostic feature engineering layer and the robustness of </a:t>
            </a:r>
            <a:r>
              <a:rPr lang="en-US" sz="2000" b="0" i="0" dirty="0" err="1">
                <a:effectLst/>
              </a:rPr>
              <a:t>KANConvNet</a:t>
            </a:r>
            <a:r>
              <a:rPr lang="en-US" sz="2000" b="0" i="0" dirty="0">
                <a:effectLst/>
              </a:rPr>
              <a:t> across high-frequency binary sequences, continuous float vectors, and IP traffic metrics.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45803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1549-961B-4299-8FC5-E715C9D33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89901" cy="1077309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Data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AB7BA4-1524-5EB5-DC7C-A316C56CE68C}"/>
              </a:ext>
            </a:extLst>
          </p:cNvPr>
          <p:cNvSpPr txBox="1"/>
          <p:nvPr/>
        </p:nvSpPr>
        <p:spPr>
          <a:xfrm>
            <a:off x="1165537" y="1933444"/>
            <a:ext cx="1082469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Challenge: </a:t>
            </a:r>
            <a:r>
              <a:rPr lang="en-IN" sz="2000" dirty="0"/>
              <a:t>Heterogeneous </a:t>
            </a:r>
            <a:r>
              <a:rPr lang="en-IN" sz="2000" dirty="0" err="1"/>
              <a:t>DatasetsVarying</a:t>
            </a:r>
            <a:r>
              <a:rPr lang="en-IN" sz="2000" dirty="0"/>
              <a:t> Protocols: CAN bus messages (HEX payloads) vs. V2X beacons (coordinate floats) vs. IP flows (network counts).</a:t>
            </a:r>
          </a:p>
          <a:p>
            <a:endParaRPr lang="en-IN" sz="2000" dirty="0"/>
          </a:p>
          <a:p>
            <a:r>
              <a:rPr lang="en-IN" sz="2000" b="1" dirty="0"/>
              <a:t>Goal: </a:t>
            </a:r>
            <a:r>
              <a:rPr lang="en-IN" sz="2000" dirty="0"/>
              <a:t>Standardize diverse inputs into a single format so the same neural network (</a:t>
            </a:r>
            <a:r>
              <a:rPr lang="en-IN" sz="2000" dirty="0" err="1"/>
              <a:t>KANConvNet</a:t>
            </a:r>
            <a:r>
              <a:rPr lang="en-IN" sz="2000" dirty="0"/>
              <a:t>) can be reused.</a:t>
            </a:r>
          </a:p>
          <a:p>
            <a:endParaRPr lang="en-IN" sz="2000" dirty="0"/>
          </a:p>
          <a:p>
            <a:r>
              <a:rPr lang="en-IN" sz="2000" b="1" dirty="0"/>
              <a:t>Solution: </a:t>
            </a:r>
            <a:r>
              <a:rPr lang="en-IN" sz="2000" dirty="0"/>
              <a:t>Unified Feature Extraction</a:t>
            </a:r>
          </a:p>
          <a:p>
            <a:r>
              <a:rPr lang="en-IN" sz="2000" dirty="0"/>
              <a:t>Sliding Window: Group incoming message streams into a sliding window of size W=64 messages and stride S=16.</a:t>
            </a:r>
          </a:p>
          <a:p>
            <a:endParaRPr lang="en-IN" sz="2000" dirty="0"/>
          </a:p>
          <a:p>
            <a:r>
              <a:rPr lang="en-IN" sz="2000" b="1" dirty="0"/>
              <a:t>Feature Unification: </a:t>
            </a:r>
            <a:r>
              <a:rPr lang="en-IN" sz="2000" dirty="0"/>
              <a:t>Summarize each window into exactly 46 universal features (numbers).</a:t>
            </a:r>
          </a:p>
          <a:p>
            <a:endParaRPr lang="en-IN" sz="2000" dirty="0"/>
          </a:p>
          <a:p>
            <a:r>
              <a:rPr lang="en-IN" sz="2000" b="1" dirty="0"/>
              <a:t>Unified Pipeline: </a:t>
            </a:r>
            <a:r>
              <a:rPr lang="en-IN" sz="2000" dirty="0"/>
              <a:t>Creates a dataset-agnostic feature vector x∈R^46 for the classifier model.</a:t>
            </a:r>
          </a:p>
        </p:txBody>
      </p:sp>
    </p:spTree>
    <p:extLst>
      <p:ext uri="{BB962C8B-B14F-4D97-AF65-F5344CB8AC3E}">
        <p14:creationId xmlns:p14="http://schemas.microsoft.com/office/powerpoint/2010/main" val="2337346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B8A15-ADF0-4C50-9CAB-BFE210A27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585361" cy="1045112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  <a:t>Data Engineering (46-D Feature Mapping)</a:t>
            </a:r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FB036-93E9-643A-09EB-AA81930E2CC4}"/>
              </a:ext>
            </a:extLst>
          </p:cNvPr>
          <p:cNvSpPr txBox="1"/>
          <p:nvPr/>
        </p:nvSpPr>
        <p:spPr>
          <a:xfrm>
            <a:off x="1062506" y="1328668"/>
            <a:ext cx="1159098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400" dirty="0"/>
              <a:t>In-Vehicle Networks (Car-Hacking &amp; IEEE VTC-CAN):</a:t>
            </a:r>
          </a:p>
          <a:p>
            <a:endParaRPr lang="en-IN" dirty="0"/>
          </a:p>
          <a:p>
            <a:r>
              <a:rPr lang="en-IN" dirty="0"/>
              <a:t>	</a:t>
            </a:r>
            <a:r>
              <a:rPr lang="en-IN" b="1" dirty="0"/>
              <a:t>What it measures: </a:t>
            </a:r>
            <a:r>
              <a:rPr lang="en-IN" dirty="0"/>
              <a:t>High-frequency messages exchanged between internal ECUs.</a:t>
            </a:r>
          </a:p>
          <a:p>
            <a:r>
              <a:rPr lang="en-IN" dirty="0"/>
              <a:t>46-D Feature </a:t>
            </a:r>
            <a:r>
              <a:rPr lang="en-IN" dirty="0" err="1"/>
              <a:t>Breakdown:Payload</a:t>
            </a:r>
            <a:r>
              <a:rPr lang="en-IN" dirty="0"/>
              <a:t> Stats (16):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Average value &amp; deviation of raw data bytes (b0..b7).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Message Length (2): Average &amp; deviation of Data Length Code (DLC).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Component Identity (26): Active CAN-ID distribution histogram hashed over 24 buckets + dominant ID stats.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Entropy (2): Information randomness and non-zero payload ratio.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sz="2400" dirty="0"/>
              <a:t>2. V2X Telemetry Networks (</a:t>
            </a:r>
            <a:r>
              <a:rPr lang="en-IN" sz="2400" dirty="0" err="1"/>
              <a:t>VeReMi</a:t>
            </a:r>
            <a:r>
              <a:rPr lang="en-IN" sz="2400" dirty="0"/>
              <a:t>):</a:t>
            </a:r>
          </a:p>
          <a:p>
            <a:endParaRPr lang="en-IN" dirty="0"/>
          </a:p>
          <a:p>
            <a:r>
              <a:rPr lang="en-US" b="1" dirty="0"/>
              <a:t>	What it measures: </a:t>
            </a:r>
            <a:r>
              <a:rPr lang="en-US" dirty="0"/>
              <a:t>GPS and motion telemetry shared between vehicles.</a:t>
            </a:r>
          </a:p>
          <a:p>
            <a:r>
              <a:rPr lang="en-US" dirty="0"/>
              <a:t>46-D Feature Breakdown:</a:t>
            </a:r>
          </a:p>
          <a:p>
            <a:r>
              <a:rPr lang="en-US" dirty="0"/>
              <a:t>Average Motion (18): Position, speed, heading, and sensor noise averages.</a:t>
            </a:r>
            <a:br>
              <a:rPr lang="en-US" dirty="0"/>
            </a:br>
            <a:r>
              <a:rPr lang="en-US" dirty="0"/>
              <a:t>Fluctuations (18): Standard deviations of kinematic readings over the window.</a:t>
            </a:r>
          </a:p>
          <a:p>
            <a:r>
              <a:rPr lang="en-US" dirty="0"/>
              <a:t>Derived Forces (5): Total speed magnitude, acceleration force, and heading intensity.</a:t>
            </a:r>
          </a:p>
          <a:p>
            <a:r>
              <a:rPr lang="en-US" dirty="0"/>
              <a:t>Behavior Stats (5): Spatial coordinates spread, time intervals, and broadcast rates.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9608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8F3F-3F65-A268-D8F6-0B902A613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3B0A0-51F7-9912-E806-F779A96A6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585361" cy="1045112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  <a:t>Data Engineering (46-D Feature Mapping)</a:t>
            </a:r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788DBC-19C2-F992-575E-09B60A4F1D77}"/>
              </a:ext>
            </a:extLst>
          </p:cNvPr>
          <p:cNvSpPr txBox="1"/>
          <p:nvPr/>
        </p:nvSpPr>
        <p:spPr>
          <a:xfrm>
            <a:off x="1172219" y="2504290"/>
            <a:ext cx="115909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3. IP Networks (CICIDS 2017):</a:t>
            </a:r>
          </a:p>
          <a:p>
            <a:endParaRPr lang="en-IN" sz="2400" dirty="0"/>
          </a:p>
          <a:p>
            <a:r>
              <a:rPr lang="en-IN" dirty="0"/>
              <a:t>	</a:t>
            </a:r>
            <a:r>
              <a:rPr lang="en-IN" sz="2000" b="1" dirty="0"/>
              <a:t>What it measures: </a:t>
            </a:r>
            <a:r>
              <a:rPr lang="en-IN" sz="2000" dirty="0"/>
              <a:t>External Internet network traffic flows.</a:t>
            </a:r>
          </a:p>
          <a:p>
            <a:r>
              <a:rPr lang="en-IN" sz="2000" dirty="0"/>
              <a:t>46-D Feature Breakdown:</a:t>
            </a:r>
          </a:p>
          <a:p>
            <a:r>
              <a:rPr lang="en-IN" sz="2000" dirty="0"/>
              <a:t>Transfer Rates (6): Flow duration, bytes/second, packets/second, and average size.</a:t>
            </a:r>
          </a:p>
          <a:p>
            <a:r>
              <a:rPr lang="en-IN" sz="2000" dirty="0"/>
              <a:t>Flow Sizes (12): Total forward/backward data size and packet lengths.</a:t>
            </a:r>
          </a:p>
          <a:p>
            <a:r>
              <a:rPr lang="en-IN" sz="2000" dirty="0"/>
              <a:t>Time Gaps (15): Inter-Arrival Times (IAT) of packet streams.</a:t>
            </a:r>
          </a:p>
          <a:p>
            <a:r>
              <a:rPr lang="en-IN" sz="2000" dirty="0"/>
              <a:t>Control &amp; Headers (13): TCP flags (SYN, ACK, RST) and packet header sizes.</a:t>
            </a:r>
          </a:p>
        </p:txBody>
      </p:sp>
    </p:spTree>
    <p:extLst>
      <p:ext uri="{BB962C8B-B14F-4D97-AF65-F5344CB8AC3E}">
        <p14:creationId xmlns:p14="http://schemas.microsoft.com/office/powerpoint/2010/main" val="2702960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3B10-1232-4284-B100-2813E1C3E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9960735" cy="909883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  <a:t>Data Engineering (Preprocessing)</a:t>
            </a:r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BEF6C-E72A-4364-B7C5-C43A5F5BC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b="1" i="0" u="sng" dirty="0">
                <a:effectLst/>
                <a:latin typeface="ui-sans-serif"/>
              </a:rPr>
              <a:t>Data Cleaning Pipeline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Percentile Clipping:</a:t>
            </a:r>
            <a:r>
              <a:rPr lang="en-US" b="0" i="0" dirty="0">
                <a:effectLst/>
                <a:latin typeface="ui-sans-serif"/>
              </a:rPr>
              <a:t> Continuous features are clipped at the 0.5th and 99.5th percentiles (using training set bounds) to remove noisy sensor spikes and outliers.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Z-score Standardization:</a:t>
            </a:r>
            <a:r>
              <a:rPr lang="en-US" b="0" i="0" dirty="0">
                <a:effectLst/>
                <a:latin typeface="ui-sans-serif"/>
              </a:rPr>
              <a:t> Every feature is scaled to standard bounds.</a:t>
            </a:r>
          </a:p>
          <a:p>
            <a:pPr algn="l"/>
            <a:r>
              <a:rPr lang="en-US" b="0" i="0" dirty="0">
                <a:effectLst/>
                <a:latin typeface="ui-sans-serif"/>
              </a:rPr>
              <a:t>Safeguarding Against Data Leakage (Anti-Cheating)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Centralized Stratified Split:</a:t>
            </a:r>
            <a:r>
              <a:rPr lang="en-US" b="0" i="0" dirty="0">
                <a:effectLst/>
                <a:latin typeface="ui-sans-serif"/>
              </a:rPr>
              <a:t> 70% Train, 15% Validation, 15% Test.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Strict Training Isolation:</a:t>
            </a:r>
            <a:r>
              <a:rPr lang="en-US" b="0" i="0" dirty="0">
                <a:effectLst/>
                <a:latin typeface="ui-sans-serif"/>
              </a:rPr>
              <a:t> Mean (</a:t>
            </a:r>
            <a:r>
              <a:rPr lang="en-US" b="0" i="1" dirty="0">
                <a:effectLst/>
                <a:latin typeface="KaTeX_Math"/>
              </a:rPr>
              <a:t>μ</a:t>
            </a:r>
            <a:r>
              <a:rPr lang="en-US" b="0" i="0" dirty="0">
                <a:effectLst/>
                <a:latin typeface="ui-sans-serif"/>
              </a:rPr>
              <a:t>) and standard deviation (</a:t>
            </a:r>
            <a:r>
              <a:rPr lang="en-US" b="0" i="0" dirty="0">
                <a:effectLst/>
                <a:latin typeface="KaTeX_Main"/>
              </a:rPr>
              <a:t>σ</a:t>
            </a:r>
            <a:r>
              <a:rPr lang="en-US" b="0" i="1" dirty="0">
                <a:effectLst/>
                <a:latin typeface="KaTeX_Math"/>
              </a:rPr>
              <a:t>)</a:t>
            </a:r>
            <a:r>
              <a:rPr lang="en-US" b="0" i="0" dirty="0">
                <a:effectLst/>
                <a:latin typeface="ui-sans-serif"/>
              </a:rPr>
              <a:t> parameters are computed </a:t>
            </a:r>
            <a:r>
              <a:rPr lang="en-US" b="1" i="0" dirty="0">
                <a:effectLst/>
                <a:latin typeface="ui-sans-serif"/>
              </a:rPr>
              <a:t>only</a:t>
            </a:r>
            <a:r>
              <a:rPr lang="en-US" b="0" i="0" dirty="0">
                <a:effectLst/>
                <a:latin typeface="ui-sans-serif"/>
              </a:rPr>
              <a:t> on the 70% training split.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Evaluation Integrity:</a:t>
            </a:r>
            <a:r>
              <a:rPr lang="en-US" b="0" i="0" dirty="0">
                <a:effectLst/>
                <a:latin typeface="ui-sans-serif"/>
              </a:rPr>
              <a:t> The calculated training statistics are locked and then used to scale validation and testing 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560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ECB1-6208-4FB2-9180-80D3B81B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20288" cy="970756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  <a:t>Non-IID Simulation</a:t>
            </a:r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4A68DD-352F-A565-4447-F7D34090C646}"/>
              </a:ext>
            </a:extLst>
          </p:cNvPr>
          <p:cNvSpPr txBox="1"/>
          <p:nvPr/>
        </p:nvSpPr>
        <p:spPr>
          <a:xfrm>
            <a:off x="734703" y="2587754"/>
            <a:ext cx="111294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1. Fleet Setup &amp; Connectivity Constraints</a:t>
            </a:r>
            <a:br>
              <a:rPr lang="en-IN" sz="2000" b="1" dirty="0"/>
            </a:br>
            <a:endParaRPr lang="en-IN" sz="2000" b="1" dirty="0"/>
          </a:p>
          <a:p>
            <a:r>
              <a:rPr lang="en-IN" sz="2000" b="1" dirty="0"/>
              <a:t>Simulated Fleet Size (N): </a:t>
            </a:r>
            <a:r>
              <a:rPr lang="en-IN" sz="2000" dirty="0"/>
              <a:t>N∈{50,100,200} client vehicles, each running </a:t>
            </a:r>
            <a:r>
              <a:rPr lang="en-IN" sz="2000" dirty="0" err="1"/>
              <a:t>KANConvNet</a:t>
            </a:r>
            <a:r>
              <a:rPr lang="en-IN" sz="2000" dirty="0"/>
              <a:t> in containerized/isolated environments.</a:t>
            </a:r>
          </a:p>
          <a:p>
            <a:r>
              <a:rPr lang="en-IN" sz="2000" b="1" dirty="0"/>
              <a:t>Client Sampling Fraction (q): </a:t>
            </a:r>
            <a:r>
              <a:rPr lang="en-IN" sz="2000" dirty="0"/>
              <a:t>Server selects a random subset of active vehicles at each round (q=0.60 for N=50, q=0.70 for N=100, and q=0.75 for N=200).</a:t>
            </a:r>
          </a:p>
          <a:p>
            <a:r>
              <a:rPr lang="en-IN" sz="2000" b="1" dirty="0"/>
              <a:t>Vehicular Churn(P drop): </a:t>
            </a:r>
            <a:r>
              <a:rPr lang="en-IN" sz="2000" dirty="0"/>
              <a:t>Simulated random client dropout of 5%−20% per round due to tunnel shadowing, signal fading, or moving out of range. Dropped clients can rejoin later.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468445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1A78E-AB15-7B51-53E8-6632871D9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B107-13E6-F6D4-9ED4-B328ACBB9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20288" cy="970756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  <a:t>Non-IID Simulation</a:t>
            </a:r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D6F47-D156-89E8-3F46-D4B2630AED5E}"/>
              </a:ext>
            </a:extLst>
          </p:cNvPr>
          <p:cNvSpPr txBox="1"/>
          <p:nvPr/>
        </p:nvSpPr>
        <p:spPr>
          <a:xfrm>
            <a:off x="1034764" y="1250054"/>
            <a:ext cx="111572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2.Dirichlet Non-IID Partitioning </a:t>
            </a:r>
          </a:p>
          <a:p>
            <a:endParaRPr lang="en-IN" b="1" dirty="0"/>
          </a:p>
          <a:p>
            <a:r>
              <a:rPr lang="en-IN" dirty="0"/>
              <a:t>To</a:t>
            </a:r>
            <a:r>
              <a:rPr lang="en-IN" b="1" dirty="0"/>
              <a:t> </a:t>
            </a:r>
            <a:r>
              <a:rPr lang="en-IN" dirty="0"/>
              <a:t>model realistic geographic variations where different vehicles encounter different traffic patterns and attack ratios:</a:t>
            </a:r>
          </a:p>
          <a:p>
            <a:endParaRPr lang="en-IN" b="1" dirty="0"/>
          </a:p>
          <a:p>
            <a:r>
              <a:rPr lang="en-IN" b="1" dirty="0"/>
              <a:t>Mathematical Split: </a:t>
            </a:r>
          </a:p>
          <a:p>
            <a:r>
              <a:rPr lang="en-IN" dirty="0"/>
              <a:t>Training data is split across clients using a Dirichlet distribution with concentration parameter </a:t>
            </a:r>
            <a:r>
              <a:rPr lang="el-GR" dirty="0"/>
              <a:t>α=0.3.</a:t>
            </a:r>
            <a:r>
              <a:rPr lang="en-IN" dirty="0"/>
              <a:t>pc ∼ Dir(</a:t>
            </a:r>
            <a:r>
              <a:rPr lang="el-GR" dirty="0"/>
              <a:t>α⋅1</a:t>
            </a:r>
            <a:r>
              <a:rPr lang="en-IN" dirty="0"/>
              <a:t>N) where pc represents the proportion of samples from class c allocated to each of the N clients</a:t>
            </a:r>
          </a:p>
          <a:p>
            <a:endParaRPr lang="en-IN" b="1" dirty="0"/>
          </a:p>
          <a:p>
            <a:r>
              <a:rPr lang="en-IN" b="1" dirty="0"/>
              <a:t>Class Skew Effect: </a:t>
            </a:r>
          </a:p>
          <a:p>
            <a:endParaRPr lang="en-IN" dirty="0"/>
          </a:p>
          <a:p>
            <a:r>
              <a:rPr lang="en-IN" dirty="0"/>
              <a:t>A smaller </a:t>
            </a:r>
            <a:r>
              <a:rPr lang="el-GR" dirty="0"/>
              <a:t>α </a:t>
            </a:r>
            <a:r>
              <a:rPr lang="en-IN" dirty="0"/>
              <a:t>leads to higher skew (non-IID conditions). </a:t>
            </a:r>
          </a:p>
          <a:p>
            <a:endParaRPr lang="en-IN" dirty="0"/>
          </a:p>
          <a:p>
            <a:r>
              <a:rPr lang="en-IN" dirty="0"/>
              <a:t>With </a:t>
            </a:r>
            <a:r>
              <a:rPr lang="el-GR" dirty="0"/>
              <a:t>α=0.3, </a:t>
            </a:r>
            <a:r>
              <a:rPr lang="en-IN" dirty="0"/>
              <a:t>some vehicles observe only benign traffic, while others are dominated by a single attack class (e.g., DoS only), forcing the global model to learn from highly heterogeneous client updates.</a:t>
            </a:r>
          </a:p>
          <a:p>
            <a:endParaRPr lang="en-IN" b="1" dirty="0"/>
          </a:p>
          <a:p>
            <a:r>
              <a:rPr lang="en-IN" b="1" dirty="0"/>
              <a:t>Centralized Evaluation: </a:t>
            </a:r>
          </a:p>
          <a:p>
            <a:pPr marL="342900" indent="-342900">
              <a:buAutoNum type="arabicPeriod" startAt="4"/>
            </a:pPr>
            <a:endParaRPr lang="en-IN" b="1" dirty="0"/>
          </a:p>
          <a:p>
            <a:r>
              <a:rPr lang="en-IN" dirty="0"/>
              <a:t>Validation and test splits are kept centralized at the server, ensuring unbiased and global performance metrics.</a:t>
            </a:r>
          </a:p>
        </p:txBody>
      </p:sp>
    </p:spTree>
    <p:extLst>
      <p:ext uri="{BB962C8B-B14F-4D97-AF65-F5344CB8AC3E}">
        <p14:creationId xmlns:p14="http://schemas.microsoft.com/office/powerpoint/2010/main" val="2282555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C29613-E199-BF43-3611-0C9C2C456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ea typeface="Calibri Light"/>
                <a:cs typeface="Calibri Light"/>
              </a:rPr>
              <a:t>Baseline Architecture: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78CFD7-1FC0-83B7-C929-9E22711AF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568" y="1714733"/>
            <a:ext cx="10597402" cy="486760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N">
                <a:ea typeface="+mn-lt"/>
                <a:cs typeface="+mn-lt"/>
              </a:rPr>
              <a:t>PHASE 1: INITIALIZATION:</a:t>
            </a:r>
            <a:endParaRPr lang="en-IN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1. Role : Central Server </a:t>
            </a:r>
            <a:endParaRPr lang="en-IN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2. Action : Init &amp; Broadcast global model </a:t>
            </a:r>
            <a:endParaRPr lang="en-IN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3. Target : N Vehicles </a:t>
            </a:r>
            <a:endParaRPr lang="en-IN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 dirty="0">
                <a:ea typeface="+mn-lt"/>
                <a:cs typeface="+mn-lt"/>
              </a:rPr>
              <a:t>4. Security : </a:t>
            </a:r>
            <a:r>
              <a:rPr lang="en-IN" sz="2000" dirty="0" err="1">
                <a:ea typeface="+mn-lt"/>
                <a:cs typeface="+mn-lt"/>
              </a:rPr>
              <a:t>SecureChannel</a:t>
            </a:r>
            <a:r>
              <a:rPr lang="en-IN" sz="2000" dirty="0">
                <a:ea typeface="+mn-lt"/>
                <a:cs typeface="+mn-lt"/>
              </a:rPr>
              <a:t> (ECDH + AES-256 + Mutual Auth)</a:t>
            </a:r>
            <a:endParaRPr lang="en-IN" dirty="0">
              <a:ea typeface="+mn-lt"/>
              <a:cs typeface="+mn-lt"/>
            </a:endParaRPr>
          </a:p>
          <a:p>
            <a:r>
              <a:rPr lang="en-IN">
                <a:ea typeface="+mn-lt"/>
                <a:cs typeface="+mn-lt"/>
              </a:rPr>
              <a:t>PHASE 2: CLIENT SIDE</a:t>
            </a:r>
            <a:endParaRPr lang="en-IN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1. Inputs : CAN (1D-Conv) | V2X (MLP) | GPS/IMU (1D-Conv) </a:t>
            </a:r>
          </a:p>
          <a:p>
            <a:pPr marL="0" indent="0">
              <a:buNone/>
            </a:pPr>
            <a:r>
              <a:rPr lang="en-IN" sz="2000" dirty="0">
                <a:ea typeface="+mn-lt"/>
                <a:cs typeface="+mn-lt"/>
              </a:rPr>
              <a:t>2. Fusion : 10Hz Sync → </a:t>
            </a:r>
            <a:r>
              <a:rPr lang="en-IN" sz="2000" dirty="0" err="1">
                <a:ea typeface="+mn-lt"/>
                <a:cs typeface="+mn-lt"/>
              </a:rPr>
              <a:t>FiLM</a:t>
            </a:r>
            <a:r>
              <a:rPr lang="en-IN" sz="2000" dirty="0">
                <a:ea typeface="+mn-lt"/>
                <a:cs typeface="+mn-lt"/>
              </a:rPr>
              <a:t> Gating → 46-dim Vector </a:t>
            </a:r>
          </a:p>
          <a:p>
            <a:pPr marL="0" indent="0">
              <a:buNone/>
            </a:pPr>
            <a:r>
              <a:rPr lang="en-IN" sz="2000" dirty="0">
                <a:ea typeface="+mn-lt"/>
                <a:cs typeface="+mn-lt"/>
              </a:rPr>
              <a:t>3. Model : </a:t>
            </a:r>
            <a:r>
              <a:rPr lang="en-IN" sz="2000" dirty="0" err="1">
                <a:ea typeface="+mn-lt"/>
                <a:cs typeface="+mn-lt"/>
              </a:rPr>
              <a:t>KANConvNet</a:t>
            </a:r>
            <a:r>
              <a:rPr lang="en-IN" sz="2000" dirty="0">
                <a:ea typeface="+mn-lt"/>
                <a:cs typeface="+mn-lt"/>
              </a:rPr>
              <a:t> </a:t>
            </a:r>
            <a:endParaRPr lang="en-IN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4. Train : SGD + L2 Regularization </a:t>
            </a: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5. Adapt : Personalization Blend (Global + </a:t>
            </a:r>
            <a:r>
              <a:rPr lang="en-IN" sz="2000" dirty="0">
                <a:ea typeface="+mn-lt"/>
                <a:cs typeface="+mn-lt"/>
              </a:rPr>
              <a:t>Local) </a:t>
            </a:r>
            <a:endParaRPr lang="en-IN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6.Privacy : L2 Clip (C=1.0) + Gaussian Noise (σ=1.2)</a:t>
            </a:r>
            <a:endParaRPr lang="en-IN" sz="2000">
              <a:ea typeface="Calibri"/>
              <a:cs typeface="Calibri"/>
            </a:endParaRPr>
          </a:p>
          <a:p>
            <a:pPr marL="0" indent="0">
              <a:buNone/>
            </a:pPr>
            <a:endParaRPr lang="en-IN" sz="20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5C9935-1B3E-DAF8-3EAD-8DA55B3DB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ea typeface="Calibri Light"/>
                <a:cs typeface="Calibri Light"/>
              </a:rPr>
              <a:t>Baseline Architecture: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076EF0-94E0-0389-98CE-084BD2510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102" y="1690688"/>
            <a:ext cx="10597402" cy="48676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>
                <a:ea typeface="+mn-lt"/>
                <a:cs typeface="+mn-lt"/>
              </a:rPr>
              <a:t>PHASE 3: SERVER AGGREGATION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 sz="2000" dirty="0">
                <a:ea typeface="Calibri"/>
                <a:cs typeface="Calibri"/>
              </a:rPr>
              <a:t>1.</a:t>
            </a:r>
            <a:r>
              <a:rPr lang="en-IN" sz="2000" dirty="0">
                <a:ea typeface="+mn-lt"/>
                <a:cs typeface="+mn-lt"/>
              </a:rPr>
              <a:t> Stage 1 : TOPSIS </a:t>
            </a:r>
          </a:p>
          <a:p>
            <a:pPr marL="0" indent="0">
              <a:buNone/>
            </a:pPr>
            <a:r>
              <a:rPr lang="en-IN" sz="2000" dirty="0">
                <a:ea typeface="+mn-lt"/>
                <a:cs typeface="+mn-lt"/>
              </a:rPr>
              <a:t>    Action : Dimensionality Reduction → Rank → Filter Outliers </a:t>
            </a:r>
          </a:p>
          <a:p>
            <a:pPr marL="0" indent="0">
              <a:buNone/>
            </a:pPr>
            <a:r>
              <a:rPr lang="en-IN" sz="2000" dirty="0">
                <a:ea typeface="+mn-lt"/>
                <a:cs typeface="+mn-lt"/>
              </a:rPr>
              <a:t>3. Stage 2 : Multi-Krum </a:t>
            </a:r>
          </a:p>
          <a:p>
            <a:pPr marL="0" indent="0">
              <a:buNone/>
            </a:pPr>
            <a:r>
              <a:rPr lang="en-IN" sz="2000" dirty="0">
                <a:ea typeface="+mn-lt"/>
                <a:cs typeface="+mn-lt"/>
              </a:rPr>
              <a:t>    Action : Robust Clustering → Pairwise Distance → Average Top-m</a:t>
            </a:r>
          </a:p>
          <a:p>
            <a:pPr marL="0" indent="0">
              <a:buNone/>
            </a:pPr>
            <a:endParaRPr lang="en-IN" sz="2000" dirty="0">
              <a:ea typeface="Calibri"/>
              <a:cs typeface="Calibri"/>
            </a:endParaRPr>
          </a:p>
          <a:p>
            <a:pPr marL="342900" indent="-342900"/>
            <a:r>
              <a:rPr lang="en-IN" dirty="0">
                <a:ea typeface="+mn-lt"/>
                <a:cs typeface="+mn-lt"/>
              </a:rPr>
              <a:t>PHASE 4: GA TUNING</a:t>
            </a:r>
          </a:p>
          <a:p>
            <a:pPr marL="0" indent="0">
              <a:buNone/>
            </a:pPr>
            <a:r>
              <a:rPr lang="en-IN" sz="2000" dirty="0">
                <a:ea typeface="Calibri"/>
                <a:cs typeface="Calibri"/>
              </a:rPr>
              <a:t>1. </a:t>
            </a:r>
            <a:r>
              <a:rPr lang="en-IN" sz="2000" dirty="0">
                <a:ea typeface="+mn-lt"/>
                <a:cs typeface="+mn-lt"/>
              </a:rPr>
              <a:t>Goal : Hyperparameter Optimization </a:t>
            </a:r>
          </a:p>
          <a:p>
            <a:pPr marL="0" indent="0">
              <a:buNone/>
            </a:pPr>
            <a:r>
              <a:rPr lang="en-IN" sz="2000" dirty="0">
                <a:ea typeface="+mn-lt"/>
                <a:cs typeface="+mn-lt"/>
              </a:rPr>
              <a:t>2. Genes : {LR, Batch, Epochs, Momentum, Dropout, Optimizer, L2, α} </a:t>
            </a:r>
            <a:endParaRPr lang="en-IN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 dirty="0">
                <a:ea typeface="+mn-lt"/>
                <a:cs typeface="+mn-lt"/>
              </a:rPr>
              <a:t>3. Flow : Init → Eval (F1) → Crossover → Mutate → Deploy</a:t>
            </a:r>
            <a:endParaRPr lang="en-IN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7E71B5-37E3-4B05-1874-F60635E1E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chemeClr val="bg1"/>
                </a:solidFill>
                <a:ea typeface="Calibri Light"/>
                <a:cs typeface="Calibri Light"/>
              </a:rPr>
              <a:t>KanConvNet</a:t>
            </a:r>
            <a:r>
              <a:rPr lang="en-IN" b="1" dirty="0">
                <a:solidFill>
                  <a:schemeClr val="bg1"/>
                </a:solidFill>
                <a:ea typeface="Calibri Light"/>
                <a:cs typeface="Calibri Light"/>
              </a:rPr>
              <a:t> Architecture: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BA0339-E555-291C-7306-F7F201C40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568" y="1625086"/>
            <a:ext cx="10597402" cy="48676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>
                <a:ea typeface="+mn-lt"/>
                <a:cs typeface="+mn-lt"/>
              </a:rPr>
              <a:t>  STAGE 1: INPUT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1. Source : Fused Telemetry </a:t>
            </a: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2. Shape : 46-dim Vector </a:t>
            </a:r>
            <a:endParaRPr lang="en-IN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3. Preprocess : Normalization / Fourier Transform</a:t>
            </a:r>
          </a:p>
          <a:p>
            <a:r>
              <a:rPr lang="en-IN">
                <a:ea typeface="+mn-lt"/>
                <a:cs typeface="+mn-lt"/>
              </a:rPr>
              <a:t>   STAGE 2: MAPPING</a:t>
            </a:r>
          </a:p>
          <a:p>
            <a:pPr marL="0" indent="0">
              <a:buNone/>
            </a:pPr>
            <a:r>
              <a:rPr lang="en-IN" sz="2000">
                <a:ea typeface="Calibri"/>
                <a:cs typeface="Calibri"/>
              </a:rPr>
              <a:t>1. </a:t>
            </a:r>
            <a:r>
              <a:rPr lang="en-IN" sz="2000">
                <a:ea typeface="+mn-lt"/>
                <a:cs typeface="+mn-lt"/>
              </a:rPr>
              <a:t>Logic : Linear Transform + Fourier Encoding </a:t>
            </a:r>
            <a:endParaRPr lang="en-IN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2. Sequence : Precedes Linear Summation</a:t>
            </a:r>
          </a:p>
          <a:p>
            <a:pPr marL="457200" indent="-457200"/>
            <a:r>
              <a:rPr lang="en-IN">
                <a:ea typeface="+mn-lt"/>
                <a:cs typeface="+mn-lt"/>
              </a:rPr>
              <a:t>STAGE 3: ACTIVATION</a:t>
            </a:r>
          </a:p>
          <a:p>
            <a:pPr marL="0" indent="0">
              <a:buNone/>
            </a:pPr>
            <a:r>
              <a:rPr lang="en-IN" sz="2000">
                <a:ea typeface="Calibri" panose="020F0502020204030204"/>
                <a:cs typeface="Calibri" panose="020F0502020204030204"/>
              </a:rPr>
              <a:t>1. </a:t>
            </a:r>
            <a:r>
              <a:rPr lang="en-IN" sz="2000">
                <a:ea typeface="+mn-lt"/>
                <a:cs typeface="+mn-lt"/>
              </a:rPr>
              <a:t>Type : Kolmogorov-Inspired Nonlinearity </a:t>
            </a:r>
            <a:endParaRPr lang="en-IN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2. Placement : Network Edges </a:t>
            </a: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3. Benefit : High Interpretability / Safety Audits</a:t>
            </a:r>
            <a:endParaRPr lang="en-IN" sz="2000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53FDCD-4C34-88BD-6197-9D3601D9D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chemeClr val="bg1"/>
                </a:solidFill>
                <a:ea typeface="Calibri Light"/>
                <a:cs typeface="Calibri Light"/>
              </a:rPr>
              <a:t>KanConvNet</a:t>
            </a:r>
            <a:r>
              <a:rPr lang="en-IN" b="1" dirty="0">
                <a:solidFill>
                  <a:schemeClr val="bg1"/>
                </a:solidFill>
                <a:ea typeface="Calibri Light"/>
                <a:cs typeface="Calibri Light"/>
              </a:rPr>
              <a:t> Architecture: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CEBF59-ABE0-BB9D-27F0-24E0C9060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774" y="1989277"/>
            <a:ext cx="10597402" cy="48676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>
                <a:ea typeface="+mn-lt"/>
                <a:cs typeface="+mn-lt"/>
              </a:rPr>
              <a:t> STAGE 4: HIDDEN LAYERS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 sz="2000" dirty="0">
                <a:ea typeface="Calibri" panose="020F0502020204030204"/>
                <a:cs typeface="Calibri" panose="020F0502020204030204"/>
              </a:rPr>
              <a:t>1. </a:t>
            </a:r>
            <a:r>
              <a:rPr lang="en-IN" sz="2000" dirty="0">
                <a:ea typeface="+mn-lt"/>
                <a:cs typeface="+mn-lt"/>
              </a:rPr>
              <a:t>Type : Intermediate Layers </a:t>
            </a:r>
          </a:p>
          <a:p>
            <a:pPr marL="0" indent="0">
              <a:buNone/>
            </a:pPr>
            <a:r>
              <a:rPr lang="en-IN" sz="2000" dirty="0">
                <a:ea typeface="+mn-lt"/>
                <a:cs typeface="+mn-lt"/>
              </a:rPr>
              <a:t>2. Activation : </a:t>
            </a:r>
            <a:r>
              <a:rPr lang="en-IN" sz="2000" dirty="0" err="1">
                <a:ea typeface="+mn-lt"/>
                <a:cs typeface="+mn-lt"/>
              </a:rPr>
              <a:t>ReLU</a:t>
            </a:r>
            <a:r>
              <a:rPr lang="en-IN" sz="2000" dirty="0">
                <a:ea typeface="+mn-lt"/>
                <a:cs typeface="+mn-lt"/>
              </a:rPr>
              <a:t> </a:t>
            </a: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3. Goal : Spatial-Temporal Pattern Extraction</a:t>
            </a:r>
          </a:p>
          <a:p>
            <a:pPr marL="342900" indent="-342900"/>
            <a:r>
              <a:rPr lang="en-IN">
                <a:ea typeface="+mn-lt"/>
                <a:cs typeface="+mn-lt"/>
              </a:rPr>
              <a:t>STAGE 5: OUTPUT</a:t>
            </a: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1. Map : Final Kolmogorov Activation </a:t>
            </a:r>
            <a:endParaRPr lang="en-IN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2. Classifier : SGD Prediction</a:t>
            </a:r>
            <a:endParaRPr lang="en-IN" sz="2000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79CCCC-ACF4-ECD8-459F-7750E90AB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ea typeface="Calibri Light"/>
                <a:cs typeface="Calibri Light"/>
              </a:rPr>
              <a:t>Why FHE in FL: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81DA093-71FB-D86F-33F4-9766163B1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1882238"/>
            <a:ext cx="11771376" cy="41725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DDF375-6248-B49F-394A-3DC56E9F2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1000"/>
              </a:spcBef>
            </a:pPr>
            <a:r>
              <a:rPr lang="en-IN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Security and Performance Report: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4C6F68-2193-1EAC-A3C0-68D8919F3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" y="1717964"/>
            <a:ext cx="6166034" cy="424642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82005F-DE67-A5B4-6C3E-818581781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201" y="1690255"/>
            <a:ext cx="6191544" cy="44750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787E41-0431-D075-6710-CBA93F6C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1000"/>
              </a:spcBef>
            </a:pPr>
            <a:r>
              <a:rPr lang="en-IN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HE Scheme: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6505DA3-61DB-EFF8-BF29-2173FA9E5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519809"/>
              </p:ext>
            </p:extLst>
          </p:nvPr>
        </p:nvGraphicFramePr>
        <p:xfrm>
          <a:off x="1132310" y="1818763"/>
          <a:ext cx="9173304" cy="42540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93326">
                  <a:extLst>
                    <a:ext uri="{9D8B030D-6E8A-4147-A177-3AD203B41FA5}">
                      <a16:colId xmlns:a16="http://schemas.microsoft.com/office/drawing/2014/main" val="2986799235"/>
                    </a:ext>
                  </a:extLst>
                </a:gridCol>
                <a:gridCol w="2293326">
                  <a:extLst>
                    <a:ext uri="{9D8B030D-6E8A-4147-A177-3AD203B41FA5}">
                      <a16:colId xmlns:a16="http://schemas.microsoft.com/office/drawing/2014/main" val="3537069177"/>
                    </a:ext>
                  </a:extLst>
                </a:gridCol>
                <a:gridCol w="2293326">
                  <a:extLst>
                    <a:ext uri="{9D8B030D-6E8A-4147-A177-3AD203B41FA5}">
                      <a16:colId xmlns:a16="http://schemas.microsoft.com/office/drawing/2014/main" val="2380655340"/>
                    </a:ext>
                  </a:extLst>
                </a:gridCol>
                <a:gridCol w="2293326">
                  <a:extLst>
                    <a:ext uri="{9D8B030D-6E8A-4147-A177-3AD203B41FA5}">
                      <a16:colId xmlns:a16="http://schemas.microsoft.com/office/drawing/2014/main" val="3374584371"/>
                    </a:ext>
                  </a:extLst>
                </a:gridCol>
              </a:tblGrid>
              <a:tr h="404012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Scheme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Type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Top Strength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Main Limitation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231491"/>
                  </a:ext>
                </a:extLst>
              </a:tr>
              <a:tr h="64166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BFV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Exact integers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Great for exact arithmetic and databases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Needs complex quantization for floats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027370"/>
                  </a:ext>
                </a:extLst>
              </a:tr>
              <a:tr h="64166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BGV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Exact integers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Mature, strong integer support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Poor fit for float-valued model weights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555429"/>
                  </a:ext>
                </a:extLst>
              </a:tr>
              <a:tr h="64166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CKKS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Approximate (Floats)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for neural networks &amp; weighted sums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Requires careful error &amp; parameter tuning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287144"/>
                  </a:ext>
                </a:extLst>
              </a:tr>
              <a:tr h="64166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TFHE / FHEW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Bits / Boolean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 bootstrapping for small circuits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Way too slow for large vector aggregation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183320"/>
                  </a:ext>
                </a:extLst>
              </a:tr>
              <a:tr h="64166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Hybrid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Mixed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Combines multiple schemes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scheme-switching overhead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603333"/>
                  </a:ext>
                </a:extLst>
              </a:tr>
              <a:tr h="64166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Threshold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Varies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Enables joint multi-party decryption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Unnecessary key-management complexity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7555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FBBE36-3B71-4B4A-BC9D-E80E03AD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FINDINGS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139714-C505-44BB-87D9-B5892750E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858" y="2069434"/>
            <a:ext cx="8591550" cy="35901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Fully HE Is Impractical in Our Scenario</a:t>
            </a:r>
          </a:p>
          <a:p>
            <a:pPr marL="0" indent="0">
              <a:buNone/>
            </a:pPr>
            <a:r>
              <a:rPr lang="en-US" sz="1900" dirty="0"/>
              <a:t> Latency: Real-time IDS requires 10–100 </a:t>
            </a:r>
            <a:r>
              <a:rPr lang="en-US" sz="1900" dirty="0" err="1"/>
              <a:t>ms</a:t>
            </a:r>
            <a:r>
              <a:rPr lang="en-US" sz="1900" dirty="0"/>
              <a:t> response times, but FHE delays processing to seconds or minutes. </a:t>
            </a:r>
          </a:p>
          <a:p>
            <a:pPr marL="0" indent="0">
              <a:buNone/>
            </a:pPr>
            <a:r>
              <a:rPr lang="en-US" sz="1900" dirty="0"/>
              <a:t>Hardware Constraints: Resource-heavy FHE drains batteries and starves safety applications on low-power On-Board Units.</a:t>
            </a:r>
          </a:p>
          <a:p>
            <a:pPr marL="0" indent="0">
              <a:buNone/>
            </a:pPr>
            <a:r>
              <a:rPr lang="en-US" sz="1900" dirty="0"/>
              <a:t>Ciphertext Size: FHE expands model weights into gigabytes of data, saturating limited V2X wireless networks. </a:t>
            </a:r>
          </a:p>
          <a:p>
            <a:pPr marL="0" indent="0">
              <a:buNone/>
            </a:pPr>
            <a:r>
              <a:rPr lang="en-US" sz="1900" dirty="0"/>
              <a:t>Mobility: Slow FHE aggregation means fast-moving vehicles will likely drive out of network range before updates complete.</a:t>
            </a:r>
          </a:p>
          <a:p>
            <a:pPr marL="0" indent="0">
              <a:buNone/>
            </a:pPr>
            <a:r>
              <a:rPr lang="en-US" sz="1900" dirty="0"/>
              <a:t> Algorithmic Limits: Approximating essential non-linear IDS functions (like </a:t>
            </a:r>
            <a:r>
              <a:rPr lang="en-US" sz="1900" dirty="0" err="1"/>
              <a:t>ReLU</a:t>
            </a:r>
            <a:r>
              <a:rPr lang="en-US" sz="1900" dirty="0"/>
              <a:t>) with FHE triggers unsustainable computational overhead.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BC68B-2C96-4360-9C3C-5E23B6FA4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FHE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6FF0C-608D-4190-A297-82504D23A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en-US" sz="2600" i="0" dirty="0">
                <a:effectLst/>
                <a:ea typeface="Nirmala Text" panose="020B0502040204020203" pitchFamily="34" charset="0"/>
                <a:cs typeface="Nirmala Text" panose="020B0502040204020203" pitchFamily="34" charset="0"/>
              </a:rPr>
              <a:t>1. Full FHE encrypts all model parameters, making it too slow (seconds to minutes) and impractical for real-time </a:t>
            </a:r>
            <a:r>
              <a:rPr lang="en-US" sz="2600" i="0" dirty="0" err="1">
                <a:effectLst/>
                <a:ea typeface="Nirmala Text" panose="020B0502040204020203" pitchFamily="34" charset="0"/>
                <a:cs typeface="Nirmala Text" panose="020B0502040204020203" pitchFamily="34" charset="0"/>
              </a:rPr>
              <a:t>IoV</a:t>
            </a:r>
            <a:r>
              <a:rPr lang="en-US" sz="2600" i="0" dirty="0">
                <a:effectLst/>
                <a:ea typeface="Nirmala Text" panose="020B0502040204020203" pitchFamily="34" charset="0"/>
                <a:cs typeface="Nirmala Text" panose="020B0502040204020203" pitchFamily="34" charset="0"/>
              </a:rPr>
              <a:t> detection.</a:t>
            </a:r>
          </a:p>
          <a:p>
            <a:pPr algn="l"/>
            <a:r>
              <a:rPr lang="en-US" sz="2600" i="0" dirty="0">
                <a:effectLst/>
                <a:ea typeface="Nirmala Text" panose="020B0502040204020203" pitchFamily="34" charset="0"/>
                <a:cs typeface="Nirmala Text" panose="020B0502040204020203" pitchFamily="34" charset="0"/>
              </a:rPr>
              <a:t>2. Layer-Wise FHE encrypts only the most sensitive layer of the </a:t>
            </a:r>
            <a:r>
              <a:rPr lang="en-US" sz="2600" i="0" dirty="0" err="1">
                <a:effectLst/>
                <a:ea typeface="Nirmala Text" panose="020B0502040204020203" pitchFamily="34" charset="0"/>
                <a:cs typeface="Nirmala Text" panose="020B0502040204020203" pitchFamily="34" charset="0"/>
              </a:rPr>
              <a:t>KANConvNet</a:t>
            </a:r>
            <a:r>
              <a:rPr lang="en-US" sz="2600" i="0" dirty="0">
                <a:effectLst/>
                <a:ea typeface="Nirmala Text" panose="020B0502040204020203" pitchFamily="34" charset="0"/>
                <a:cs typeface="Nirmala Text" panose="020B0502040204020203" pitchFamily="34" charset="0"/>
              </a:rPr>
              <a:t> model that captures vehicle-specific driving patterns.</a:t>
            </a:r>
          </a:p>
          <a:p>
            <a:pPr algn="l"/>
            <a:r>
              <a:rPr lang="en-US" sz="2600" i="0" dirty="0">
                <a:effectLst/>
                <a:ea typeface="Nirmala Text" panose="020B0502040204020203" pitchFamily="34" charset="0"/>
                <a:cs typeface="Nirmala Text" panose="020B0502040204020203" pitchFamily="34" charset="0"/>
              </a:rPr>
              <a:t>3. All other layers (input, Fourier, activation, output) remain in plaintext to maintain speed and efficiency.</a:t>
            </a:r>
          </a:p>
          <a:p>
            <a:pPr algn="l"/>
            <a:r>
              <a:rPr lang="en-US" sz="2600" i="0" dirty="0">
                <a:effectLst/>
                <a:ea typeface="Nirmala Text" panose="020B0502040204020203" pitchFamily="34" charset="0"/>
                <a:cs typeface="Nirmala Text" panose="020B0502040204020203" pitchFamily="34" charset="0"/>
              </a:rPr>
              <a:t>4. This approach maintains &lt;60ms detection latency, keeps updates to kilobyte size, and runs on standard ECU-class hardware.</a:t>
            </a:r>
          </a:p>
          <a:p>
            <a:pPr algn="l"/>
            <a:r>
              <a:rPr lang="en-US" sz="2600" i="0" dirty="0">
                <a:effectLst/>
                <a:ea typeface="Nirmala Text" panose="020B0502040204020203" pitchFamily="34" charset="0"/>
                <a:cs typeface="Nirmala Text" panose="020B0502040204020203" pitchFamily="34" charset="0"/>
              </a:rPr>
              <a:t>5. Key takeaway: Strong cryptographic privacy for critical vehicle data without sacrificing real-time performance.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32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2FEE6-A6D9-EC3E-FBD5-E246E5CD6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3BABA-0FF6-3605-AC5D-89A27A504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C93E79-6192-D84A-B356-72D267AB2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Work Completed: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9E73908-FDB7-863D-3100-8199BA153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003" y="1821976"/>
            <a:ext cx="10031103" cy="49506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1. </a:t>
            </a:r>
            <a:r>
              <a:rPr lang="en-IN" sz="2400" b="1" dirty="0" err="1"/>
              <a:t>KANConvNet</a:t>
            </a:r>
            <a:r>
              <a:rPr lang="en-IN" sz="2400" b="1" dirty="0"/>
              <a:t> Classifier</a:t>
            </a:r>
            <a:endParaRPr lang="en-IN" sz="2400" dirty="0"/>
          </a:p>
          <a:p>
            <a:r>
              <a:rPr lang="en-IN" sz="2000" b="1" dirty="0"/>
              <a:t>Architecture:</a:t>
            </a:r>
            <a:r>
              <a:rPr lang="en-IN" sz="2000" dirty="0"/>
              <a:t> Implemented with the Kolmogorov-Arnold trick (learnable edge activations via Fourier basis).</a:t>
            </a:r>
          </a:p>
          <a:p>
            <a:r>
              <a:rPr lang="en-IN" sz="2000" b="1" dirty="0"/>
              <a:t>Custom Layers:</a:t>
            </a:r>
            <a:r>
              <a:rPr lang="en-IN" sz="2000" dirty="0"/>
              <a:t> Built </a:t>
            </a:r>
            <a:r>
              <a:rPr lang="en-IN" sz="2000" dirty="0" err="1"/>
              <a:t>FourierKANLinear</a:t>
            </a:r>
            <a:r>
              <a:rPr lang="en-IN" sz="2000" dirty="0"/>
              <a:t>, </a:t>
            </a:r>
            <a:r>
              <a:rPr lang="en-IN" sz="2000" dirty="0" err="1"/>
              <a:t>KolmogorovActivation</a:t>
            </a:r>
            <a:r>
              <a:rPr lang="en-IN" sz="2000" dirty="0"/>
              <a:t>, and KANConv1d modules.</a:t>
            </a:r>
          </a:p>
          <a:p>
            <a:r>
              <a:rPr lang="en-IN" sz="2000" b="1" dirty="0"/>
              <a:t>Backbone:</a:t>
            </a:r>
            <a:r>
              <a:rPr lang="en-IN" sz="2000" dirty="0"/>
              <a:t> Configured a CNN backbone to process windowed vehicular sequences.</a:t>
            </a:r>
          </a:p>
          <a:p>
            <a:pPr marL="0" indent="0">
              <a:buNone/>
            </a:pPr>
            <a:r>
              <a:rPr lang="en-IN" sz="2400" b="1" dirty="0"/>
              <a:t>2. Data Pipeline &amp; Preprocessing</a:t>
            </a:r>
            <a:endParaRPr lang="en-IN" sz="2400" dirty="0"/>
          </a:p>
          <a:p>
            <a:r>
              <a:rPr lang="en-IN" sz="2000" b="1" dirty="0"/>
              <a:t>Datasets:</a:t>
            </a:r>
            <a:r>
              <a:rPr lang="en-IN" sz="2000" dirty="0"/>
              <a:t> Integrated loaders for CAN-VTC, Car-Hacking, CICIDS 2017, and </a:t>
            </a:r>
            <a:r>
              <a:rPr lang="en-IN" sz="2000" dirty="0" err="1"/>
              <a:t>VeReMi</a:t>
            </a:r>
            <a:r>
              <a:rPr lang="en-IN" sz="2000" dirty="0"/>
              <a:t>.</a:t>
            </a:r>
          </a:p>
          <a:p>
            <a:r>
              <a:rPr lang="en-IN" sz="2000" b="1" dirty="0"/>
              <a:t>Feature Engineering:</a:t>
            </a:r>
            <a:r>
              <a:rPr lang="en-IN" sz="2000" dirty="0"/>
              <a:t> Unified 46-feature extraction (timing, DLC, payload stats, CAN-ID histograms).</a:t>
            </a:r>
          </a:p>
          <a:p>
            <a:r>
              <a:rPr lang="en-IN" sz="2000" b="1" dirty="0"/>
              <a:t>Normalization:</a:t>
            </a:r>
            <a:r>
              <a:rPr lang="en-IN" sz="2000" dirty="0"/>
              <a:t> Applied automated Z-score scaling and signal clipping.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39200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7F34A-9A56-90AC-B9E2-68294854D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F59C2-EF33-B272-6615-63101EA10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CC48CF-8C92-071D-0429-9D67772C7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Work Completed: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711069-F469-0418-61AA-A194F86D6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941" y="1757197"/>
            <a:ext cx="10911385" cy="49506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3. Phase 1: Federated Setup</a:t>
            </a:r>
            <a:endParaRPr lang="en-IN" sz="2400" dirty="0"/>
          </a:p>
          <a:p>
            <a:r>
              <a:rPr lang="en-IN" sz="2000" b="1" dirty="0"/>
              <a:t>Distribution:</a:t>
            </a:r>
            <a:r>
              <a:rPr lang="en-IN" sz="2000" dirty="0"/>
              <a:t> Simulated realistic non-IID data via Dirichlet allocation (α=0.3) for 50-200 clients.</a:t>
            </a:r>
          </a:p>
          <a:p>
            <a:r>
              <a:rPr lang="en-IN" sz="2000" b="1" dirty="0"/>
              <a:t>Security:</a:t>
            </a:r>
            <a:r>
              <a:rPr lang="en-IN" sz="2000" dirty="0"/>
              <a:t> Secured client-server channels with ECDH handshakes, AES-256-GCM, and mutual authentication.</a:t>
            </a:r>
          </a:p>
          <a:p>
            <a:r>
              <a:rPr lang="en-IN" sz="2000" b="1" dirty="0"/>
              <a:t>Simulation:</a:t>
            </a:r>
            <a:r>
              <a:rPr lang="en-IN" sz="2000" dirty="0"/>
              <a:t> Built </a:t>
            </a:r>
            <a:r>
              <a:rPr lang="en-IN" sz="2000" dirty="0" err="1"/>
              <a:t>FederatedServer</a:t>
            </a:r>
            <a:r>
              <a:rPr lang="en-IN" sz="2000" dirty="0"/>
              <a:t>/Client classes and defined a Genetic Algorithm hyperparameter search space.</a:t>
            </a:r>
          </a:p>
          <a:p>
            <a:pPr marL="0" indent="0">
              <a:buNone/>
            </a:pPr>
            <a:r>
              <a:rPr lang="en-IN" sz="2400" b="1" dirty="0"/>
              <a:t>4. Infrastructure &amp; Verification</a:t>
            </a:r>
            <a:endParaRPr lang="en-IN" sz="2400" dirty="0"/>
          </a:p>
          <a:p>
            <a:r>
              <a:rPr lang="en-IN" sz="2000" b="1" dirty="0"/>
              <a:t>Workflow:</a:t>
            </a:r>
            <a:r>
              <a:rPr lang="en-IN" sz="2000" dirty="0"/>
              <a:t> Built centralized train.py supporting full runs and rapid --smoke tests.</a:t>
            </a:r>
          </a:p>
          <a:p>
            <a:r>
              <a:rPr lang="en-IN" sz="2000" b="1" dirty="0"/>
              <a:t>Orchestration:</a:t>
            </a:r>
            <a:r>
              <a:rPr lang="en-IN" sz="2000" dirty="0"/>
              <a:t> Automated the </a:t>
            </a:r>
            <a:r>
              <a:rPr lang="en-IN" sz="2000" dirty="0" err="1"/>
              <a:t>init</a:t>
            </a:r>
            <a:r>
              <a:rPr lang="en-IN" sz="2000" dirty="0"/>
              <a:t> sequence (partitioning → secure setup → broadcast) via phase1.py.</a:t>
            </a:r>
          </a:p>
          <a:p>
            <a:r>
              <a:rPr lang="en-IN" sz="2000" b="1" dirty="0"/>
              <a:t>Validation:</a:t>
            </a:r>
            <a:r>
              <a:rPr lang="en-IN" sz="2000" dirty="0"/>
              <a:t> Integrated JSON training logs and best-weight checkpointing.</a:t>
            </a:r>
          </a:p>
        </p:txBody>
      </p:sp>
    </p:spTree>
    <p:extLst>
      <p:ext uri="{BB962C8B-B14F-4D97-AF65-F5344CB8AC3E}">
        <p14:creationId xmlns:p14="http://schemas.microsoft.com/office/powerpoint/2010/main" val="19871733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27EDE-FDE4-1569-55FE-01654641F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12EA0-4804-B0DB-BF90-B0FB7BAE6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6053D6-2628-7155-50F0-42C9599BD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Next Step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91B5C4-BEC3-BCF7-0E3D-70ABEF7A2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054" y="2644302"/>
            <a:ext cx="10523969" cy="2220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project is now ready to move into Phase 2 (Federated Training), which involves implementing the TOPSIS + Multi-Krum aggregation logic and the Genetic Algorithm evolution loop.</a:t>
            </a:r>
          </a:p>
          <a:p>
            <a:pPr marL="0" indent="0">
              <a:buNone/>
            </a:pPr>
            <a:r>
              <a:rPr lang="en-US" sz="2400" dirty="0"/>
              <a:t>We will look into the aggregate function and its mathematical formulation in detail to ensure proper implementation of the TOPSIS + Multi-Krum pipeline.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25530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88361C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2973</Words>
  <Application>Microsoft Office PowerPoint</Application>
  <PresentationFormat>Widescreen</PresentationFormat>
  <Paragraphs>289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Calibri Light</vt:lpstr>
      <vt:lpstr>Google Sans Text</vt:lpstr>
      <vt:lpstr>KaTeX_Main</vt:lpstr>
      <vt:lpstr>KaTeX_Math</vt:lpstr>
      <vt:lpstr>ui-sans-serif</vt:lpstr>
      <vt:lpstr>Office Theme</vt:lpstr>
      <vt:lpstr>Privacy Preserving Collaborative IDS for Internet of vehicle networks</vt:lpstr>
      <vt:lpstr>Content:</vt:lpstr>
      <vt:lpstr>Problem Statement</vt:lpstr>
      <vt:lpstr> </vt:lpstr>
      <vt:lpstr>Project Objectives</vt:lpstr>
      <vt:lpstr> Threat Model </vt:lpstr>
      <vt:lpstr>PowerPoint Presentation</vt:lpstr>
      <vt:lpstr>PowerPoint Presentation</vt:lpstr>
      <vt:lpstr>PowerPoint Presentation</vt:lpstr>
      <vt:lpstr>Threat Matrix</vt:lpstr>
      <vt:lpstr> Dataset Acquisition </vt:lpstr>
      <vt:lpstr> </vt:lpstr>
      <vt:lpstr>Data Engineering</vt:lpstr>
      <vt:lpstr> Data Engineering (46-D Feature Mapping) </vt:lpstr>
      <vt:lpstr> Data Engineering (46-D Feature Mapping) </vt:lpstr>
      <vt:lpstr> Data Engineering (Preprocessing) </vt:lpstr>
      <vt:lpstr> Non-IID Simulation </vt:lpstr>
      <vt:lpstr> Non-IID Simulation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Layered FHE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Collaborative IDS for Internet of vehicle networks</dc:title>
  <dc:creator>Dr. Uma Maheswari S - [Cyber Security]</dc:creator>
  <cp:lastModifiedBy>Hithesh Yuvaraja</cp:lastModifiedBy>
  <cp:revision>248</cp:revision>
  <dcterms:created xsi:type="dcterms:W3CDTF">2026-05-08T09:13:32Z</dcterms:created>
  <dcterms:modified xsi:type="dcterms:W3CDTF">2026-06-19T04:21:33Z</dcterms:modified>
</cp:coreProperties>
</file>