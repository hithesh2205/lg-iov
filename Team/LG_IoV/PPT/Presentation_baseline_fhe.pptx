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2B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9ABBBF-FC4F-4A5F-B249-18453C65DA91}" v="371" dt="2026-06-13T17:21:26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8C7F2-C041-D1D4-510F-15E3CC39D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2582996"/>
            <a:ext cx="8705850" cy="7810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B052D47-A6D4-4F05-77D8-7F7F134D1703}"/>
              </a:ext>
            </a:extLst>
          </p:cNvPr>
          <p:cNvSpPr txBox="1">
            <a:spLocks/>
          </p:cNvSpPr>
          <p:nvPr userDrawn="1"/>
        </p:nvSpPr>
        <p:spPr>
          <a:xfrm>
            <a:off x="2209800" y="4114073"/>
            <a:ext cx="8705850" cy="78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13-06-2026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13-06-2026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13-06-2026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00B-B9CF-BAB6-D90D-E47BD07552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200">
                <a:latin typeface="Calibri"/>
                <a:ea typeface="Calibri"/>
                <a:cs typeface="Calibri"/>
              </a:rPr>
              <a:t>Privacy Preserving Collaborative IDS for Internet of vehicle networks</a:t>
            </a:r>
            <a:endParaRPr lang="en-US" sz="3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E5450-03F0-B1EA-0318-D1B927D1F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2582996"/>
            <a:ext cx="8705850" cy="248994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IN" dirty="0">
                <a:ea typeface="Calibri"/>
                <a:cs typeface="Calibri"/>
              </a:rPr>
              <a:t>Faculty </a:t>
            </a:r>
            <a:r>
              <a:rPr lang="en-IN">
                <a:ea typeface="Calibri"/>
                <a:cs typeface="Calibri"/>
              </a:rPr>
              <a:t>Members:             Student Members:</a:t>
            </a:r>
            <a:endParaRPr lang="en-IN" dirty="0">
              <a:ea typeface="Calibri"/>
              <a:cs typeface="Calibri"/>
            </a:endParaRPr>
          </a:p>
          <a:p>
            <a:pPr algn="l"/>
            <a:r>
              <a:rPr lang="en-IN">
                <a:ea typeface="Calibri"/>
                <a:cs typeface="Calibri"/>
              </a:rPr>
              <a:t>      </a:t>
            </a:r>
            <a:endParaRPr lang="en-IN" dirty="0">
              <a:ea typeface="Calibri"/>
              <a:cs typeface="Calibri"/>
            </a:endParaRPr>
          </a:p>
          <a:p>
            <a:pPr algn="l"/>
            <a:r>
              <a:rPr lang="en-IN">
                <a:ea typeface="Calibri"/>
                <a:cs typeface="Calibri"/>
              </a:rPr>
              <a:t>Mrs. Durga                Hithesh Y</a:t>
            </a:r>
          </a:p>
          <a:p>
            <a:pPr algn="l"/>
            <a:r>
              <a:rPr lang="en-IN">
                <a:ea typeface="Calibri"/>
                <a:cs typeface="Calibri"/>
              </a:rPr>
              <a:t>Mrs. Uma                  Saurabh Krishnan</a:t>
            </a:r>
            <a:endParaRPr lang="en-IN"/>
          </a:p>
          <a:p>
            <a:pPr algn="l"/>
            <a:r>
              <a:rPr lang="en-IN">
                <a:ea typeface="Calibri"/>
                <a:cs typeface="Calibri"/>
              </a:rPr>
              <a:t>Mrs. Anusuya</a:t>
            </a:r>
            <a:endParaRPr lang="en-IN"/>
          </a:p>
          <a:p>
            <a:pPr algn="l"/>
            <a:r>
              <a:rPr lang="en-IN">
                <a:ea typeface="Calibri"/>
                <a:cs typeface="Calibri"/>
              </a:rPr>
              <a:t>Mr. Praveen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F1156D-6D0E-85F8-8723-5E8D77CE91A6}"/>
              </a:ext>
            </a:extLst>
          </p:cNvPr>
          <p:cNvSpPr/>
          <p:nvPr/>
        </p:nvSpPr>
        <p:spPr>
          <a:xfrm>
            <a:off x="4024423" y="4200084"/>
            <a:ext cx="4544063" cy="3279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ea typeface="Calibri Light"/>
                <a:cs typeface="Calibri Light"/>
              </a:rPr>
              <a:t>Content: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9BB2-CBF6-8FCD-8298-80A8FC5A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IN">
                <a:ea typeface="Calibri" panose="020F0502020204030204"/>
                <a:cs typeface="Calibri" panose="020F0502020204030204"/>
              </a:rPr>
              <a:t>Threat Model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IN">
                <a:ea typeface="Calibri" panose="020F0502020204030204"/>
                <a:cs typeface="Calibri" panose="020F0502020204030204"/>
              </a:rPr>
              <a:t>Threat Matrix and Risk Matrix</a:t>
            </a:r>
          </a:p>
          <a:p>
            <a:pPr marL="514350" indent="-514350">
              <a:buAutoNum type="arabicPeriod"/>
            </a:pPr>
            <a:r>
              <a:rPr lang="en-IN" dirty="0">
                <a:ea typeface="Calibri" panose="020F0502020204030204"/>
                <a:cs typeface="Calibri" panose="020F0502020204030204"/>
              </a:rPr>
              <a:t>Baseline Architec</a:t>
            </a:r>
            <a:r>
              <a:rPr lang="en-IN">
                <a:ea typeface="Calibri" panose="020F0502020204030204"/>
                <a:cs typeface="Calibri" panose="020F0502020204030204"/>
              </a:rPr>
              <a:t>ture</a:t>
            </a:r>
          </a:p>
          <a:p>
            <a:pPr marL="514350" indent="-514350">
              <a:buAutoNum type="arabicPeriod"/>
            </a:pPr>
            <a:r>
              <a:rPr lang="en-IN">
                <a:ea typeface="Calibri" panose="020F0502020204030204"/>
                <a:cs typeface="Calibri" panose="020F0502020204030204"/>
              </a:rPr>
              <a:t>Model Architecture</a:t>
            </a:r>
          </a:p>
          <a:p>
            <a:pPr marL="514350" indent="-514350">
              <a:buAutoNum type="arabicPeriod"/>
            </a:pPr>
            <a:r>
              <a:rPr lang="en-IN">
                <a:ea typeface="Calibri" panose="020F0502020204030204"/>
                <a:cs typeface="Calibri" panose="020F0502020204030204"/>
              </a:rPr>
              <a:t>Why FHE in FL</a:t>
            </a:r>
          </a:p>
          <a:p>
            <a:pPr marL="514350" indent="-514350">
              <a:buAutoNum type="arabicPeriod"/>
            </a:pPr>
            <a:r>
              <a:rPr lang="en-IN" dirty="0">
                <a:ea typeface="Calibri" panose="020F0502020204030204"/>
                <a:cs typeface="Calibri" panose="020F0502020204030204"/>
              </a:rPr>
              <a:t>Security and </a:t>
            </a:r>
            <a:r>
              <a:rPr lang="en-IN">
                <a:ea typeface="Calibri" panose="020F0502020204030204"/>
                <a:cs typeface="Calibri" panose="020F0502020204030204"/>
              </a:rPr>
              <a:t>Performance Report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IN" dirty="0">
                <a:ea typeface="Calibri" panose="020F0502020204030204"/>
                <a:cs typeface="Calibri" panose="020F0502020204030204"/>
              </a:rPr>
              <a:t>HE </a:t>
            </a:r>
            <a:r>
              <a:rPr lang="en-IN">
                <a:ea typeface="Calibri" panose="020F0502020204030204"/>
                <a:cs typeface="Calibri" panose="020F0502020204030204"/>
              </a:rPr>
              <a:t>Schemes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pPr marL="514350" indent="-514350">
              <a:buAutoNum type="arabicPeriod"/>
            </a:pPr>
            <a:endParaRPr lang="en-IN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5106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DF4D6-DA8B-C65F-1BF9-5519543F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9613-E199-BF43-3611-0C9C2C45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ea typeface="Calibri Light"/>
                <a:cs typeface="Calibri Light"/>
              </a:rPr>
              <a:t>Baseline Architecture: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8CFD7-1FC0-83B7-C929-9E22711A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568" y="1714733"/>
            <a:ext cx="10597402" cy="486760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>
                <a:ea typeface="+mn-lt"/>
                <a:cs typeface="+mn-lt"/>
              </a:rPr>
              <a:t>PHASE 1: INITIALIZATION:</a:t>
            </a:r>
            <a:endParaRPr lang="en-IN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1. Role : Central Server </a:t>
            </a:r>
            <a:endParaRPr lang="en-IN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2. Action : Init &amp; Broadcast global model </a:t>
            </a:r>
            <a:endParaRPr lang="en-IN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3. Target : N Vehicles </a:t>
            </a:r>
            <a:endParaRPr lang="en-IN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4. Security : </a:t>
            </a:r>
            <a:r>
              <a:rPr lang="en-IN" sz="2000" dirty="0" err="1">
                <a:ea typeface="+mn-lt"/>
                <a:cs typeface="+mn-lt"/>
              </a:rPr>
              <a:t>SecureChannel</a:t>
            </a:r>
            <a:r>
              <a:rPr lang="en-IN" sz="2000" dirty="0">
                <a:ea typeface="+mn-lt"/>
                <a:cs typeface="+mn-lt"/>
              </a:rPr>
              <a:t> (ECDH + AES-256 + Mutual Auth)</a:t>
            </a:r>
            <a:endParaRPr lang="en-IN" dirty="0">
              <a:ea typeface="+mn-lt"/>
              <a:cs typeface="+mn-lt"/>
            </a:endParaRPr>
          </a:p>
          <a:p>
            <a:r>
              <a:rPr lang="en-IN">
                <a:ea typeface="+mn-lt"/>
                <a:cs typeface="+mn-lt"/>
              </a:rPr>
              <a:t>PHASE 2: CLIENT SIDE</a:t>
            </a:r>
            <a:endParaRPr lang="en-IN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1. Inputs : CAN (1D-Conv) | V2X (MLP) | GPS/IMU (1D-Conv) </a:t>
            </a: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2. Fusion : 10Hz Sync → </a:t>
            </a:r>
            <a:r>
              <a:rPr lang="en-IN" sz="2000" dirty="0" err="1">
                <a:ea typeface="+mn-lt"/>
                <a:cs typeface="+mn-lt"/>
              </a:rPr>
              <a:t>FiLM</a:t>
            </a:r>
            <a:r>
              <a:rPr lang="en-IN" sz="2000" dirty="0">
                <a:ea typeface="+mn-lt"/>
                <a:cs typeface="+mn-lt"/>
              </a:rPr>
              <a:t> Gating → 46-dim Vector </a:t>
            </a: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3. Model : </a:t>
            </a:r>
            <a:r>
              <a:rPr lang="en-IN" sz="2000" dirty="0" err="1">
                <a:ea typeface="+mn-lt"/>
                <a:cs typeface="+mn-lt"/>
              </a:rPr>
              <a:t>KANConvNet</a:t>
            </a:r>
            <a:r>
              <a:rPr lang="en-IN" sz="2000" dirty="0">
                <a:ea typeface="+mn-lt"/>
                <a:cs typeface="+mn-lt"/>
              </a:rPr>
              <a:t> </a:t>
            </a:r>
            <a:endParaRPr lang="en-IN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4. Train : SGD + L2 Regularization 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5. Adapt : Personalization Blend (Global + </a:t>
            </a:r>
            <a:r>
              <a:rPr lang="en-IN" sz="2000" dirty="0">
                <a:ea typeface="+mn-lt"/>
                <a:cs typeface="+mn-lt"/>
              </a:rPr>
              <a:t>Local) </a:t>
            </a:r>
            <a:endParaRPr lang="en-IN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6.Privacy : L2 Clip (C=1.0) + Gaussian Noise (σ=1.2)</a:t>
            </a:r>
            <a:endParaRPr lang="en-IN" sz="2000">
              <a:ea typeface="Calibri"/>
              <a:cs typeface="Calibri"/>
            </a:endParaRPr>
          </a:p>
          <a:p>
            <a:pPr marL="0" indent="0">
              <a:buNone/>
            </a:pPr>
            <a:endParaRPr lang="en-IN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9611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FC453-98EA-CBAB-0F66-7CF6C0C3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9935-1B3E-DAF8-3EAD-8DA55B3DB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ea typeface="Calibri Light"/>
                <a:cs typeface="Calibri Light"/>
              </a:rPr>
              <a:t>Baseline Architecture: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76EF0-94E0-0389-98CE-084BD2510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568" y="1714733"/>
            <a:ext cx="10597402" cy="48676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ea typeface="+mn-lt"/>
                <a:cs typeface="+mn-lt"/>
              </a:rPr>
              <a:t>PHASE 3: SERVER AGGREGATION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sz="2000">
                <a:ea typeface="Calibri"/>
                <a:cs typeface="Calibri"/>
              </a:rPr>
              <a:t>1.</a:t>
            </a:r>
            <a:r>
              <a:rPr lang="en-IN" sz="2000" dirty="0">
                <a:ea typeface="+mn-lt"/>
                <a:cs typeface="+mn-lt"/>
              </a:rPr>
              <a:t> Stage 1 : TOPSIS 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   </a:t>
            </a:r>
            <a:r>
              <a:rPr lang="en-IN" sz="2000" dirty="0">
                <a:ea typeface="+mn-lt"/>
                <a:cs typeface="+mn-lt"/>
              </a:rPr>
              <a:t> Action : Dimensionality Reduction → Rank → Filter Outliers </a:t>
            </a:r>
            <a:endParaRPr lang="en-IN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3. Stage 2 : Multi-</a:t>
            </a:r>
            <a:r>
              <a:rPr lang="en-IN" sz="2000" dirty="0">
                <a:ea typeface="+mn-lt"/>
                <a:cs typeface="+mn-lt"/>
              </a:rPr>
              <a:t>Krum </a:t>
            </a:r>
            <a:endParaRPr lang="en-IN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   </a:t>
            </a:r>
            <a:r>
              <a:rPr lang="en-IN" sz="2000" dirty="0">
                <a:ea typeface="+mn-lt"/>
                <a:cs typeface="+mn-lt"/>
              </a:rPr>
              <a:t> Action : Robust Clustering → Pairwise Distance → Average Top-m</a:t>
            </a:r>
          </a:p>
          <a:p>
            <a:pPr marL="0" indent="0">
              <a:buNone/>
            </a:pPr>
            <a:endParaRPr lang="en-IN" sz="2000" dirty="0">
              <a:ea typeface="Calibri"/>
              <a:cs typeface="Calibri"/>
            </a:endParaRPr>
          </a:p>
          <a:p>
            <a:pPr marL="342900" indent="-342900"/>
            <a:r>
              <a:rPr lang="en-IN">
                <a:ea typeface="+mn-lt"/>
                <a:cs typeface="+mn-lt"/>
              </a:rPr>
              <a:t>PHASE 4: GA TUNING</a:t>
            </a:r>
          </a:p>
          <a:p>
            <a:pPr marL="0" indent="0">
              <a:buNone/>
            </a:pPr>
            <a:r>
              <a:rPr lang="en-IN" sz="2000">
                <a:ea typeface="Calibri"/>
                <a:cs typeface="Calibri"/>
              </a:rPr>
              <a:t>1. </a:t>
            </a:r>
            <a:r>
              <a:rPr lang="en-IN" sz="2000">
                <a:ea typeface="+mn-lt"/>
                <a:cs typeface="+mn-lt"/>
              </a:rPr>
              <a:t>Goal : Hyperparameter Optimization 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2. Genes : {LR, Batch, Epochs, Momentum, Dropout, Optimizer, L2, α} </a:t>
            </a:r>
            <a:endParaRPr lang="en-IN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3. Flow : Init → Eval (F1) → </a:t>
            </a:r>
            <a:r>
              <a:rPr lang="en-IN" sz="2000" dirty="0">
                <a:ea typeface="+mn-lt"/>
                <a:cs typeface="+mn-lt"/>
              </a:rPr>
              <a:t>Crossover → Mutate → Deploy</a:t>
            </a:r>
            <a:endParaRPr lang="en-IN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6154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3C024-D954-5D24-4C88-9D406856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E71B5-37E3-4B05-1874-F60635E1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ea typeface="Calibri Light"/>
                <a:cs typeface="Calibri Light"/>
              </a:rPr>
              <a:t>KanConvNet</a:t>
            </a:r>
            <a:r>
              <a:rPr lang="en-IN" dirty="0">
                <a:ea typeface="Calibri Light"/>
                <a:cs typeface="Calibri Light"/>
              </a:rPr>
              <a:t> Architecture: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0339-E555-291C-7306-F7F201C4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568" y="1625086"/>
            <a:ext cx="10597402" cy="48676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ea typeface="+mn-lt"/>
                <a:cs typeface="+mn-lt"/>
              </a:rPr>
              <a:t>  STAGE 1: INPUT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1. Source : Fused Telemetry 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2. Shape : 46-dim Vector </a:t>
            </a:r>
            <a:endParaRPr lang="en-IN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3. Preprocess : Normalization / Fourier Transform</a:t>
            </a:r>
          </a:p>
          <a:p>
            <a:r>
              <a:rPr lang="en-IN">
                <a:ea typeface="+mn-lt"/>
                <a:cs typeface="+mn-lt"/>
              </a:rPr>
              <a:t>   STAGE 2: MAPPING</a:t>
            </a:r>
          </a:p>
          <a:p>
            <a:pPr marL="0" indent="0">
              <a:buNone/>
            </a:pPr>
            <a:r>
              <a:rPr lang="en-IN" sz="2000">
                <a:ea typeface="Calibri"/>
                <a:cs typeface="Calibri"/>
              </a:rPr>
              <a:t>1. </a:t>
            </a:r>
            <a:r>
              <a:rPr lang="en-IN" sz="2000">
                <a:ea typeface="+mn-lt"/>
                <a:cs typeface="+mn-lt"/>
              </a:rPr>
              <a:t>Logic : Linear Transform + Fourier Encoding </a:t>
            </a:r>
            <a:endParaRPr lang="en-IN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2. Sequence : Precedes Linear Summation</a:t>
            </a:r>
          </a:p>
          <a:p>
            <a:pPr marL="457200" indent="-457200"/>
            <a:r>
              <a:rPr lang="en-IN">
                <a:ea typeface="+mn-lt"/>
                <a:cs typeface="+mn-lt"/>
              </a:rPr>
              <a:t>STAGE 3: ACTIVATION</a:t>
            </a:r>
          </a:p>
          <a:p>
            <a:pPr marL="0" indent="0">
              <a:buNone/>
            </a:pPr>
            <a:r>
              <a:rPr lang="en-IN" sz="2000">
                <a:ea typeface="Calibri" panose="020F0502020204030204"/>
                <a:cs typeface="Calibri" panose="020F0502020204030204"/>
              </a:rPr>
              <a:t>1. </a:t>
            </a:r>
            <a:r>
              <a:rPr lang="en-IN" sz="2000">
                <a:ea typeface="+mn-lt"/>
                <a:cs typeface="+mn-lt"/>
              </a:rPr>
              <a:t>Type : Kolmogorov-Inspired Nonlinearity </a:t>
            </a:r>
            <a:endParaRPr lang="en-IN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2. Placement : Network Edges 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3. Benefit : High Interpretability / Safety Audits</a:t>
            </a:r>
            <a:endParaRPr lang="en-IN" sz="20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1357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3F47-1A30-5C61-7F77-F65931F9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FDCD-4C34-88BD-6197-9D3601D9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ea typeface="Calibri Light"/>
                <a:cs typeface="Calibri Light"/>
              </a:rPr>
              <a:t>KanConvNet</a:t>
            </a:r>
            <a:r>
              <a:rPr lang="en-IN" dirty="0">
                <a:ea typeface="Calibri Light"/>
                <a:cs typeface="Calibri Light"/>
              </a:rPr>
              <a:t> Architecture: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EBF59-ABE0-BB9D-27F0-24E0C9060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774" y="1989277"/>
            <a:ext cx="10597402" cy="48676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ea typeface="+mn-lt"/>
                <a:cs typeface="+mn-lt"/>
              </a:rPr>
              <a:t> STAGE 4: HIDDEN LAYERS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sz="2000" dirty="0">
                <a:ea typeface="Calibri" panose="020F0502020204030204"/>
                <a:cs typeface="Calibri" panose="020F0502020204030204"/>
              </a:rPr>
              <a:t>1. </a:t>
            </a:r>
            <a:r>
              <a:rPr lang="en-IN" sz="2000" dirty="0">
                <a:ea typeface="+mn-lt"/>
                <a:cs typeface="+mn-lt"/>
              </a:rPr>
              <a:t>Type : Intermediate Layers </a:t>
            </a:r>
          </a:p>
          <a:p>
            <a:pPr marL="0" indent="0">
              <a:buNone/>
            </a:pPr>
            <a:r>
              <a:rPr lang="en-IN" sz="2000" dirty="0">
                <a:ea typeface="+mn-lt"/>
                <a:cs typeface="+mn-lt"/>
              </a:rPr>
              <a:t>2. Activation : </a:t>
            </a:r>
            <a:r>
              <a:rPr lang="en-IN" sz="2000" dirty="0" err="1">
                <a:ea typeface="+mn-lt"/>
                <a:cs typeface="+mn-lt"/>
              </a:rPr>
              <a:t>ReLU</a:t>
            </a:r>
            <a:r>
              <a:rPr lang="en-IN" sz="2000" dirty="0"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3. Goal : Spatial-Temporal Pattern Extraction</a:t>
            </a:r>
          </a:p>
          <a:p>
            <a:pPr marL="342900" indent="-342900"/>
            <a:r>
              <a:rPr lang="en-IN">
                <a:ea typeface="+mn-lt"/>
                <a:cs typeface="+mn-lt"/>
              </a:rPr>
              <a:t>STAGE 5: OUTPUT</a:t>
            </a: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1. Map : Final Kolmogorov Activation </a:t>
            </a:r>
            <a:endParaRPr lang="en-IN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000">
                <a:ea typeface="+mn-lt"/>
                <a:cs typeface="+mn-lt"/>
              </a:rPr>
              <a:t>2. Classifier : SGD Prediction</a:t>
            </a:r>
            <a:endParaRPr lang="en-IN" sz="20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66478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4692-F9A4-E94F-7D55-871B22FE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9CCCC-ACF4-ECD8-459F-7750E90AB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ea typeface="Calibri Light"/>
                <a:cs typeface="Calibri Light"/>
              </a:rPr>
              <a:t>Why FHE in FL:</a:t>
            </a:r>
            <a:endParaRPr lang="en-US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81DA093-71FB-D86F-33F4-9766163B1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882238"/>
            <a:ext cx="11771376" cy="417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8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3FC56-1F40-C6EC-0C52-77FC29DD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DF375-6248-B49F-394A-3DC56E9F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1000"/>
              </a:spcBef>
            </a:pPr>
            <a:r>
              <a:rPr lang="en-IN">
                <a:latin typeface="Calibri"/>
                <a:ea typeface="Calibri"/>
                <a:cs typeface="Calibri"/>
              </a:rPr>
              <a:t>Security</a:t>
            </a:r>
            <a:r>
              <a:rPr lang="en-IN" dirty="0">
                <a:latin typeface="Calibri"/>
                <a:ea typeface="Calibri"/>
                <a:cs typeface="Calibri"/>
              </a:rPr>
              <a:t> </a:t>
            </a:r>
            <a:r>
              <a:rPr lang="en-IN">
                <a:latin typeface="Calibri"/>
                <a:ea typeface="Calibri"/>
                <a:cs typeface="Calibri"/>
              </a:rPr>
              <a:t>and Performance Report: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4C6F68-2193-1EAC-A3C0-68D8919F3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" y="1717964"/>
            <a:ext cx="6166034" cy="424642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82005F-DE67-A5B4-6C3E-818581781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201" y="1690255"/>
            <a:ext cx="6191544" cy="447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54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EF163-BCCF-DDF6-20F1-9500DDB1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87E41-0431-D075-6710-CBA93F6C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>
              <a:spcBef>
                <a:spcPts val="1000"/>
              </a:spcBef>
            </a:pPr>
            <a:r>
              <a:rPr lang="en-IN">
                <a:latin typeface="Calibri"/>
                <a:ea typeface="Calibri"/>
                <a:cs typeface="Calibri"/>
              </a:rPr>
              <a:t>HE Scheme: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6505DA3-61DB-EFF8-BF29-2173FA9E5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322354"/>
              </p:ext>
            </p:extLst>
          </p:nvPr>
        </p:nvGraphicFramePr>
        <p:xfrm>
          <a:off x="975360" y="1716405"/>
          <a:ext cx="9173304" cy="42540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93326">
                  <a:extLst>
                    <a:ext uri="{9D8B030D-6E8A-4147-A177-3AD203B41FA5}">
                      <a16:colId xmlns:a16="http://schemas.microsoft.com/office/drawing/2014/main" val="2986799235"/>
                    </a:ext>
                  </a:extLst>
                </a:gridCol>
                <a:gridCol w="2293326">
                  <a:extLst>
                    <a:ext uri="{9D8B030D-6E8A-4147-A177-3AD203B41FA5}">
                      <a16:colId xmlns:a16="http://schemas.microsoft.com/office/drawing/2014/main" val="3537069177"/>
                    </a:ext>
                  </a:extLst>
                </a:gridCol>
                <a:gridCol w="2293326">
                  <a:extLst>
                    <a:ext uri="{9D8B030D-6E8A-4147-A177-3AD203B41FA5}">
                      <a16:colId xmlns:a16="http://schemas.microsoft.com/office/drawing/2014/main" val="2380655340"/>
                    </a:ext>
                  </a:extLst>
                </a:gridCol>
                <a:gridCol w="2293326">
                  <a:extLst>
                    <a:ext uri="{9D8B030D-6E8A-4147-A177-3AD203B41FA5}">
                      <a16:colId xmlns:a16="http://schemas.microsoft.com/office/drawing/2014/main" val="3374584371"/>
                    </a:ext>
                  </a:extLst>
                </a:gridCol>
              </a:tblGrid>
              <a:tr h="40401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Scheme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Type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Top Strength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Main Limitation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231491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BFV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Exact integers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Great for exact arithmetic and databases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Needs complex quantization for floats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027370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BGV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Exact integers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Mature, strong integer support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Poor fit for float-valued model weights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555429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CKKS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Approximate (Floats)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for neural networks &amp; weighted sums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Requires careful error &amp; parameter tuning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287144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TFHE / FHEW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Bits / Boolean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 bootstrapping for small circuits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Way too slow for large vector aggregation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183320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Hybrid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Mixed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Combines multiple schemes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scheme-switching overhead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603333"/>
                  </a:ext>
                </a:extLst>
              </a:tr>
              <a:tr h="64166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Threshold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Varies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Enables joint multi-party decryption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Unnecessary key-management complexity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755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074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Privacy Preserving Collaborative IDS for Internet of vehicle networks</vt:lpstr>
      <vt:lpstr>Content:</vt:lpstr>
      <vt:lpstr>Baseline Architecture:</vt:lpstr>
      <vt:lpstr>Baseline Architecture:</vt:lpstr>
      <vt:lpstr>KanConvNet Architecture:</vt:lpstr>
      <vt:lpstr>KanConvNet Architecture:</vt:lpstr>
      <vt:lpstr>Why FHE in FL:</vt:lpstr>
      <vt:lpstr>Security and Performance Report:</vt:lpstr>
      <vt:lpstr>HE Scheme: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Uma Maheswari S - [Cyber Security]</dc:creator>
  <cp:lastModifiedBy>Dr. Uma Maheswari S - [Cyber Security]</cp:lastModifiedBy>
  <cp:revision>316</cp:revision>
  <dcterms:created xsi:type="dcterms:W3CDTF">2026-05-08T09:13:32Z</dcterms:created>
  <dcterms:modified xsi:type="dcterms:W3CDTF">2026-06-13T17:45:49Z</dcterms:modified>
</cp:coreProperties>
</file>