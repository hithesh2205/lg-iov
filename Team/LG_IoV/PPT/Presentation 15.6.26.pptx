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57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EF057-4922-430A-AD91-EFC589C0466D}" v="666" dt="2026-06-11T06:25:23.130"/>
    <p1510:client id="{AF5A61AE-A1BE-4EF0-84BF-C0572EC16D4B}" v="15" dt="2026-06-10T01:41:49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4" d="100"/>
          <a:sy n="74" d="100"/>
        </p:scale>
        <p:origin x="3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8C7F2-C041-D1D4-510F-15E3CC39D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2582996"/>
            <a:ext cx="8705850" cy="7810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B052D47-A6D4-4F05-77D8-7F7F134D1703}"/>
              </a:ext>
            </a:extLst>
          </p:cNvPr>
          <p:cNvSpPr txBox="1">
            <a:spLocks/>
          </p:cNvSpPr>
          <p:nvPr userDrawn="1"/>
        </p:nvSpPr>
        <p:spPr>
          <a:xfrm>
            <a:off x="2209800" y="4114073"/>
            <a:ext cx="8705850" cy="78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12-06-2026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12-06-2026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12-06-2026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00B-B9CF-BAB6-D90D-E47BD07552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200">
                <a:latin typeface="Calibri"/>
                <a:ea typeface="Calibri"/>
                <a:cs typeface="Calibri"/>
              </a:rPr>
              <a:t>Privacy Preserving Collaborative IDS for Internet of vehicle networks</a:t>
            </a:r>
            <a:endParaRPr lang="en-US" sz="3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E5450-03F0-B1EA-0318-D1B927D1F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2582996"/>
            <a:ext cx="8705850" cy="248994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IN" dirty="0">
                <a:ea typeface="Calibri"/>
                <a:cs typeface="Calibri"/>
              </a:rPr>
              <a:t>Faculty </a:t>
            </a:r>
            <a:r>
              <a:rPr lang="en-IN">
                <a:ea typeface="Calibri"/>
                <a:cs typeface="Calibri"/>
              </a:rPr>
              <a:t>Members:             Student Members:</a:t>
            </a:r>
            <a:endParaRPr lang="en-IN" dirty="0">
              <a:ea typeface="Calibri"/>
              <a:cs typeface="Calibri"/>
            </a:endParaRPr>
          </a:p>
          <a:p>
            <a:pPr algn="l"/>
            <a:r>
              <a:rPr lang="en-IN">
                <a:ea typeface="Calibri"/>
                <a:cs typeface="Calibri"/>
              </a:rPr>
              <a:t>      </a:t>
            </a:r>
            <a:endParaRPr lang="en-IN" dirty="0">
              <a:ea typeface="Calibri"/>
              <a:cs typeface="Calibri"/>
            </a:endParaRPr>
          </a:p>
          <a:p>
            <a:pPr algn="l"/>
            <a:r>
              <a:rPr lang="en-IN">
                <a:ea typeface="Calibri"/>
                <a:cs typeface="Calibri"/>
              </a:rPr>
              <a:t>Mrs. Durga                Hithesh Y</a:t>
            </a:r>
          </a:p>
          <a:p>
            <a:pPr algn="l"/>
            <a:r>
              <a:rPr lang="en-IN">
                <a:ea typeface="Calibri"/>
                <a:cs typeface="Calibri"/>
              </a:rPr>
              <a:t>Mrs. Uma                  Saurabh Krishnan</a:t>
            </a:r>
            <a:endParaRPr lang="en-IN"/>
          </a:p>
          <a:p>
            <a:pPr algn="l"/>
            <a:r>
              <a:rPr lang="en-IN">
                <a:ea typeface="Calibri"/>
                <a:cs typeface="Calibri"/>
              </a:rPr>
              <a:t>Mrs. Anusuya</a:t>
            </a:r>
            <a:endParaRPr lang="en-IN"/>
          </a:p>
          <a:p>
            <a:pPr algn="l"/>
            <a:r>
              <a:rPr lang="en-IN">
                <a:ea typeface="Calibri"/>
                <a:cs typeface="Calibri"/>
              </a:rPr>
              <a:t>Mr. Praveen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F1156D-6D0E-85F8-8723-5E8D77CE91A6}"/>
              </a:ext>
            </a:extLst>
          </p:cNvPr>
          <p:cNvSpPr/>
          <p:nvPr/>
        </p:nvSpPr>
        <p:spPr>
          <a:xfrm>
            <a:off x="4024423" y="4200084"/>
            <a:ext cx="4544063" cy="3279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619B-40BF-48AB-ABAF-F53BD273A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223" y="537368"/>
            <a:ext cx="9920288" cy="1325563"/>
          </a:xfrm>
        </p:spPr>
        <p:txBody>
          <a:bodyPr/>
          <a:lstStyle/>
          <a:p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Problem Statement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635FC-9947-4387-A25C-50E36CC61331}"/>
              </a:ext>
            </a:extLst>
          </p:cNvPr>
          <p:cNvSpPr txBox="1"/>
          <p:nvPr/>
        </p:nvSpPr>
        <p:spPr>
          <a:xfrm>
            <a:off x="1293962" y="2199736"/>
            <a:ext cx="8281359" cy="372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u="sng" dirty="0">
                <a:effectLst/>
                <a:latin typeface="ui-sans-serif"/>
              </a:rPr>
              <a:t>Challenges in Internet of Vehicles (</a:t>
            </a:r>
            <a:r>
              <a:rPr lang="en-US" b="1" i="0" u="sng" dirty="0" err="1">
                <a:effectLst/>
                <a:latin typeface="ui-sans-serif"/>
              </a:rPr>
              <a:t>IoV</a:t>
            </a:r>
            <a:r>
              <a:rPr lang="en-US" b="1" i="0" u="sng" dirty="0">
                <a:effectLst/>
                <a:latin typeface="ui-sans-serif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Increasing Cyber-Attacks on Connected Vehicles:</a:t>
            </a:r>
            <a:r>
              <a:rPr lang="en-US" b="0" i="0" dirty="0">
                <a:effectLst/>
                <a:latin typeface="ui-sans-serif"/>
              </a:rPr>
              <a:t> Modern vehicles are vulnerable to in-vehicle network (IVN) exploits (e.g., DoS, Fuzzy, RPM, and Gear spoofing attacks) and V2X wireless threats.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Privacy Concerns in Sharing Vehicle Data:</a:t>
            </a:r>
            <a:r>
              <a:rPr lang="en-US" b="0" i="0" dirty="0">
                <a:effectLst/>
                <a:latin typeface="ui-sans-serif"/>
              </a:rPr>
              <a:t> Strict data privacy regulations (e.g., GDPR, CCPA) prevent vehicles from uploading raw telemetry, location history, or sensor logs to centralized servers.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Limitations of Centralized IDS:</a:t>
            </a:r>
            <a:endParaRPr lang="en-US" b="0" i="0" dirty="0"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Bandwidth bottlenecks from transmitting massive, continuous streams of high-frequency vehicular data.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Single point of failure: vulnerability to connection drops in high-mobility environments.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63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C6D0-1F12-424D-8A04-A70D76D7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27471-F782-4186-AF0D-27B7787D0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u="sng" dirty="0">
                <a:effectLst/>
              </a:rPr>
              <a:t>Proposed Solution: </a:t>
            </a:r>
            <a:r>
              <a:rPr lang="en-US" b="1" i="0" u="sng" dirty="0" err="1">
                <a:effectLst/>
              </a:rPr>
              <a:t>FedIoV</a:t>
            </a:r>
            <a:endParaRPr lang="en-US" b="1" i="0" u="sng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Federated Learning (FL) Framework:</a:t>
            </a:r>
            <a:r>
              <a:rPr lang="en-US" sz="2000" b="0" i="0" dirty="0">
                <a:effectLst/>
              </a:rPr>
              <a:t> Enables collaborative training where vehicles train intrusion detection models locally and only share encrypted model updates (gradients) with the server.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Kolmogorov-Arnold Network (</a:t>
            </a:r>
            <a:r>
              <a:rPr lang="en-US" sz="2000" b="1" i="0" dirty="0" err="1">
                <a:effectLst/>
              </a:rPr>
              <a:t>KANConvNet</a:t>
            </a:r>
            <a:r>
              <a:rPr lang="en-US" sz="2000" b="1" i="0" dirty="0">
                <a:effectLst/>
              </a:rPr>
              <a:t>):</a:t>
            </a:r>
            <a:r>
              <a:rPr lang="en-US" sz="2000" b="0" i="0" dirty="0">
                <a:effectLst/>
              </a:rPr>
              <a:t> A lightweight, edge-optimized classifier with learnable activation functions on edges rather than nodes, reducing computational overhead.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Layer-Wise Fully Homomorphic Encryption (FHE):</a:t>
            </a:r>
            <a:r>
              <a:rPr lang="en-US" sz="2000" b="0" i="0" dirty="0">
                <a:effectLst/>
              </a:rPr>
              <a:t> Selectively encrypts only the most sensitive layers of the KAN model during aggregation, resolving the speed limitations of traditional FHE while preserving privacy.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379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939A-DB6D-4901-BFEE-ED1FE452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1BFF5-5316-483A-89B2-E910499F3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</a:rPr>
              <a:t>Design a Collaborative IDS for </a:t>
            </a:r>
            <a:r>
              <a:rPr lang="en-US" sz="2200" b="1" i="0" dirty="0" err="1">
                <a:effectLst/>
              </a:rPr>
              <a:t>IoV</a:t>
            </a:r>
            <a:r>
              <a:rPr lang="en-US" sz="2200" b="1" i="0" dirty="0">
                <a:effectLst/>
              </a:rPr>
              <a:t>:</a:t>
            </a:r>
            <a:r>
              <a:rPr lang="en-US" sz="2200" b="0" i="0" dirty="0">
                <a:effectLst/>
              </a:rPr>
              <a:t> Develop a distributed, cooperative system to detect cyber threats across the fleet without requiring a central database of raw logs.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</a:rPr>
              <a:t>Preserve Privacy of Vehicle Data:</a:t>
            </a:r>
            <a:r>
              <a:rPr lang="en-US" sz="2200" b="0" i="0" dirty="0">
                <a:effectLst/>
              </a:rPr>
              <a:t> Leverage secure cryptographic channels and Layer-Wise FHE to ensure vehicle telemetry remains private.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</a:rPr>
              <a:t>Support Distributed Learning Across Vehicles:</a:t>
            </a:r>
            <a:r>
              <a:rPr lang="en-US" sz="2200" b="0" i="0" dirty="0">
                <a:effectLst/>
              </a:rPr>
              <a:t> Build a robust Federated Learning client-server architecture capable of handling vehicle churn, communication drops, and non-IID settings.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effectLst/>
              </a:rPr>
              <a:t>Detect Vehicular Cyber Attacks Efficiently:</a:t>
            </a:r>
            <a:r>
              <a:rPr lang="en-US" sz="2200" b="0" i="0" dirty="0">
                <a:effectLst/>
              </a:rPr>
              <a:t> Implement and optimize </a:t>
            </a:r>
            <a:r>
              <a:rPr lang="en-US" sz="2200" b="0" i="0" dirty="0" err="1">
                <a:effectLst/>
              </a:rPr>
              <a:t>KANConvNet</a:t>
            </a:r>
            <a:r>
              <a:rPr lang="en-US" sz="2200" b="0" i="0" dirty="0">
                <a:effectLst/>
              </a:rPr>
              <a:t> to detect low-latency attacks (target latency &lt;60&lt;60 </a:t>
            </a:r>
            <a:r>
              <a:rPr lang="en-US" sz="2200" b="0" i="0" dirty="0" err="1">
                <a:effectLst/>
              </a:rPr>
              <a:t>ms</a:t>
            </a:r>
            <a:r>
              <a:rPr lang="en-US" sz="2200" b="0" i="0" dirty="0">
                <a:effectLst/>
              </a:rPr>
              <a:t>) on resource-constrained Electronic Control Units (ECUs).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387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608"/>
            <a:ext cx="9920288" cy="1325563"/>
          </a:xfrm>
        </p:spPr>
        <p:txBody>
          <a:bodyPr/>
          <a:lstStyle/>
          <a:p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Threat Model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9BB2-CBF6-8FCD-8298-80A8FC5AC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074" y="2507665"/>
            <a:ext cx="8591550" cy="35901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In-Vehicle Adversary (ECU/CAN Level):</a:t>
            </a:r>
            <a:r>
              <a:rPr lang="en-US" sz="2000" b="0" i="0" dirty="0">
                <a:effectLst/>
              </a:rPr>
              <a:t> Attackers with physical or remote access who compromise an ECU to inject malicious payloads, bypass authentication, or disrupt communications (e.g., DoS, Fuzzing, Impersonation).</a:t>
            </a:r>
          </a:p>
          <a:p>
            <a:pPr marL="0" indent="0" algn="l">
              <a:buNone/>
            </a:pPr>
            <a:endParaRPr lang="en-US" sz="2000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Byzantine Clients (FL Level):</a:t>
            </a:r>
            <a:r>
              <a:rPr lang="en-US" sz="2000" b="0" i="0" dirty="0">
                <a:effectLst/>
              </a:rPr>
              <a:t> Compromised vehicles in the federated fleet that act maliciously to corrupt the global model by uploading poisoned gradients, scaled updates, or flipped labels.</a:t>
            </a:r>
          </a:p>
          <a:p>
            <a:pPr marL="0" indent="0">
              <a:buNone/>
            </a:pPr>
            <a:endParaRPr lang="en-IN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5106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B8E9-CA64-42E9-9D47-8B4139736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040C872-8E0F-4421-9024-3E0D6633D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4298" y="2061355"/>
            <a:ext cx="1569543" cy="359092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D788E0-4EC9-4701-82F5-55745636A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891" y="2061355"/>
            <a:ext cx="1398573" cy="38702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B90AF3-449F-4623-8157-7686E21748ED}"/>
              </a:ext>
            </a:extLst>
          </p:cNvPr>
          <p:cNvSpPr txBox="1"/>
          <p:nvPr/>
        </p:nvSpPr>
        <p:spPr>
          <a:xfrm>
            <a:off x="5633049" y="2041045"/>
            <a:ext cx="40285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Secure Channels:</a:t>
            </a:r>
            <a:r>
              <a:rPr lang="en-US" b="0" i="0" dirty="0">
                <a:effectLst/>
              </a:rPr>
              <a:t> ECDH-P256 key exchange, AES-256-GCM encryption, and Ed25519 signatures secure updates in transit.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Robust Aggregation (TOPSIS + Multi-Krum):</a:t>
            </a:r>
            <a:r>
              <a:rPr lang="en-US" b="0" i="0" dirty="0">
                <a:effectLst/>
              </a:rPr>
              <a:t> The server filters out noisy/Byzantine updates using TOPSIS-based filtering, followed by Multi-Krum clustering (m=5</a:t>
            </a:r>
            <a:r>
              <a:rPr lang="en-US" b="0" i="1" dirty="0">
                <a:effectLst/>
              </a:rPr>
              <a:t>m</a:t>
            </a:r>
            <a:r>
              <a:rPr lang="en-US" b="0" i="0" dirty="0">
                <a:effectLst/>
              </a:rPr>
              <a:t>=5) to isolate and drop malicious outliers.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Local Differential Privacy (DP):</a:t>
            </a:r>
            <a:r>
              <a:rPr lang="en-US" b="0" i="0" dirty="0">
                <a:effectLst/>
              </a:rPr>
              <a:t> Updates are clipped (∥</a:t>
            </a:r>
            <a:r>
              <a:rPr lang="el-GR" b="0" i="0" dirty="0">
                <a:effectLst/>
              </a:rPr>
              <a:t>Δθ∥2≤1.0∥Δ</a:t>
            </a:r>
            <a:r>
              <a:rPr lang="el-GR" b="0" i="1" dirty="0">
                <a:effectLst/>
              </a:rPr>
              <a:t>θ</a:t>
            </a:r>
            <a:r>
              <a:rPr lang="el-GR" b="0" i="0" dirty="0">
                <a:effectLst/>
              </a:rPr>
              <a:t>∥2​≤1.0) </a:t>
            </a:r>
            <a:r>
              <a:rPr lang="en-US" b="0" i="0" dirty="0">
                <a:effectLst/>
              </a:rPr>
              <a:t>and perturbed with Gaussian noise before transmission.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275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B524F-3719-442B-BEE5-C3136D343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Dataset Acquisition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03743-789C-47CF-A559-9D0E340EC6BD}"/>
              </a:ext>
            </a:extLst>
          </p:cNvPr>
          <p:cNvSpPr txBox="1"/>
          <p:nvPr/>
        </p:nvSpPr>
        <p:spPr>
          <a:xfrm>
            <a:off x="1259457" y="2122099"/>
            <a:ext cx="42010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Car-Hacking Dataset (HCRL):</a:t>
            </a:r>
            <a:endParaRPr lang="en-US" sz="1400" b="0" i="0" dirty="0"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Scope:</a:t>
            </a:r>
            <a:r>
              <a:rPr lang="en-US" sz="1400" b="0" i="0" dirty="0">
                <a:effectLst/>
              </a:rPr>
              <a:t> Labeled CAN bus traffic from a real Hyundai YF Sonata.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Size/Type:</a:t>
            </a:r>
            <a:r>
              <a:rPr lang="en-US" sz="1400" b="0" i="0" dirty="0">
                <a:effectLst/>
              </a:rPr>
              <a:t> CSV logs containing CAN-ID, DLC, payload bytes, and injection flags.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Threat Classes:</a:t>
            </a:r>
            <a:r>
              <a:rPr lang="en-US" sz="1400" b="0" i="0" dirty="0">
                <a:effectLst/>
              </a:rPr>
              <a:t> Normal run, DoS, Fuzzy, RPM, and Gear attacks.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 err="1">
                <a:effectLst/>
              </a:rPr>
              <a:t>VeReMi</a:t>
            </a:r>
            <a:r>
              <a:rPr lang="en-US" sz="1400" b="1" i="0" dirty="0">
                <a:effectLst/>
              </a:rPr>
              <a:t> Dataset:</a:t>
            </a:r>
            <a:endParaRPr lang="en-US" sz="1400" b="0" i="0" dirty="0"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Scope:</a:t>
            </a:r>
            <a:r>
              <a:rPr lang="en-US" sz="1400" b="0" i="0" dirty="0">
                <a:effectLst/>
              </a:rPr>
              <a:t> Kinematic beacon data from V2V communication in VANET simulations.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Size/Type:</a:t>
            </a:r>
            <a:r>
              <a:rPr lang="en-US" sz="1400" b="0" i="0" dirty="0">
                <a:effectLst/>
              </a:rPr>
              <a:t> 18 kinematic features (positions, speeds, accelerations, headings, noise levels).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Threat Classes:</a:t>
            </a:r>
            <a:r>
              <a:rPr lang="en-US" sz="1400" b="0" i="0" dirty="0">
                <a:effectLst/>
              </a:rPr>
              <a:t> Benign (BENIGN) and Attack (ATTACK) (falsified kinematic attributes).</a:t>
            </a:r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2B0057-A3E4-4F5E-A218-432AFFE2EF2A}"/>
              </a:ext>
            </a:extLst>
          </p:cNvPr>
          <p:cNvSpPr txBox="1"/>
          <p:nvPr/>
        </p:nvSpPr>
        <p:spPr>
          <a:xfrm>
            <a:off x="5564037" y="2053087"/>
            <a:ext cx="4097547" cy="3933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i="0" dirty="0">
                <a:effectLst/>
              </a:rPr>
              <a:t>3.CICIDS 2017 Dataset:</a:t>
            </a:r>
            <a:endParaRPr lang="en-US" sz="1400" b="0" i="0" dirty="0"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Scope:</a:t>
            </a:r>
            <a:r>
              <a:rPr lang="en-US" sz="1400" b="0" i="0" dirty="0">
                <a:effectLst/>
              </a:rPr>
              <a:t> Network flow-level traffic logs spanning multi-layer V2I and V2N network protocols.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Size/Type:</a:t>
            </a:r>
            <a:r>
              <a:rPr lang="en-US" sz="1400" b="0" i="0" dirty="0">
                <a:effectLst/>
              </a:rPr>
              <a:t> 78 numeric flow features down-selected to a stable 46-feature network baseline.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Threat Classes:</a:t>
            </a:r>
            <a:r>
              <a:rPr lang="en-US" sz="1400" b="0" i="0" dirty="0">
                <a:effectLst/>
              </a:rPr>
              <a:t> Benign vs. Attack (DDoS, </a:t>
            </a:r>
            <a:r>
              <a:rPr lang="en-US" sz="1400" b="0" i="0" dirty="0" err="1">
                <a:effectLst/>
              </a:rPr>
              <a:t>PortScan</a:t>
            </a:r>
            <a:r>
              <a:rPr lang="en-US" sz="1400" b="0" i="0" dirty="0">
                <a:effectLst/>
              </a:rPr>
              <a:t>, FTP-</a:t>
            </a:r>
            <a:r>
              <a:rPr lang="en-US" sz="1400" b="0" i="0" dirty="0" err="1">
                <a:effectLst/>
              </a:rPr>
              <a:t>Patator</a:t>
            </a:r>
            <a:r>
              <a:rPr lang="en-US" sz="1400" b="0" i="0" dirty="0">
                <a:effectLst/>
              </a:rPr>
              <a:t>, SSH-</a:t>
            </a:r>
            <a:r>
              <a:rPr lang="en-US" sz="1400" b="0" i="0" dirty="0" err="1">
                <a:effectLst/>
              </a:rPr>
              <a:t>Patator</a:t>
            </a:r>
            <a:r>
              <a:rPr lang="en-US" sz="1400" b="0" i="0" dirty="0">
                <a:effectLst/>
              </a:rPr>
              <a:t>, Web Attacks, etc.)</a:t>
            </a:r>
          </a:p>
          <a:p>
            <a:pPr algn="l"/>
            <a:r>
              <a:rPr lang="en-US" sz="1400" b="1" i="0" dirty="0">
                <a:effectLst/>
              </a:rPr>
              <a:t>4.IEEE VTC-CAN Dataset:</a:t>
            </a:r>
            <a:endParaRPr lang="en-US" sz="1400" b="0" i="0" dirty="0"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Scope:</a:t>
            </a:r>
            <a:r>
              <a:rPr lang="en-US" sz="1400" b="0" i="0" dirty="0">
                <a:effectLst/>
              </a:rPr>
              <a:t> Labeled high-fidelity in-vehicle CAN bus log stream under attack injections.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Size/Type:</a:t>
            </a:r>
            <a:r>
              <a:rPr lang="en-US" sz="1400" b="0" i="0" dirty="0">
                <a:effectLst/>
              </a:rPr>
              <a:t> CAN frames windowed to 46-dimensional temporal descriptors.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1400" b="1" i="0" dirty="0">
                <a:effectLst/>
              </a:rPr>
              <a:t>Threat Classes:</a:t>
            </a:r>
            <a:r>
              <a:rPr lang="en-US" sz="1400" b="0" i="0" dirty="0">
                <a:effectLst/>
              </a:rPr>
              <a:t> Attack-free, DoS attack, Fuzzy attack, and Impersonation attack.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48499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5DEC-AEA8-4CEE-AAF4-5D301E7A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4E79E-5F58-4636-8BF6-7A1305E8A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3400" b="1" i="0" u="sng" dirty="0">
                <a:effectLst/>
              </a:rPr>
              <a:t>Justification</a:t>
            </a:r>
          </a:p>
          <a:p>
            <a:pPr marL="0" indent="0" algn="l">
              <a:buNone/>
            </a:pPr>
            <a:r>
              <a:rPr lang="en-US" sz="2600" b="1" i="0" dirty="0">
                <a:effectLst/>
              </a:rPr>
              <a:t>Coverage:</a:t>
            </a:r>
            <a:endParaRPr lang="en-US" sz="2600" b="0" i="0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600" b="1" i="0" dirty="0">
                <a:effectLst/>
              </a:rPr>
              <a:t>Low-Level IVN Protection:</a:t>
            </a:r>
            <a:r>
              <a:rPr lang="en-US" sz="2600" b="0" i="0" dirty="0">
                <a:effectLst/>
              </a:rPr>
              <a:t> </a:t>
            </a:r>
            <a:r>
              <a:rPr lang="en-US" sz="2600" b="0" i="1" dirty="0">
                <a:effectLst/>
              </a:rPr>
              <a:t>Car-Hacking</a:t>
            </a:r>
            <a:r>
              <a:rPr lang="en-US" sz="2600" b="0" i="0" dirty="0">
                <a:effectLst/>
              </a:rPr>
              <a:t> and </a:t>
            </a:r>
            <a:r>
              <a:rPr lang="en-US" sz="2600" b="0" i="1" dirty="0">
                <a:effectLst/>
              </a:rPr>
              <a:t>IEEE VTC-CAN</a:t>
            </a:r>
            <a:r>
              <a:rPr lang="en-US" sz="2600" b="0" i="0" dirty="0">
                <a:effectLst/>
              </a:rPr>
              <a:t> evaluate anomaly detection on the internal physical ECU bus (message intervals, ID distributions, payload integrity).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600" b="1" i="0" dirty="0">
                <a:effectLst/>
              </a:rPr>
              <a:t>High-Level V2V Protection:</a:t>
            </a:r>
            <a:r>
              <a:rPr lang="en-US" sz="2600" b="0" i="0" dirty="0">
                <a:effectLst/>
              </a:rPr>
              <a:t> </a:t>
            </a:r>
            <a:r>
              <a:rPr lang="en-US" sz="2600" b="0" i="1" dirty="0" err="1">
                <a:effectLst/>
              </a:rPr>
              <a:t>VeReMi</a:t>
            </a:r>
            <a:r>
              <a:rPr lang="en-US" sz="2600" b="0" i="0" dirty="0">
                <a:effectLst/>
              </a:rPr>
              <a:t> evaluates system resilience to geographic and kinematic coordinate spoofing or communication misbehavior.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600" b="1" i="0" dirty="0">
                <a:effectLst/>
              </a:rPr>
              <a:t>High-Level V2I/V2N Protection:</a:t>
            </a:r>
            <a:r>
              <a:rPr lang="en-US" sz="2600" b="0" i="0" dirty="0">
                <a:effectLst/>
              </a:rPr>
              <a:t> </a:t>
            </a:r>
            <a:r>
              <a:rPr lang="en-US" sz="2600" b="0" i="1" dirty="0">
                <a:effectLst/>
              </a:rPr>
              <a:t>CICIDS 2017</a:t>
            </a:r>
            <a:r>
              <a:rPr lang="en-US" sz="2600" b="0" i="0" dirty="0">
                <a:effectLst/>
              </a:rPr>
              <a:t> evaluates broad network-layer threats (DDoS, brute-force exploits, scans) targeting external connectivity.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1" i="0" dirty="0">
                <a:effectLst/>
              </a:rPr>
              <a:t>Realism &amp; Data Heterogeneity:</a:t>
            </a:r>
            <a:r>
              <a:rPr lang="en-US" sz="2600" b="0" i="0" dirty="0">
                <a:effectLst/>
              </a:rPr>
              <a:t> Incorporating these four distinct datasets tests the dataset-agnostic feature engineering layer and the robustness of </a:t>
            </a:r>
            <a:r>
              <a:rPr lang="en-US" sz="2600" b="0" i="0" dirty="0" err="1">
                <a:effectLst/>
              </a:rPr>
              <a:t>KANConvNet</a:t>
            </a:r>
            <a:r>
              <a:rPr lang="en-US" sz="2600" b="0" i="0" dirty="0">
                <a:effectLst/>
              </a:rPr>
              <a:t> across high-frequency binary sequences, continuous float vectors, and IP traffic metrics.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803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1549-961B-4299-8FC5-E715C9D3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Engineering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E61A97-5939-495E-963E-974482412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8" y="2770053"/>
            <a:ext cx="10509849" cy="29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46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8A15-ADF0-4C50-9CAB-BFE210A27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Data Engineering (46-D Feature Mapping)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80F30-D467-447E-BA6C-1678B6D53F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3512" y="1410656"/>
            <a:ext cx="5588390" cy="4532678"/>
          </a:xfrm>
        </p:spPr>
      </p:pic>
    </p:spTree>
    <p:extLst>
      <p:ext uri="{BB962C8B-B14F-4D97-AF65-F5344CB8AC3E}">
        <p14:creationId xmlns:p14="http://schemas.microsoft.com/office/powerpoint/2010/main" val="1599608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3B10-1232-4284-B100-2813E1C3E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Data Engineering (Preprocessing)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BEF6C-E72A-4364-B7C5-C43A5F5BC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b="1" i="0" u="sng" dirty="0">
                <a:effectLst/>
                <a:latin typeface="ui-sans-serif"/>
              </a:rPr>
              <a:t>Data Cleaning Pipeline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Percentile Clipping:</a:t>
            </a:r>
            <a:r>
              <a:rPr lang="en-US" b="0" i="0" dirty="0">
                <a:effectLst/>
                <a:latin typeface="ui-sans-serif"/>
              </a:rPr>
              <a:t> Continuous features are clipped at the 0.5th and 99.5th percentiles (using training set bounds) to remove noisy sensor spikes and outliers.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Z-score Standardization:</a:t>
            </a:r>
            <a:r>
              <a:rPr lang="en-US" b="0" i="0" dirty="0">
                <a:effectLst/>
                <a:latin typeface="ui-sans-serif"/>
              </a:rPr>
              <a:t> Every feature is scaled to standard bounds.</a:t>
            </a:r>
          </a:p>
          <a:p>
            <a:pPr algn="l"/>
            <a:r>
              <a:rPr lang="en-US" b="0" i="0" dirty="0">
                <a:effectLst/>
                <a:latin typeface="ui-sans-serif"/>
              </a:rPr>
              <a:t>Safeguarding Against Data Leakage (Anti-Cheating)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Centralized Stratified Split:</a:t>
            </a:r>
            <a:r>
              <a:rPr lang="en-US" b="0" i="0" dirty="0">
                <a:effectLst/>
                <a:latin typeface="ui-sans-serif"/>
              </a:rPr>
              <a:t> 70% Train, 15% Validation, 15% Test.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Strict Training Isolation:</a:t>
            </a:r>
            <a:r>
              <a:rPr lang="en-US" b="0" i="0" dirty="0">
                <a:effectLst/>
                <a:latin typeface="ui-sans-serif"/>
              </a:rPr>
              <a:t> Mean (</a:t>
            </a:r>
            <a:r>
              <a:rPr lang="en-US" b="0" i="1" dirty="0">
                <a:effectLst/>
                <a:latin typeface="KaTeX_Math"/>
              </a:rPr>
              <a:t>μ</a:t>
            </a:r>
            <a:r>
              <a:rPr lang="en-US" b="0" i="0" dirty="0">
                <a:effectLst/>
                <a:latin typeface="ui-sans-serif"/>
              </a:rPr>
              <a:t>) and standard deviation (</a:t>
            </a:r>
            <a:r>
              <a:rPr lang="en-US" b="0" i="0" dirty="0">
                <a:effectLst/>
                <a:latin typeface="KaTeX_Main"/>
              </a:rPr>
              <a:t>σ</a:t>
            </a:r>
            <a:r>
              <a:rPr lang="en-US" b="0" i="1" dirty="0">
                <a:effectLst/>
                <a:latin typeface="KaTeX_Math"/>
              </a:rPr>
              <a:t>)</a:t>
            </a:r>
            <a:r>
              <a:rPr lang="en-US" b="0" i="0" dirty="0">
                <a:effectLst/>
                <a:latin typeface="ui-sans-serif"/>
              </a:rPr>
              <a:t> parameters are computed </a:t>
            </a:r>
            <a:r>
              <a:rPr lang="en-US" b="1" i="0" dirty="0">
                <a:effectLst/>
                <a:latin typeface="ui-sans-serif"/>
              </a:rPr>
              <a:t>only</a:t>
            </a:r>
            <a:r>
              <a:rPr lang="en-US" b="0" i="0" dirty="0">
                <a:effectLst/>
                <a:latin typeface="ui-sans-serif"/>
              </a:rPr>
              <a:t> on the 70% training split.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Evaluation Integrity:</a:t>
            </a:r>
            <a:r>
              <a:rPr lang="en-US" b="0" i="0" dirty="0">
                <a:effectLst/>
                <a:latin typeface="ui-sans-serif"/>
              </a:rPr>
              <a:t> The calculated training statistics are locked and then used to scale validation and testing 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560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ECB1-6208-4FB2-9180-80D3B81BC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  <a:t>Non-IID Simulation</a:t>
            </a:r>
            <a:br>
              <a:rPr lang="en-US" b="1" i="0" dirty="0">
                <a:solidFill>
                  <a:srgbClr val="CCCCCC"/>
                </a:solidFill>
                <a:effectLst/>
                <a:latin typeface="ui-sans-serif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092F29-8C04-404A-93AB-1544C8CE6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657" y="1847947"/>
            <a:ext cx="6557563" cy="4016937"/>
          </a:xfrm>
        </p:spPr>
      </p:pic>
    </p:spTree>
    <p:extLst>
      <p:ext uri="{BB962C8B-B14F-4D97-AF65-F5344CB8AC3E}">
        <p14:creationId xmlns:p14="http://schemas.microsoft.com/office/powerpoint/2010/main" val="3468445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956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KaTeX_Main</vt:lpstr>
      <vt:lpstr>KaTeX_Math</vt:lpstr>
      <vt:lpstr>ui-sans-serif</vt:lpstr>
      <vt:lpstr>Office Theme</vt:lpstr>
      <vt:lpstr>Privacy Preserving Collaborative IDS for Internet of vehicle networks</vt:lpstr>
      <vt:lpstr>Problem Statement </vt:lpstr>
      <vt:lpstr> </vt:lpstr>
      <vt:lpstr>Project Objectives</vt:lpstr>
      <vt:lpstr>Threat Model </vt:lpstr>
      <vt:lpstr> </vt:lpstr>
      <vt:lpstr>Dataset Acquisition </vt:lpstr>
      <vt:lpstr> </vt:lpstr>
      <vt:lpstr>Data Engineering</vt:lpstr>
      <vt:lpstr>Data Engineering (46-D Feature Mapping) </vt:lpstr>
      <vt:lpstr>Data Engineering (Preprocessing) </vt:lpstr>
      <vt:lpstr>Non-IID Simulation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Dr. Uma Maheswari S - [Cyber Security]</dc:creator>
  <cp:lastModifiedBy>Hithesh Yuvaraja</cp:lastModifiedBy>
  <cp:revision>240</cp:revision>
  <dcterms:created xsi:type="dcterms:W3CDTF">2026-05-08T09:13:32Z</dcterms:created>
  <dcterms:modified xsi:type="dcterms:W3CDTF">2026-06-12T13:56:07Z</dcterms:modified>
</cp:coreProperties>
</file>